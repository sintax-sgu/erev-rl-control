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4606" r:id="rId2"/>
    <p:sldId id="4779" r:id="rId3"/>
    <p:sldId id="4782" r:id="rId4"/>
    <p:sldId id="4810" r:id="rId5"/>
    <p:sldId id="4791" r:id="rId6"/>
    <p:sldId id="4813" r:id="rId7"/>
    <p:sldId id="4819" r:id="rId8"/>
    <p:sldId id="4793" r:id="rId9"/>
    <p:sldId id="4801" r:id="rId10"/>
    <p:sldId id="4802" r:id="rId11"/>
    <p:sldId id="4803" r:id="rId12"/>
    <p:sldId id="4820" r:id="rId13"/>
    <p:sldId id="4807" r:id="rId14"/>
    <p:sldId id="4795" r:id="rId15"/>
    <p:sldId id="4797" r:id="rId16"/>
    <p:sldId id="4799" r:id="rId17"/>
    <p:sldId id="4800" r:id="rId18"/>
    <p:sldId id="4804" r:id="rId19"/>
    <p:sldId id="4817" r:id="rId20"/>
    <p:sldId id="4827" r:id="rId21"/>
    <p:sldId id="4815" r:id="rId22"/>
    <p:sldId id="4829" r:id="rId23"/>
    <p:sldId id="4824" r:id="rId24"/>
    <p:sldId id="4825" r:id="rId25"/>
    <p:sldId id="4826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438C"/>
    <a:srgbClr val="003C89"/>
    <a:srgbClr val="EEE7EA"/>
    <a:srgbClr val="05478F"/>
    <a:srgbClr val="333399"/>
    <a:srgbClr val="E6E7E8"/>
    <a:srgbClr val="0640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94" autoAdjust="0"/>
    <p:restoredTop sz="89791" autoAdjust="0"/>
  </p:normalViewPr>
  <p:slideViewPr>
    <p:cSldViewPr snapToGrid="0">
      <p:cViewPr varScale="1">
        <p:scale>
          <a:sx n="74" d="100"/>
          <a:sy n="74" d="100"/>
        </p:scale>
        <p:origin x="120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632B-C031-44B4-B685-FBD32320F71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C3A80C-F16D-420C-B88F-6D4153759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457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764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50974" indent="-288836" defTabSz="954764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55344" indent="-231069" defTabSz="954764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17482" indent="-231069" defTabSz="954764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79620" indent="-231069" defTabSz="954764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41758" indent="-231069" defTabSz="954764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3003895" indent="-231069" defTabSz="954764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66033" indent="-231069" defTabSz="954764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928171" indent="-231069" defTabSz="954764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A72C662A-EF20-4E03-AE24-955360E0AC9C}" type="slidenum">
              <a:rPr lang="en-US" altLang="ko-KR" sz="120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1</a:t>
            </a:fld>
            <a:endParaRPr lang="en-US" altLang="ko-KR" sz="120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6125"/>
            <a:ext cx="6640513" cy="3735388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buNone/>
            </a:pP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528883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896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BF29-DA08-FDB8-86D4-12A690AD2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1E5EFE-8C82-D2B0-56CA-D65D8D567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35A4C6-3B0B-318E-C942-0C5C53D50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이전 발표 </a:t>
            </a:r>
            <a:r>
              <a:rPr lang="en-US" altLang="ko-KR" dirty="0"/>
              <a:t>PPT</a:t>
            </a:r>
            <a:r>
              <a:rPr lang="ko-KR" altLang="en-US" dirty="0"/>
              <a:t>처럼 그림 그려 넣기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B00BFA-3A3E-E078-28B8-59CE4ADC4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98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684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828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216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533CC-3489-7474-C58F-84D686DC6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06148C-62D5-8CF1-DDFC-F2C5892AC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93D9B3-9365-BF14-448D-C64753389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6858F5-D07F-D0C9-3DF8-DB17F18E2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412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6490E-525E-EFF3-4A2B-B284949C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2D59DA-AE5B-E635-EF21-64E63EA9F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66B012-1637-E630-CDD9-FED15622D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C79284-76B7-256F-BDCE-8AEC4BE71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86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5C206-B879-0829-AD59-FDBE63A1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3C0853-025C-F429-36BA-3BB4E410B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C97A78-F5BE-E4FA-63DD-CD592BBCD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6E46ED-2359-D0C6-0995-9E1641033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113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5C206-B879-0829-AD59-FDBE63A1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3C0853-025C-F429-36BA-3BB4E410B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C97A78-F5BE-E4FA-63DD-CD592BBCD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6E46ED-2359-D0C6-0995-9E1641033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529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1644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5C206-B879-0829-AD59-FDBE63A1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3C0853-025C-F429-36BA-3BB4E410B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C97A78-F5BE-E4FA-63DD-CD592BBCD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6E46ED-2359-D0C6-0995-9E1641033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158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98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8153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2390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147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3885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5546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1995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9369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4832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5107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1321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50C9-C219-8F81-21B7-E1FB55C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64AEE8-AF98-3259-E31A-66FC9936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F2ED8-2D2D-61B6-D573-63F872F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7A9E6-3251-A6EB-51E4-72904A2D8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3A80C-F16D-420C-B88F-6D4153759F16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944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12CC2D-D552-0E85-2D40-840079744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03AD67-1AA0-54BB-02AA-132FCC689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180332-D0FC-B87A-D750-BD2EAAD0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C4CEC4-7CA9-BCDA-C1D0-026436C28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1DA3C5-9A06-FBEE-1665-70D4423BB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30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4C5B6-7569-F1D8-D73C-8676E4D35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846FCD-7765-33AD-8B06-3DA686DBD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966C99-C2C4-0A97-8F7A-577F769E9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75FC03-6BD8-6D07-9B9E-CFF0D7927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B405A6-661C-8D31-C3A2-E93E7239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75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D623E-70B3-8C2A-0C8F-45CCAC4CF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56FE59-9A9E-99F8-2360-BA366028E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09D7A1-90D6-814C-1111-81C3EC3D5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297C13-6499-389A-1BD7-6BE431B6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A56A37-5453-AA4E-7A19-EA3A6A63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03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407AA-0B84-EB43-241D-B259E4CF7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04E775-254F-D770-972E-F27BC85E5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269EEE-E35C-7096-EA44-32F9A7480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5799E2-C649-F306-13B0-1695ED2C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F3889D-59B9-A2F2-57BA-6C05D549B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2422A6-C283-81D7-9420-2A9081CC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799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4E508-148D-C186-ECA8-F65AE5E49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8A9897-B00E-4D09-0308-65D3462DB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F7214C-E373-EDBB-B88C-E07B020D3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492957-858E-6A30-C177-37765D79D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6FD0178-313F-BAFA-9DA5-5F42FC36E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39E5FE-2D96-FB4E-5CCC-24328F2C0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4856ACC-C14E-6274-E42B-311E671DC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1B6791-B290-35D6-E057-6D4AECDE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47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E6EE94-7C7B-27E6-CAD6-D4AF02A4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337644-4182-F536-4966-EE1C99CE9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54CA77-B4FC-24A5-7B11-C594032E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99378B-59F1-AED3-BEFA-3DD9E17C1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553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C9201E-2706-1350-76F2-4BBAA411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ED027A5-5B81-FEBD-1BE2-BD869A5AA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9AB5CE-F0FF-0C71-622D-C1ACD8161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878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0FA033-5533-314E-56AD-E292628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7CAA4E-95B4-8801-EA89-F5516B0DE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893089-E711-8B9D-D93D-839A79A23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4ACD01-3EE0-6283-6BD7-808D1AD7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395147-38D5-AEAE-3E8B-DC7A72814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4CAB94-AC40-2935-642D-2F4695A68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422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C57A7-6BCA-E0F2-9302-B9157329B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E7897C-B444-06C3-838F-5B70DFCDC8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7FC730-C5FF-BC00-AC3F-0ED4D1802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55D328-B0E8-1755-D25D-B95DF055F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DBCAB7-F1EF-EDBC-ECC7-70BC87CF4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7C10E2-A869-CF0B-5919-95274C05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101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51815-6511-0804-1376-C2D9E9CF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013DCE-F7CC-6DD7-89FE-1C465167D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579E73-6DDC-B601-0E33-D06B5BBDB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AD30CD-2AA4-CB85-B0E8-9844A177B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E9F6C4-1BFD-438F-526F-EEA59538B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13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DF9DDEC-D934-105A-BEFC-25D26694E4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013B71-2A29-0D89-5387-21A9619AC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4E800A-972C-EB5B-E14F-9DC645C16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BF8434-CD43-755F-244E-8E7980A5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5116D9-EBC2-77B9-A1CE-17632E09B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04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/>
          <p:cNvSpPr>
            <a:spLocks noChangeArrowheads="1"/>
          </p:cNvSpPr>
          <p:nvPr userDrawn="1"/>
        </p:nvSpPr>
        <p:spPr bwMode="auto">
          <a:xfrm>
            <a:off x="441569" y="728664"/>
            <a:ext cx="4431323" cy="34925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501532" y="233646"/>
            <a:ext cx="10972800" cy="4540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3CFBCD7E-D3EA-4FE0-AA0E-02B5C8325411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06428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B6179DA-9A6B-EF23-2ECA-762179079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36DC44-EC9F-ADF6-E2D4-4A05DA22A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5F82FC-F0B2-319A-57AD-12604F6C7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1AD320-4C65-4643-994B-2F951F51B12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CA81BB-663C-D377-7A98-1BEA32825B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7690E6-4903-431D-4D48-E3695B8BC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8E473-4F8D-4F9D-83D8-20E9D5DC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116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jpeg"/><Relationship Id="rId5" Type="http://schemas.openxmlformats.org/officeDocument/2006/relationships/image" Target="../media/image410.png"/><Relationship Id="rId4" Type="http://schemas.openxmlformats.org/officeDocument/2006/relationships/image" Target="../media/image3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10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8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7" Type="http://schemas.openxmlformats.org/officeDocument/2006/relationships/image" Target="../media/image20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230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40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11E3B0C-F14B-4D02-2B21-C986CA615A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F81B813-32DD-767D-7E36-CF5517F0192E}"/>
              </a:ext>
            </a:extLst>
          </p:cNvPr>
          <p:cNvSpPr/>
          <p:nvPr/>
        </p:nvSpPr>
        <p:spPr>
          <a:xfrm>
            <a:off x="216310" y="206477"/>
            <a:ext cx="11788877" cy="6459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A7F2890-EFF2-72D4-66F8-167172005E6D}"/>
              </a:ext>
            </a:extLst>
          </p:cNvPr>
          <p:cNvSpPr/>
          <p:nvPr/>
        </p:nvSpPr>
        <p:spPr>
          <a:xfrm rot="5400000">
            <a:off x="-983" y="0"/>
            <a:ext cx="1440000" cy="1440000"/>
          </a:xfrm>
          <a:prstGeom prst="rtTriangle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4A3EB14-9284-578C-A403-738A4FA740F5}"/>
              </a:ext>
            </a:extLst>
          </p:cNvPr>
          <p:cNvGrpSpPr/>
          <p:nvPr/>
        </p:nvGrpSpPr>
        <p:grpSpPr>
          <a:xfrm>
            <a:off x="2751251" y="2074218"/>
            <a:ext cx="6689498" cy="2471486"/>
            <a:chOff x="2158088" y="1224186"/>
            <a:chExt cx="5990267" cy="1962240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0184940D-A49D-CD98-18B8-54F5B6850C6B}"/>
                </a:ext>
              </a:extLst>
            </p:cNvPr>
            <p:cNvGrpSpPr/>
            <p:nvPr/>
          </p:nvGrpSpPr>
          <p:grpSpPr>
            <a:xfrm>
              <a:off x="2158088" y="1385705"/>
              <a:ext cx="5990267" cy="1800721"/>
              <a:chOff x="2555431" y="1439183"/>
              <a:chExt cx="4813228" cy="1800723"/>
            </a:xfrm>
          </p:grpSpPr>
          <p:grpSp>
            <p:nvGrpSpPr>
              <p:cNvPr id="25" name="그룹 15">
                <a:extLst>
                  <a:ext uri="{FF2B5EF4-FFF2-40B4-BE49-F238E27FC236}">
                    <a16:creationId xmlns:a16="http://schemas.microsoft.com/office/drawing/2014/main" id="{0BB0149D-21E6-9C40-03A8-51FA795C66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55431" y="1439183"/>
                <a:ext cx="4794225" cy="1657840"/>
                <a:chOff x="2342710" y="1223755"/>
                <a:chExt cx="5208200" cy="1800200"/>
              </a:xfrm>
            </p:grpSpPr>
            <p:grpSp>
              <p:nvGrpSpPr>
                <p:cNvPr id="28" name="그룹 16">
                  <a:extLst>
                    <a:ext uri="{FF2B5EF4-FFF2-40B4-BE49-F238E27FC236}">
                      <a16:creationId xmlns:a16="http://schemas.microsoft.com/office/drawing/2014/main" id="{A230EFEB-B091-D165-764C-90A7291563B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12741" y="1534384"/>
                  <a:ext cx="4680520" cy="1170130"/>
                  <a:chOff x="3962890" y="1358770"/>
                  <a:chExt cx="2295255" cy="1035115"/>
                </a:xfrm>
              </p:grpSpPr>
              <p:cxnSp>
                <p:nvCxnSpPr>
                  <p:cNvPr id="31" name="직선 연결선 20">
                    <a:extLst>
                      <a:ext uri="{FF2B5EF4-FFF2-40B4-BE49-F238E27FC236}">
                        <a16:creationId xmlns:a16="http://schemas.microsoft.com/office/drawing/2014/main" id="{5F8F87A9-B7B0-DB10-7DA2-8FD5A9CC223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962890" y="1358770"/>
                    <a:ext cx="2295255" cy="0"/>
                  </a:xfrm>
                  <a:prstGeom prst="line">
                    <a:avLst/>
                  </a:prstGeom>
                  <a:noFill/>
                  <a:ln w="19050" algn="ctr">
                    <a:solidFill>
                      <a:srgbClr val="3333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2" name="직선 연결선 21">
                    <a:extLst>
                      <a:ext uri="{FF2B5EF4-FFF2-40B4-BE49-F238E27FC236}">
                        <a16:creationId xmlns:a16="http://schemas.microsoft.com/office/drawing/2014/main" id="{C210FFE7-FE1E-95BC-3AAD-A9D52D01439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962890" y="2393885"/>
                    <a:ext cx="2295255" cy="0"/>
                  </a:xfrm>
                  <a:prstGeom prst="line">
                    <a:avLst/>
                  </a:prstGeom>
                  <a:noFill/>
                  <a:ln w="19050" algn="ctr">
                    <a:solidFill>
                      <a:srgbClr val="3333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29" name="자유형 17">
                  <a:extLst>
                    <a:ext uri="{FF2B5EF4-FFF2-40B4-BE49-F238E27FC236}">
                      <a16:creationId xmlns:a16="http://schemas.microsoft.com/office/drawing/2014/main" id="{94200816-D784-7DDC-5F31-C46397D9DA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2710" y="1223755"/>
                  <a:ext cx="167640" cy="1800200"/>
                </a:xfrm>
                <a:custGeom>
                  <a:avLst/>
                  <a:gdLst>
                    <a:gd name="T0" fmla="*/ 152400 w 167640"/>
                    <a:gd name="T1" fmla="*/ 0 h 1470660"/>
                    <a:gd name="T2" fmla="*/ 0 w 167640"/>
                    <a:gd name="T3" fmla="*/ 0 h 1470660"/>
                    <a:gd name="T4" fmla="*/ 0 w 167640"/>
                    <a:gd name="T5" fmla="*/ 2697352 h 1470660"/>
                    <a:gd name="T6" fmla="*/ 167640 w 167640"/>
                    <a:gd name="T7" fmla="*/ 2697352 h 14706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67640" h="1470660">
                      <a:moveTo>
                        <a:pt x="152400" y="0"/>
                      </a:moveTo>
                      <a:lnTo>
                        <a:pt x="0" y="0"/>
                      </a:lnTo>
                      <a:lnTo>
                        <a:pt x="0" y="1470660"/>
                      </a:lnTo>
                      <a:lnTo>
                        <a:pt x="167640" y="1470660"/>
                      </a:lnTo>
                    </a:path>
                  </a:pathLst>
                </a:custGeom>
                <a:noFill/>
                <a:ln w="76200" cap="flat" cmpd="sng" algn="ctr">
                  <a:solidFill>
                    <a:srgbClr val="003C89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88146" tIns="44075" rIns="88146" bIns="44075"/>
                <a:lstStyle/>
                <a:p>
                  <a:endParaRPr lang="ko-KR" altLang="en-US" sz="1658"/>
                </a:p>
              </p:txBody>
            </p:sp>
            <p:sp>
              <p:nvSpPr>
                <p:cNvPr id="30" name="자유형 18">
                  <a:extLst>
                    <a:ext uri="{FF2B5EF4-FFF2-40B4-BE49-F238E27FC236}">
                      <a16:creationId xmlns:a16="http://schemas.microsoft.com/office/drawing/2014/main" id="{7A7C6E8E-1B12-7259-CC98-950A102B4D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7383270" y="1223755"/>
                  <a:ext cx="167640" cy="1800200"/>
                </a:xfrm>
                <a:custGeom>
                  <a:avLst/>
                  <a:gdLst>
                    <a:gd name="T0" fmla="*/ 152400 w 167640"/>
                    <a:gd name="T1" fmla="*/ 0 h 1470660"/>
                    <a:gd name="T2" fmla="*/ 0 w 167640"/>
                    <a:gd name="T3" fmla="*/ 0 h 1470660"/>
                    <a:gd name="T4" fmla="*/ 0 w 167640"/>
                    <a:gd name="T5" fmla="*/ 2697352 h 1470660"/>
                    <a:gd name="T6" fmla="*/ 167640 w 167640"/>
                    <a:gd name="T7" fmla="*/ 2697352 h 14706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67640" h="1470660">
                      <a:moveTo>
                        <a:pt x="152400" y="0"/>
                      </a:moveTo>
                      <a:lnTo>
                        <a:pt x="0" y="0"/>
                      </a:lnTo>
                      <a:lnTo>
                        <a:pt x="0" y="1470660"/>
                      </a:lnTo>
                      <a:lnTo>
                        <a:pt x="167640" y="1470660"/>
                      </a:lnTo>
                    </a:path>
                  </a:pathLst>
                </a:custGeom>
                <a:noFill/>
                <a:ln w="76200" cap="flat" cmpd="sng" algn="ctr">
                  <a:solidFill>
                    <a:srgbClr val="003C89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88146" tIns="44075" rIns="88146" bIns="44075"/>
                <a:lstStyle/>
                <a:p>
                  <a:endParaRPr lang="ko-KR" altLang="en-US" sz="1658"/>
                </a:p>
              </p:txBody>
            </p:sp>
          </p:grpSp>
          <p:sp>
            <p:nvSpPr>
              <p:cNvPr id="26" name="TextBox 13">
                <a:extLst>
                  <a:ext uri="{FF2B5EF4-FFF2-40B4-BE49-F238E27FC236}">
                    <a16:creationId xmlns:a16="http://schemas.microsoft.com/office/drawing/2014/main" id="{DE6DC4C9-538F-E5B9-02FC-F6AA6D39CC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355" y="1706134"/>
                <a:ext cx="4458692" cy="9916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20000"/>
                  </a:spcBef>
                  <a:buClr>
                    <a:srgbClr val="C0504D"/>
                  </a:buClr>
                  <a:buSzPct val="80000"/>
                  <a:defRPr/>
                </a:pPr>
                <a:r>
                  <a:rPr lang="en-US" altLang="ko-KR" sz="2500" b="1" dirty="0">
                    <a:latin typeface="맑은 고딕" pitchFamily="50" charset="-127"/>
                    <a:ea typeface="맑은 고딕" pitchFamily="50" charset="-127"/>
                  </a:rPr>
                  <a:t>Environment </a:t>
                </a:r>
                <a:r>
                  <a:rPr lang="ko-KR" altLang="en-US" sz="2500" b="1" dirty="0">
                    <a:latin typeface="맑은 고딕" pitchFamily="50" charset="-127"/>
                    <a:ea typeface="맑은 고딕" pitchFamily="50" charset="-127"/>
                  </a:rPr>
                  <a:t>설명 자료</a:t>
                </a:r>
                <a:endParaRPr lang="en-US" altLang="ko-KR" sz="2500" b="1" dirty="0">
                  <a:latin typeface="맑은 고딕" pitchFamily="50" charset="-127"/>
                  <a:ea typeface="맑은 고딕" pitchFamily="50" charset="-127"/>
                </a:endParaRPr>
              </a:p>
              <a:p>
                <a:pPr algn="ctr">
                  <a:lnSpc>
                    <a:spcPct val="150000"/>
                  </a:lnSpc>
                  <a:spcBef>
                    <a:spcPct val="20000"/>
                  </a:spcBef>
                  <a:buClr>
                    <a:srgbClr val="C0504D"/>
                  </a:buClr>
                  <a:buSzPct val="80000"/>
                  <a:defRPr/>
                </a:pPr>
                <a:r>
                  <a:rPr lang="en-US" altLang="ko-KR" sz="2500" b="1" dirty="0">
                    <a:latin typeface="맑은 고딕" pitchFamily="50" charset="-127"/>
                    <a:ea typeface="맑은 고딕" pitchFamily="50" charset="-127"/>
                  </a:rPr>
                  <a:t>(4</a:t>
                </a:r>
                <a:r>
                  <a:rPr lang="ko-KR" altLang="en-US" sz="2500" b="1" dirty="0">
                    <a:latin typeface="맑은 고딕" pitchFamily="50" charset="-127"/>
                    <a:ea typeface="맑은 고딕" pitchFamily="50" charset="-127"/>
                  </a:rPr>
                  <a:t>륜 구동 </a:t>
                </a:r>
                <a:r>
                  <a:rPr lang="en-US" altLang="ko-KR" sz="2500" b="1" dirty="0">
                    <a:latin typeface="맑은 고딕" pitchFamily="50" charset="-127"/>
                    <a:ea typeface="맑은 고딕" pitchFamily="50" charset="-127"/>
                  </a:rPr>
                  <a:t>EREV</a:t>
                </a:r>
                <a:r>
                  <a:rPr lang="ko-KR" altLang="en-US" sz="2500" b="1" dirty="0">
                    <a:latin typeface="맑은 고딕" pitchFamily="50" charset="-127"/>
                    <a:ea typeface="맑은 고딕" pitchFamily="50" charset="-127"/>
                  </a:rPr>
                  <a:t>차량 모델링</a:t>
                </a:r>
                <a:r>
                  <a:rPr lang="en-US" altLang="ko-KR" sz="2500" b="1" dirty="0">
                    <a:latin typeface="맑은 고딕" pitchFamily="50" charset="-127"/>
                    <a:ea typeface="맑은 고딕" pitchFamily="50" charset="-127"/>
                  </a:rPr>
                  <a:t>)</a:t>
                </a:r>
              </a:p>
            </p:txBody>
          </p:sp>
          <p:sp>
            <p:nvSpPr>
              <p:cNvPr id="27" name="TextBox 13">
                <a:extLst>
                  <a:ext uri="{FF2B5EF4-FFF2-40B4-BE49-F238E27FC236}">
                    <a16:creationId xmlns:a16="http://schemas.microsoft.com/office/drawing/2014/main" id="{B4762908-2F2E-2B45-9C76-DECBC2DDA6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62743" y="3009087"/>
                <a:ext cx="4805916" cy="2308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 eaLnBrk="1" latinLnBrk="1" hangingPunct="1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lang="ko-KR" altLang="en-US" sz="1289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발표자 </a:t>
                </a:r>
                <a:r>
                  <a:rPr lang="en-US" altLang="ko-KR" sz="1289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: </a:t>
                </a:r>
                <a:r>
                  <a:rPr lang="ko-KR" altLang="en-US" sz="1289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박준현</a:t>
                </a:r>
              </a:p>
            </p:txBody>
          </p:sp>
        </p:grpSp>
        <p:sp>
          <p:nvSpPr>
            <p:cNvPr id="24" name="TextBox 13">
              <a:extLst>
                <a:ext uri="{FF2B5EF4-FFF2-40B4-BE49-F238E27FC236}">
                  <a16:creationId xmlns:a16="http://schemas.microsoft.com/office/drawing/2014/main" id="{96985783-451B-4A3A-B9F3-3902EB0E7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6257" y="1224186"/>
              <a:ext cx="5219380" cy="309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6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0504D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6408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깅화학습</a:t>
              </a: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6408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프로젝트</a:t>
              </a:r>
            </a:p>
          </p:txBody>
        </p:sp>
      </p:grpSp>
      <p:sp>
        <p:nvSpPr>
          <p:cNvPr id="38" name="직각 삼각형 37">
            <a:extLst>
              <a:ext uri="{FF2B5EF4-FFF2-40B4-BE49-F238E27FC236}">
                <a16:creationId xmlns:a16="http://schemas.microsoft.com/office/drawing/2014/main" id="{97A7966B-0966-A868-ED0D-960055A91770}"/>
              </a:ext>
            </a:extLst>
          </p:cNvPr>
          <p:cNvSpPr/>
          <p:nvPr/>
        </p:nvSpPr>
        <p:spPr>
          <a:xfrm rot="16200000">
            <a:off x="10781497" y="5432748"/>
            <a:ext cx="1440000" cy="1440000"/>
          </a:xfrm>
          <a:prstGeom prst="rtTriangle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212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426E1-316C-978B-6C41-213BC70F7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kern="1200" baseline="0" dirty="0">
                <a:latin typeface="+mn-lt"/>
                <a:ea typeface="+mn-ea"/>
                <a:cs typeface="+mn-cs"/>
              </a:rPr>
              <a:t>목차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59B584-15EA-8BEF-DB99-EA4A3CD50839}"/>
              </a:ext>
            </a:extLst>
          </p:cNvPr>
          <p:cNvSpPr txBox="1"/>
          <p:nvPr/>
        </p:nvSpPr>
        <p:spPr>
          <a:xfrm>
            <a:off x="978007" y="1799547"/>
            <a:ext cx="4931229" cy="3258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en-US" altLang="ko-KR" b="1" dirty="0"/>
              <a:t>1. </a:t>
            </a:r>
            <a:r>
              <a:rPr lang="ko-KR" altLang="en-US" b="1" dirty="0"/>
              <a:t>이론적 배경</a:t>
            </a:r>
            <a:endParaRPr lang="en-US" altLang="ko-KR" b="1" dirty="0"/>
          </a:p>
          <a:p>
            <a:pPr>
              <a:lnSpc>
                <a:spcPct val="300000"/>
              </a:lnSpc>
            </a:pPr>
            <a:r>
              <a:rPr lang="en-US" altLang="ko-KR" b="1" dirty="0"/>
              <a:t>2. EREV </a:t>
            </a:r>
            <a:r>
              <a:rPr lang="ko-KR" altLang="en-US" b="1" dirty="0" err="1"/>
              <a:t>아키텍쳐</a:t>
            </a:r>
            <a:r>
              <a:rPr lang="ko-KR" altLang="en-US" b="1" dirty="0"/>
              <a:t> 소개</a:t>
            </a:r>
            <a:endParaRPr lang="en-US" altLang="ko-KR" b="1" dirty="0"/>
          </a:p>
          <a:p>
            <a:pPr>
              <a:lnSpc>
                <a:spcPct val="300000"/>
              </a:lnSpc>
            </a:pPr>
            <a:r>
              <a:rPr lang="en-US" altLang="ko-KR" b="1" dirty="0"/>
              <a:t>3. </a:t>
            </a:r>
            <a:r>
              <a:rPr lang="ko-KR" altLang="en-US" b="1" dirty="0"/>
              <a:t>시스템 모델링</a:t>
            </a:r>
            <a:r>
              <a:rPr lang="en-US" altLang="ko-KR" b="1" dirty="0"/>
              <a:t>(</a:t>
            </a:r>
            <a:r>
              <a:rPr lang="ko-KR" altLang="en-US" b="1" dirty="0"/>
              <a:t>수식적 모델링</a:t>
            </a:r>
            <a:r>
              <a:rPr lang="en-US" altLang="ko-KR" b="1" dirty="0"/>
              <a:t>)</a:t>
            </a:r>
          </a:p>
          <a:p>
            <a:pPr>
              <a:lnSpc>
                <a:spcPct val="300000"/>
              </a:lnSpc>
            </a:pPr>
            <a:r>
              <a:rPr lang="en-US" altLang="ko-KR" b="1" dirty="0"/>
              <a:t>4. VCU</a:t>
            </a:r>
            <a:r>
              <a:rPr lang="ko-KR" altLang="en-US" b="1" dirty="0"/>
              <a:t> 제어 로직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226419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E0BB4-3EA8-7DB7-50A7-B9ED62B0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98BBB-5681-8B83-3D33-5938248B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+mn-lt"/>
                <a:ea typeface="+mn-ea"/>
                <a:cs typeface="+mn-cs"/>
              </a:rPr>
              <a:t>1. </a:t>
            </a:r>
            <a:r>
              <a:rPr lang="ko-KR" altLang="en-US" dirty="0">
                <a:latin typeface="+mn-lt"/>
                <a:ea typeface="+mn-ea"/>
                <a:cs typeface="+mn-cs"/>
              </a:rPr>
              <a:t>이론적 배경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F5AD38B-D25D-9B96-2E82-8F393DF7CD4C}"/>
              </a:ext>
            </a:extLst>
          </p:cNvPr>
          <p:cNvSpPr/>
          <p:nvPr/>
        </p:nvSpPr>
        <p:spPr>
          <a:xfrm>
            <a:off x="501534" y="1143345"/>
            <a:ext cx="4432830" cy="5508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3B416CE-9B79-D2F3-53FA-B2921D0D6B23}"/>
              </a:ext>
            </a:extLst>
          </p:cNvPr>
          <p:cNvSpPr/>
          <p:nvPr/>
        </p:nvSpPr>
        <p:spPr>
          <a:xfrm>
            <a:off x="1766734" y="964909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EV </a:t>
            </a:r>
            <a:r>
              <a:rPr lang="ko-KR" altLang="en-US" b="1" dirty="0"/>
              <a:t>감속기란</a:t>
            </a:r>
            <a:r>
              <a:rPr lang="en-US" altLang="ko-KR" b="1" dirty="0"/>
              <a:t>?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B7C690-1221-85FA-57F7-9CEC2195E5FF}"/>
              </a:ext>
            </a:extLst>
          </p:cNvPr>
          <p:cNvSpPr txBox="1"/>
          <p:nvPr/>
        </p:nvSpPr>
        <p:spPr>
          <a:xfrm>
            <a:off x="415581" y="5436904"/>
            <a:ext cx="464475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500" b="1" dirty="0">
                <a:latin typeface="+mn-ea"/>
              </a:rPr>
              <a:t>구동모터의 회전수를 줄이고 토크를 증폭시켜</a:t>
            </a:r>
            <a:endParaRPr lang="en-US" altLang="ko-KR" sz="1500" b="1" dirty="0">
              <a:latin typeface="+mn-ea"/>
            </a:endParaRPr>
          </a:p>
          <a:p>
            <a:pPr algn="ctr"/>
            <a:endParaRPr lang="en-US" altLang="ko-KR" sz="1500" b="1" dirty="0">
              <a:latin typeface="+mn-ea"/>
            </a:endParaRPr>
          </a:p>
          <a:p>
            <a:pPr algn="ctr"/>
            <a:r>
              <a:rPr lang="ko-KR" altLang="en-US" sz="1500" b="1" dirty="0">
                <a:latin typeface="+mn-ea"/>
              </a:rPr>
              <a:t>바퀴 축에 동력을 전달하는 기계장치</a:t>
            </a:r>
            <a:endParaRPr lang="en-US" altLang="ko-KR" sz="1500" b="1" dirty="0">
              <a:latin typeface="+mn-ea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A7C1CFA-FDDF-3533-6B7C-178FAB0935D4}"/>
              </a:ext>
            </a:extLst>
          </p:cNvPr>
          <p:cNvSpPr/>
          <p:nvPr/>
        </p:nvSpPr>
        <p:spPr>
          <a:xfrm>
            <a:off x="5020317" y="1143345"/>
            <a:ext cx="6739066" cy="5508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B10B8B3-AFCA-28EA-4CBD-B64458590CB1}"/>
              </a:ext>
            </a:extLst>
          </p:cNvPr>
          <p:cNvSpPr/>
          <p:nvPr/>
        </p:nvSpPr>
        <p:spPr>
          <a:xfrm>
            <a:off x="7551083" y="916332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EREV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C1F09B-A1ED-988B-E3CD-7C644671F26B}"/>
              </a:ext>
            </a:extLst>
          </p:cNvPr>
          <p:cNvSpPr txBox="1"/>
          <p:nvPr/>
        </p:nvSpPr>
        <p:spPr>
          <a:xfrm>
            <a:off x="6130456" y="5982879"/>
            <a:ext cx="46460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500" b="1" dirty="0">
                <a:latin typeface="+mn-ea"/>
              </a:rPr>
              <a:t>적은 양의 배터리로도 주행거리 연장 가능</a:t>
            </a:r>
            <a:endParaRPr lang="en-US" altLang="ko-KR" sz="1500" b="1" dirty="0"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C1BCE9-DE52-62E6-6FDA-CB5533CF1EE3}"/>
              </a:ext>
            </a:extLst>
          </p:cNvPr>
          <p:cNvSpPr txBox="1"/>
          <p:nvPr/>
        </p:nvSpPr>
        <p:spPr>
          <a:xfrm>
            <a:off x="5319385" y="5174783"/>
            <a:ext cx="638355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500" b="1" dirty="0">
                <a:latin typeface="+mn-ea"/>
              </a:rPr>
              <a:t>발전을 위한 소형엔진을 탑재한 형태의 하이브리드 자동차</a:t>
            </a:r>
            <a:endParaRPr lang="en-US" altLang="ko-KR" sz="1500" b="1" dirty="0">
              <a:latin typeface="+mn-ea"/>
            </a:endParaRPr>
          </a:p>
        </p:txBody>
      </p:sp>
      <p:sp>
        <p:nvSpPr>
          <p:cNvPr id="45" name="화살표: 위쪽 44">
            <a:extLst>
              <a:ext uri="{FF2B5EF4-FFF2-40B4-BE49-F238E27FC236}">
                <a16:creationId xmlns:a16="http://schemas.microsoft.com/office/drawing/2014/main" id="{523C1794-A62E-474B-6D6F-404B7C4DF277}"/>
              </a:ext>
            </a:extLst>
          </p:cNvPr>
          <p:cNvSpPr/>
          <p:nvPr/>
        </p:nvSpPr>
        <p:spPr>
          <a:xfrm rot="10800000">
            <a:off x="8453493" y="5592654"/>
            <a:ext cx="297180" cy="291062"/>
          </a:xfrm>
          <a:prstGeom prst="upArrow">
            <a:avLst/>
          </a:prstGeom>
          <a:solidFill>
            <a:srgbClr val="3333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26" name="그룹 1125">
            <a:extLst>
              <a:ext uri="{FF2B5EF4-FFF2-40B4-BE49-F238E27FC236}">
                <a16:creationId xmlns:a16="http://schemas.microsoft.com/office/drawing/2014/main" id="{0BD61C6F-F89A-6C33-A13F-BCC82E577794}"/>
              </a:ext>
            </a:extLst>
          </p:cNvPr>
          <p:cNvGrpSpPr/>
          <p:nvPr/>
        </p:nvGrpSpPr>
        <p:grpSpPr>
          <a:xfrm>
            <a:off x="673482" y="1991075"/>
            <a:ext cx="3910979" cy="2796275"/>
            <a:chOff x="481002" y="1915160"/>
            <a:chExt cx="3910979" cy="279627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8B53630-A868-5964-208A-0BACBD9B73DB}"/>
                </a:ext>
              </a:extLst>
            </p:cNvPr>
            <p:cNvSpPr/>
            <p:nvPr/>
          </p:nvSpPr>
          <p:spPr>
            <a:xfrm>
              <a:off x="1045555" y="2350224"/>
              <a:ext cx="1135380" cy="279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196BA93-092A-5C1C-8152-F70669C42E13}"/>
                </a:ext>
              </a:extLst>
            </p:cNvPr>
            <p:cNvSpPr/>
            <p:nvPr/>
          </p:nvSpPr>
          <p:spPr>
            <a:xfrm>
              <a:off x="2096544" y="2024915"/>
              <a:ext cx="350520" cy="93001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1D69A0F-9177-6194-2FD4-B4A6A829C16E}"/>
                </a:ext>
              </a:extLst>
            </p:cNvPr>
            <p:cNvSpPr/>
            <p:nvPr/>
          </p:nvSpPr>
          <p:spPr>
            <a:xfrm>
              <a:off x="2447063" y="3680616"/>
              <a:ext cx="1430427" cy="279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B3A84C4-875D-6237-7544-D4F7CB78BFE9}"/>
                </a:ext>
              </a:extLst>
            </p:cNvPr>
            <p:cNvSpPr/>
            <p:nvPr/>
          </p:nvSpPr>
          <p:spPr>
            <a:xfrm>
              <a:off x="2096544" y="3085298"/>
              <a:ext cx="350520" cy="147003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F948778-C470-ACBC-BC96-22D079C787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6544" y="2837757"/>
              <a:ext cx="350519" cy="91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9D4B1-80F1-4850-94C2-B09ABA1F59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6544" y="2694676"/>
              <a:ext cx="350519" cy="91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D4181413-F4E9-E4E1-9C71-311AD8EAA7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6544" y="2551594"/>
              <a:ext cx="350519" cy="91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8E973B28-358D-1C65-EFCD-7A2F9CFD47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6544" y="2408512"/>
              <a:ext cx="350519" cy="91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57B1F4D-A7EB-3134-4183-4386E4FCF4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6544" y="2265430"/>
              <a:ext cx="350519" cy="91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FCCE4DC7-9173-DCE1-56B5-06A85626C5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6544" y="2122348"/>
              <a:ext cx="350519" cy="91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A1871F6C-7729-F62C-D8C4-A1C0A4F342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6544" y="1999871"/>
              <a:ext cx="350519" cy="91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472C30A-0EC7-5840-20AA-9207CDB0FC6D}"/>
                </a:ext>
              </a:extLst>
            </p:cNvPr>
            <p:cNvSpPr/>
            <p:nvPr/>
          </p:nvSpPr>
          <p:spPr>
            <a:xfrm>
              <a:off x="2236651" y="1915160"/>
              <a:ext cx="322580" cy="1097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41A830AD-44C1-9AE4-EC26-3FF6CD02EB08}"/>
                </a:ext>
              </a:extLst>
            </p:cNvPr>
            <p:cNvCxnSpPr>
              <a:cxnSpLocks/>
            </p:cNvCxnSpPr>
            <p:nvPr/>
          </p:nvCxnSpPr>
          <p:spPr>
            <a:xfrm>
              <a:off x="2096544" y="3959133"/>
              <a:ext cx="350519" cy="91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EBEF6109-C88A-5CC4-36F4-B23D320199C5}"/>
                </a:ext>
              </a:extLst>
            </p:cNvPr>
            <p:cNvCxnSpPr>
              <a:cxnSpLocks/>
            </p:cNvCxnSpPr>
            <p:nvPr/>
          </p:nvCxnSpPr>
          <p:spPr>
            <a:xfrm>
              <a:off x="2096544" y="3816052"/>
              <a:ext cx="350519" cy="91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7ECB8D95-354F-7865-829B-6C03DCCECB65}"/>
                </a:ext>
              </a:extLst>
            </p:cNvPr>
            <p:cNvCxnSpPr>
              <a:cxnSpLocks/>
            </p:cNvCxnSpPr>
            <p:nvPr/>
          </p:nvCxnSpPr>
          <p:spPr>
            <a:xfrm>
              <a:off x="2096544" y="3672970"/>
              <a:ext cx="350519" cy="91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A834D043-87C0-9495-1344-419157F15505}"/>
                </a:ext>
              </a:extLst>
            </p:cNvPr>
            <p:cNvCxnSpPr>
              <a:cxnSpLocks/>
            </p:cNvCxnSpPr>
            <p:nvPr/>
          </p:nvCxnSpPr>
          <p:spPr>
            <a:xfrm>
              <a:off x="2096544" y="3529888"/>
              <a:ext cx="350519" cy="91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E4CBB54E-C705-21DF-7434-FAA181F098CA}"/>
                </a:ext>
              </a:extLst>
            </p:cNvPr>
            <p:cNvCxnSpPr>
              <a:cxnSpLocks/>
            </p:cNvCxnSpPr>
            <p:nvPr/>
          </p:nvCxnSpPr>
          <p:spPr>
            <a:xfrm>
              <a:off x="2096544" y="3386806"/>
              <a:ext cx="350519" cy="91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9739632-62EE-FA1F-A318-D566B41F39F6}"/>
                </a:ext>
              </a:extLst>
            </p:cNvPr>
            <p:cNvCxnSpPr>
              <a:cxnSpLocks/>
            </p:cNvCxnSpPr>
            <p:nvPr/>
          </p:nvCxnSpPr>
          <p:spPr>
            <a:xfrm>
              <a:off x="2096544" y="3243724"/>
              <a:ext cx="350519" cy="91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21F44EBE-5D5D-5861-CF09-0796980F1176}"/>
                </a:ext>
              </a:extLst>
            </p:cNvPr>
            <p:cNvCxnSpPr>
              <a:cxnSpLocks/>
            </p:cNvCxnSpPr>
            <p:nvPr/>
          </p:nvCxnSpPr>
          <p:spPr>
            <a:xfrm>
              <a:off x="2096544" y="3121247"/>
              <a:ext cx="350519" cy="91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19256F72-7833-43CD-9935-783354099AA2}"/>
                </a:ext>
              </a:extLst>
            </p:cNvPr>
            <p:cNvCxnSpPr>
              <a:cxnSpLocks/>
            </p:cNvCxnSpPr>
            <p:nvPr/>
          </p:nvCxnSpPr>
          <p:spPr>
            <a:xfrm>
              <a:off x="2096544" y="4515235"/>
              <a:ext cx="350519" cy="91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49E57FC9-6A78-9FEA-569E-9AC6A8DE26EB}"/>
                </a:ext>
              </a:extLst>
            </p:cNvPr>
            <p:cNvCxnSpPr>
              <a:cxnSpLocks/>
            </p:cNvCxnSpPr>
            <p:nvPr/>
          </p:nvCxnSpPr>
          <p:spPr>
            <a:xfrm>
              <a:off x="2096544" y="4372153"/>
              <a:ext cx="350519" cy="91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C94F8A91-DADA-3B48-894B-C4231C9AB130}"/>
                </a:ext>
              </a:extLst>
            </p:cNvPr>
            <p:cNvCxnSpPr>
              <a:cxnSpLocks/>
            </p:cNvCxnSpPr>
            <p:nvPr/>
          </p:nvCxnSpPr>
          <p:spPr>
            <a:xfrm>
              <a:off x="2096544" y="4229071"/>
              <a:ext cx="350519" cy="91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70F047DD-52FC-89D6-5B02-C563D64DA96C}"/>
                </a:ext>
              </a:extLst>
            </p:cNvPr>
            <p:cNvCxnSpPr>
              <a:cxnSpLocks/>
            </p:cNvCxnSpPr>
            <p:nvPr/>
          </p:nvCxnSpPr>
          <p:spPr>
            <a:xfrm>
              <a:off x="2096544" y="4106594"/>
              <a:ext cx="350519" cy="91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B311A4D-7D0B-C642-6B5A-0E0B3BD7B681}"/>
                </a:ext>
              </a:extLst>
            </p:cNvPr>
            <p:cNvSpPr/>
            <p:nvPr/>
          </p:nvSpPr>
          <p:spPr>
            <a:xfrm>
              <a:off x="2142036" y="4555335"/>
              <a:ext cx="375285" cy="156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564DEA22-B36B-EEF0-D1A1-E3A9C429F9DE}"/>
                </a:ext>
              </a:extLst>
            </p:cNvPr>
            <p:cNvSpPr/>
            <p:nvPr/>
          </p:nvSpPr>
          <p:spPr>
            <a:xfrm>
              <a:off x="630964" y="2389396"/>
              <a:ext cx="388377" cy="221112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화살표: 오른쪽 41">
              <a:extLst>
                <a:ext uri="{FF2B5EF4-FFF2-40B4-BE49-F238E27FC236}">
                  <a16:creationId xmlns:a16="http://schemas.microsoft.com/office/drawing/2014/main" id="{65DC168D-84C3-C803-CF02-74B9F5CFC8AB}"/>
                </a:ext>
              </a:extLst>
            </p:cNvPr>
            <p:cNvSpPr/>
            <p:nvPr/>
          </p:nvSpPr>
          <p:spPr>
            <a:xfrm>
              <a:off x="3909345" y="3718690"/>
              <a:ext cx="388377" cy="221112"/>
            </a:xfrm>
            <a:prstGeom prst="righ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A88F9EE-2CD2-7AFE-D878-5174D646C60E}"/>
                </a:ext>
              </a:extLst>
            </p:cNvPr>
            <p:cNvSpPr txBox="1"/>
            <p:nvPr/>
          </p:nvSpPr>
          <p:spPr>
            <a:xfrm>
              <a:off x="481002" y="2116355"/>
              <a:ext cx="6431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/>
                <a:t>입력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18F3887-1E9E-B0AE-87DD-121A06A0D46B}"/>
                </a:ext>
              </a:extLst>
            </p:cNvPr>
            <p:cNvSpPr txBox="1"/>
            <p:nvPr/>
          </p:nvSpPr>
          <p:spPr>
            <a:xfrm>
              <a:off x="3740032" y="3449765"/>
              <a:ext cx="6519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/>
                <a:t>출력</a:t>
              </a:r>
            </a:p>
          </p:txBody>
        </p:sp>
      </p:grpSp>
      <p:grpSp>
        <p:nvGrpSpPr>
          <p:cNvPr id="1116" name="그룹 1115">
            <a:extLst>
              <a:ext uri="{FF2B5EF4-FFF2-40B4-BE49-F238E27FC236}">
                <a16:creationId xmlns:a16="http://schemas.microsoft.com/office/drawing/2014/main" id="{F8E63F4F-6093-7C62-9B83-325D0EA9385E}"/>
              </a:ext>
            </a:extLst>
          </p:cNvPr>
          <p:cNvGrpSpPr/>
          <p:nvPr/>
        </p:nvGrpSpPr>
        <p:grpSpPr>
          <a:xfrm>
            <a:off x="5539569" y="1679477"/>
            <a:ext cx="2667223" cy="3128493"/>
            <a:chOff x="5539569" y="1679477"/>
            <a:chExt cx="2667223" cy="3128493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D829F8F9-A4FB-036E-7597-34CD43206355}"/>
                </a:ext>
              </a:extLst>
            </p:cNvPr>
            <p:cNvSpPr/>
            <p:nvPr/>
          </p:nvSpPr>
          <p:spPr>
            <a:xfrm>
              <a:off x="6484611" y="2632705"/>
              <a:ext cx="758826" cy="51543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bg1"/>
                  </a:solidFill>
                </a:rPr>
                <a:t>Motor</a:t>
              </a:r>
              <a:endParaRPr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5FC4354D-6CC3-13C1-0BB2-7BFEE9300C97}"/>
                </a:ext>
              </a:extLst>
            </p:cNvPr>
            <p:cNvSpPr/>
            <p:nvPr/>
          </p:nvSpPr>
          <p:spPr>
            <a:xfrm>
              <a:off x="6484611" y="3461959"/>
              <a:ext cx="758826" cy="51543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bg1"/>
                  </a:solidFill>
                </a:rPr>
                <a:t>Inverter</a:t>
              </a:r>
              <a:endParaRPr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7A6B33FD-B3DF-66B2-57FA-0ABC14A829B7}"/>
                </a:ext>
              </a:extLst>
            </p:cNvPr>
            <p:cNvSpPr/>
            <p:nvPr/>
          </p:nvSpPr>
          <p:spPr>
            <a:xfrm>
              <a:off x="6484611" y="4292536"/>
              <a:ext cx="758826" cy="51543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ysClr val="windowText" lastClr="000000"/>
                  </a:solidFill>
                </a:rPr>
                <a:t>Battery</a:t>
              </a:r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D5B9660-BC9E-2FE7-0F4A-02133F435BAD}"/>
                </a:ext>
              </a:extLst>
            </p:cNvPr>
            <p:cNvSpPr/>
            <p:nvPr/>
          </p:nvSpPr>
          <p:spPr>
            <a:xfrm>
              <a:off x="6077449" y="2043710"/>
              <a:ext cx="1573153" cy="17177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5A0252B1-1576-8B87-6CCF-BEFE0109E027}"/>
                </a:ext>
              </a:extLst>
            </p:cNvPr>
            <p:cNvSpPr/>
            <p:nvPr/>
          </p:nvSpPr>
          <p:spPr>
            <a:xfrm>
              <a:off x="6554081" y="1991075"/>
              <a:ext cx="619886" cy="27704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DF7CBB10-A76A-65A7-5885-95E4F4A51F58}"/>
                </a:ext>
              </a:extLst>
            </p:cNvPr>
            <p:cNvSpPr/>
            <p:nvPr/>
          </p:nvSpPr>
          <p:spPr>
            <a:xfrm>
              <a:off x="7808222" y="1681359"/>
              <a:ext cx="398570" cy="896477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1D8DA828-F3CE-FA6A-2557-1F439671CDD3}"/>
                </a:ext>
              </a:extLst>
            </p:cNvPr>
            <p:cNvCxnSpPr>
              <a:cxnSpLocks/>
              <a:stCxn id="50" idx="3"/>
              <a:endCxn id="53" idx="1"/>
            </p:cNvCxnSpPr>
            <p:nvPr/>
          </p:nvCxnSpPr>
          <p:spPr>
            <a:xfrm>
              <a:off x="7650601" y="2129597"/>
              <a:ext cx="1576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85E62056-2EC1-5473-5B7E-9BF769554059}"/>
                </a:ext>
              </a:extLst>
            </p:cNvPr>
            <p:cNvCxnSpPr>
              <a:stCxn id="47" idx="0"/>
              <a:endCxn id="51" idx="2"/>
            </p:cNvCxnSpPr>
            <p:nvPr/>
          </p:nvCxnSpPr>
          <p:spPr>
            <a:xfrm flipV="1">
              <a:off x="6864025" y="2268121"/>
              <a:ext cx="0" cy="3645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21256335-B227-7429-6405-E04559E2F9AA}"/>
                </a:ext>
              </a:extLst>
            </p:cNvPr>
            <p:cNvCxnSpPr>
              <a:stCxn id="48" idx="0"/>
              <a:endCxn id="47" idx="2"/>
            </p:cNvCxnSpPr>
            <p:nvPr/>
          </p:nvCxnSpPr>
          <p:spPr>
            <a:xfrm flipV="1">
              <a:off x="6864025" y="3148139"/>
              <a:ext cx="0" cy="3138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CDB17469-593C-E55B-3510-EB7167AA42C9}"/>
                </a:ext>
              </a:extLst>
            </p:cNvPr>
            <p:cNvCxnSpPr>
              <a:stCxn id="49" idx="0"/>
              <a:endCxn id="48" idx="2"/>
            </p:cNvCxnSpPr>
            <p:nvPr/>
          </p:nvCxnSpPr>
          <p:spPr>
            <a:xfrm flipV="1">
              <a:off x="6864025" y="3977393"/>
              <a:ext cx="0" cy="3151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3" name="직사각형 1032">
              <a:extLst>
                <a:ext uri="{FF2B5EF4-FFF2-40B4-BE49-F238E27FC236}">
                  <a16:creationId xmlns:a16="http://schemas.microsoft.com/office/drawing/2014/main" id="{59E34C84-9FAD-A985-16A3-84D9D2ADF0F1}"/>
                </a:ext>
              </a:extLst>
            </p:cNvPr>
            <p:cNvSpPr/>
            <p:nvPr/>
          </p:nvSpPr>
          <p:spPr>
            <a:xfrm>
              <a:off x="5576699" y="2631382"/>
              <a:ext cx="758826" cy="5154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bg1"/>
                  </a:solidFill>
                </a:rPr>
                <a:t>Engine</a:t>
              </a:r>
              <a:endParaRPr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034" name="직사각형 1033">
              <a:extLst>
                <a:ext uri="{FF2B5EF4-FFF2-40B4-BE49-F238E27FC236}">
                  <a16:creationId xmlns:a16="http://schemas.microsoft.com/office/drawing/2014/main" id="{B43CAD17-1D5F-6EFA-BA16-EC53F85671FD}"/>
                </a:ext>
              </a:extLst>
            </p:cNvPr>
            <p:cNvSpPr/>
            <p:nvPr/>
          </p:nvSpPr>
          <p:spPr>
            <a:xfrm>
              <a:off x="5576699" y="3461959"/>
              <a:ext cx="758826" cy="51543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ysClr val="windowText" lastClr="000000"/>
                  </a:solidFill>
                </a:rPr>
                <a:t>Generator</a:t>
              </a:r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39" name="사각형: 둥근 모서리 1038">
              <a:extLst>
                <a:ext uri="{FF2B5EF4-FFF2-40B4-BE49-F238E27FC236}">
                  <a16:creationId xmlns:a16="http://schemas.microsoft.com/office/drawing/2014/main" id="{94B2AFA6-5E33-2543-4129-D6EDC70355F0}"/>
                </a:ext>
              </a:extLst>
            </p:cNvPr>
            <p:cNvSpPr/>
            <p:nvPr/>
          </p:nvSpPr>
          <p:spPr>
            <a:xfrm>
              <a:off x="5539569" y="1679477"/>
              <a:ext cx="398570" cy="896477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40" name="직선 화살표 연결선 1039">
              <a:extLst>
                <a:ext uri="{FF2B5EF4-FFF2-40B4-BE49-F238E27FC236}">
                  <a16:creationId xmlns:a16="http://schemas.microsoft.com/office/drawing/2014/main" id="{5A6D199E-7BC0-6693-EF41-807986D207CA}"/>
                </a:ext>
              </a:extLst>
            </p:cNvPr>
            <p:cNvCxnSpPr>
              <a:cxnSpLocks/>
              <a:stCxn id="50" idx="1"/>
              <a:endCxn id="1039" idx="3"/>
            </p:cNvCxnSpPr>
            <p:nvPr/>
          </p:nvCxnSpPr>
          <p:spPr>
            <a:xfrm flipH="1" flipV="1">
              <a:off x="5938139" y="2127715"/>
              <a:ext cx="139309" cy="18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직선 화살표 연결선 1076">
              <a:extLst>
                <a:ext uri="{FF2B5EF4-FFF2-40B4-BE49-F238E27FC236}">
                  <a16:creationId xmlns:a16="http://schemas.microsoft.com/office/drawing/2014/main" id="{3DC11640-F39F-7F6E-FAD9-785D9366CEDF}"/>
                </a:ext>
              </a:extLst>
            </p:cNvPr>
            <p:cNvCxnSpPr>
              <a:stCxn id="1033" idx="2"/>
              <a:endCxn id="1034" idx="0"/>
            </p:cNvCxnSpPr>
            <p:nvPr/>
          </p:nvCxnSpPr>
          <p:spPr>
            <a:xfrm>
              <a:off x="5956112" y="3146816"/>
              <a:ext cx="0" cy="3151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연결선: 꺾임 1078">
              <a:extLst>
                <a:ext uri="{FF2B5EF4-FFF2-40B4-BE49-F238E27FC236}">
                  <a16:creationId xmlns:a16="http://schemas.microsoft.com/office/drawing/2014/main" id="{163D1833-F5A6-3CF1-0648-C56086AC42F2}"/>
                </a:ext>
              </a:extLst>
            </p:cNvPr>
            <p:cNvCxnSpPr>
              <a:stCxn id="1034" idx="2"/>
              <a:endCxn id="49" idx="1"/>
            </p:cNvCxnSpPr>
            <p:nvPr/>
          </p:nvCxnSpPr>
          <p:spPr>
            <a:xfrm rot="16200000" flipH="1">
              <a:off x="5933932" y="3999573"/>
              <a:ext cx="572860" cy="528499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8" name="직사각형 1097">
            <a:extLst>
              <a:ext uri="{FF2B5EF4-FFF2-40B4-BE49-F238E27FC236}">
                <a16:creationId xmlns:a16="http://schemas.microsoft.com/office/drawing/2014/main" id="{5975F43B-3C73-DF5F-6181-BCEA4DD11273}"/>
              </a:ext>
            </a:extLst>
          </p:cNvPr>
          <p:cNvSpPr/>
          <p:nvPr/>
        </p:nvSpPr>
        <p:spPr>
          <a:xfrm>
            <a:off x="9387637" y="1874385"/>
            <a:ext cx="817704" cy="26783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tx1"/>
                </a:solidFill>
              </a:rPr>
              <a:t>엔진</a:t>
            </a:r>
          </a:p>
        </p:txBody>
      </p:sp>
      <p:sp>
        <p:nvSpPr>
          <p:cNvPr id="1099" name="직사각형 1098">
            <a:extLst>
              <a:ext uri="{FF2B5EF4-FFF2-40B4-BE49-F238E27FC236}">
                <a16:creationId xmlns:a16="http://schemas.microsoft.com/office/drawing/2014/main" id="{41732222-BEC1-A936-38BC-9F441AEBA185}"/>
              </a:ext>
            </a:extLst>
          </p:cNvPr>
          <p:cNvSpPr/>
          <p:nvPr/>
        </p:nvSpPr>
        <p:spPr>
          <a:xfrm>
            <a:off x="9387636" y="2353146"/>
            <a:ext cx="817704" cy="26783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tx1"/>
                </a:solidFill>
              </a:rPr>
              <a:t>발전기</a:t>
            </a:r>
          </a:p>
        </p:txBody>
      </p:sp>
      <p:sp>
        <p:nvSpPr>
          <p:cNvPr id="1100" name="직사각형 1099">
            <a:extLst>
              <a:ext uri="{FF2B5EF4-FFF2-40B4-BE49-F238E27FC236}">
                <a16:creationId xmlns:a16="http://schemas.microsoft.com/office/drawing/2014/main" id="{59D2CC67-FB2A-44D1-BE66-FE8CE002A2E1}"/>
              </a:ext>
            </a:extLst>
          </p:cNvPr>
          <p:cNvSpPr/>
          <p:nvPr/>
        </p:nvSpPr>
        <p:spPr>
          <a:xfrm>
            <a:off x="10438356" y="2353146"/>
            <a:ext cx="817704" cy="2678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tx1"/>
                </a:solidFill>
              </a:rPr>
              <a:t>배터리</a:t>
            </a:r>
          </a:p>
        </p:txBody>
      </p:sp>
      <p:sp>
        <p:nvSpPr>
          <p:cNvPr id="1101" name="직사각형 1100">
            <a:extLst>
              <a:ext uri="{FF2B5EF4-FFF2-40B4-BE49-F238E27FC236}">
                <a16:creationId xmlns:a16="http://schemas.microsoft.com/office/drawing/2014/main" id="{06E15A74-89DF-4576-FA9B-1B2039F23B57}"/>
              </a:ext>
            </a:extLst>
          </p:cNvPr>
          <p:cNvSpPr/>
          <p:nvPr/>
        </p:nvSpPr>
        <p:spPr>
          <a:xfrm>
            <a:off x="10438356" y="2822785"/>
            <a:ext cx="817704" cy="2678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tx1"/>
                </a:solidFill>
              </a:rPr>
              <a:t>모터</a:t>
            </a:r>
          </a:p>
        </p:txBody>
      </p:sp>
      <p:sp>
        <p:nvSpPr>
          <p:cNvPr id="1103" name="직사각형 1102">
            <a:extLst>
              <a:ext uri="{FF2B5EF4-FFF2-40B4-BE49-F238E27FC236}">
                <a16:creationId xmlns:a16="http://schemas.microsoft.com/office/drawing/2014/main" id="{E0549285-7DCB-6B52-7850-E709282ED4AA}"/>
              </a:ext>
            </a:extLst>
          </p:cNvPr>
          <p:cNvSpPr/>
          <p:nvPr/>
        </p:nvSpPr>
        <p:spPr>
          <a:xfrm>
            <a:off x="9101328" y="1688824"/>
            <a:ext cx="2459705" cy="144224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2" name="직사각형 1101">
            <a:extLst>
              <a:ext uri="{FF2B5EF4-FFF2-40B4-BE49-F238E27FC236}">
                <a16:creationId xmlns:a16="http://schemas.microsoft.com/office/drawing/2014/main" id="{D0739980-9FB5-5CBC-BE4E-D03D2742BE37}"/>
              </a:ext>
            </a:extLst>
          </p:cNvPr>
          <p:cNvSpPr/>
          <p:nvPr/>
        </p:nvSpPr>
        <p:spPr>
          <a:xfrm>
            <a:off x="9437205" y="1527243"/>
            <a:ext cx="1787950" cy="26783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전기차 모드</a:t>
            </a:r>
          </a:p>
        </p:txBody>
      </p:sp>
      <p:sp>
        <p:nvSpPr>
          <p:cNvPr id="1110" name="직사각형 1109">
            <a:extLst>
              <a:ext uri="{FF2B5EF4-FFF2-40B4-BE49-F238E27FC236}">
                <a16:creationId xmlns:a16="http://schemas.microsoft.com/office/drawing/2014/main" id="{CF5F0C1F-1FBB-E043-7F30-5E81A93BC1A4}"/>
              </a:ext>
            </a:extLst>
          </p:cNvPr>
          <p:cNvSpPr/>
          <p:nvPr/>
        </p:nvSpPr>
        <p:spPr>
          <a:xfrm>
            <a:off x="9387637" y="3627300"/>
            <a:ext cx="817704" cy="2678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tx1"/>
                </a:solidFill>
              </a:rPr>
              <a:t>엔진</a:t>
            </a:r>
          </a:p>
        </p:txBody>
      </p:sp>
      <p:sp>
        <p:nvSpPr>
          <p:cNvPr id="1111" name="직사각형 1110">
            <a:extLst>
              <a:ext uri="{FF2B5EF4-FFF2-40B4-BE49-F238E27FC236}">
                <a16:creationId xmlns:a16="http://schemas.microsoft.com/office/drawing/2014/main" id="{FDC394D4-AD7A-8548-D7A1-DF5C33D48542}"/>
              </a:ext>
            </a:extLst>
          </p:cNvPr>
          <p:cNvSpPr/>
          <p:nvPr/>
        </p:nvSpPr>
        <p:spPr>
          <a:xfrm>
            <a:off x="9387636" y="4106061"/>
            <a:ext cx="817704" cy="2678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tx1"/>
                </a:solidFill>
              </a:rPr>
              <a:t>발전기</a:t>
            </a:r>
          </a:p>
        </p:txBody>
      </p:sp>
      <p:sp>
        <p:nvSpPr>
          <p:cNvPr id="1112" name="직사각형 1111">
            <a:extLst>
              <a:ext uri="{FF2B5EF4-FFF2-40B4-BE49-F238E27FC236}">
                <a16:creationId xmlns:a16="http://schemas.microsoft.com/office/drawing/2014/main" id="{37B86C55-05CA-68C3-5758-3C01F673E56F}"/>
              </a:ext>
            </a:extLst>
          </p:cNvPr>
          <p:cNvSpPr/>
          <p:nvPr/>
        </p:nvSpPr>
        <p:spPr>
          <a:xfrm>
            <a:off x="10438356" y="4106061"/>
            <a:ext cx="817704" cy="2678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tx1"/>
                </a:solidFill>
              </a:rPr>
              <a:t>배터리</a:t>
            </a:r>
          </a:p>
        </p:txBody>
      </p:sp>
      <p:sp>
        <p:nvSpPr>
          <p:cNvPr id="1113" name="직사각형 1112">
            <a:extLst>
              <a:ext uri="{FF2B5EF4-FFF2-40B4-BE49-F238E27FC236}">
                <a16:creationId xmlns:a16="http://schemas.microsoft.com/office/drawing/2014/main" id="{33499C19-914F-E61F-0713-6D37BE631669}"/>
              </a:ext>
            </a:extLst>
          </p:cNvPr>
          <p:cNvSpPr/>
          <p:nvPr/>
        </p:nvSpPr>
        <p:spPr>
          <a:xfrm>
            <a:off x="10438356" y="4575700"/>
            <a:ext cx="817704" cy="2678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tx1"/>
                </a:solidFill>
              </a:rPr>
              <a:t>모터</a:t>
            </a:r>
          </a:p>
        </p:txBody>
      </p:sp>
      <p:sp>
        <p:nvSpPr>
          <p:cNvPr id="1114" name="직사각형 1113">
            <a:extLst>
              <a:ext uri="{FF2B5EF4-FFF2-40B4-BE49-F238E27FC236}">
                <a16:creationId xmlns:a16="http://schemas.microsoft.com/office/drawing/2014/main" id="{C20873C1-6E46-0818-7CD3-1BAB5CD62657}"/>
              </a:ext>
            </a:extLst>
          </p:cNvPr>
          <p:cNvSpPr/>
          <p:nvPr/>
        </p:nvSpPr>
        <p:spPr>
          <a:xfrm>
            <a:off x="9101328" y="3441739"/>
            <a:ext cx="2459705" cy="144224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5" name="직사각형 1114">
            <a:extLst>
              <a:ext uri="{FF2B5EF4-FFF2-40B4-BE49-F238E27FC236}">
                <a16:creationId xmlns:a16="http://schemas.microsoft.com/office/drawing/2014/main" id="{E5B1403E-D07A-3BA9-E6FF-24D91A4E79F9}"/>
              </a:ext>
            </a:extLst>
          </p:cNvPr>
          <p:cNvSpPr/>
          <p:nvPr/>
        </p:nvSpPr>
        <p:spPr>
          <a:xfrm>
            <a:off x="9435693" y="3287950"/>
            <a:ext cx="1787950" cy="26783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주행거리 연장모드</a:t>
            </a:r>
          </a:p>
        </p:txBody>
      </p:sp>
      <p:cxnSp>
        <p:nvCxnSpPr>
          <p:cNvPr id="1118" name="직선 화살표 연결선 1117">
            <a:extLst>
              <a:ext uri="{FF2B5EF4-FFF2-40B4-BE49-F238E27FC236}">
                <a16:creationId xmlns:a16="http://schemas.microsoft.com/office/drawing/2014/main" id="{48574C0E-1807-8AF1-8377-09C0DEDBED13}"/>
              </a:ext>
            </a:extLst>
          </p:cNvPr>
          <p:cNvCxnSpPr>
            <a:stCxn id="1110" idx="2"/>
            <a:endCxn id="1111" idx="0"/>
          </p:cNvCxnSpPr>
          <p:nvPr/>
        </p:nvCxnSpPr>
        <p:spPr>
          <a:xfrm flipH="1">
            <a:off x="9796488" y="3895136"/>
            <a:ext cx="1" cy="2109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0" name="직선 화살표 연결선 1119">
            <a:extLst>
              <a:ext uri="{FF2B5EF4-FFF2-40B4-BE49-F238E27FC236}">
                <a16:creationId xmlns:a16="http://schemas.microsoft.com/office/drawing/2014/main" id="{A3A89400-BCE7-8EE3-70A7-47E1759110CB}"/>
              </a:ext>
            </a:extLst>
          </p:cNvPr>
          <p:cNvCxnSpPr>
            <a:stCxn id="1111" idx="3"/>
            <a:endCxn id="1112" idx="1"/>
          </p:cNvCxnSpPr>
          <p:nvPr/>
        </p:nvCxnSpPr>
        <p:spPr>
          <a:xfrm>
            <a:off x="10205340" y="4239979"/>
            <a:ext cx="23301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2" name="직선 화살표 연결선 1121">
            <a:extLst>
              <a:ext uri="{FF2B5EF4-FFF2-40B4-BE49-F238E27FC236}">
                <a16:creationId xmlns:a16="http://schemas.microsoft.com/office/drawing/2014/main" id="{17D2E29C-AD75-7DF4-828D-6412745DEA9D}"/>
              </a:ext>
            </a:extLst>
          </p:cNvPr>
          <p:cNvCxnSpPr>
            <a:stCxn id="1112" idx="2"/>
            <a:endCxn id="1113" idx="0"/>
          </p:cNvCxnSpPr>
          <p:nvPr/>
        </p:nvCxnSpPr>
        <p:spPr>
          <a:xfrm>
            <a:off x="10847208" y="4373897"/>
            <a:ext cx="0" cy="2018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4" name="직선 화살표 연결선 1123">
            <a:extLst>
              <a:ext uri="{FF2B5EF4-FFF2-40B4-BE49-F238E27FC236}">
                <a16:creationId xmlns:a16="http://schemas.microsoft.com/office/drawing/2014/main" id="{A1831B5C-6D35-123A-F02B-5F0172D9E298}"/>
              </a:ext>
            </a:extLst>
          </p:cNvPr>
          <p:cNvCxnSpPr>
            <a:stCxn id="1100" idx="2"/>
            <a:endCxn id="1101" idx="0"/>
          </p:cNvCxnSpPr>
          <p:nvPr/>
        </p:nvCxnSpPr>
        <p:spPr>
          <a:xfrm>
            <a:off x="10847208" y="2620982"/>
            <a:ext cx="0" cy="2018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5" name="직사각형 1124">
            <a:extLst>
              <a:ext uri="{FF2B5EF4-FFF2-40B4-BE49-F238E27FC236}">
                <a16:creationId xmlns:a16="http://schemas.microsoft.com/office/drawing/2014/main" id="{209F3638-C096-938B-95DB-6050062FAACF}"/>
              </a:ext>
            </a:extLst>
          </p:cNvPr>
          <p:cNvSpPr/>
          <p:nvPr/>
        </p:nvSpPr>
        <p:spPr>
          <a:xfrm>
            <a:off x="5319385" y="1527243"/>
            <a:ext cx="3114045" cy="335673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38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kern="1200" baseline="0" dirty="0">
                <a:latin typeface="+mn-lt"/>
                <a:ea typeface="+mn-ea"/>
                <a:cs typeface="+mn-cs"/>
              </a:rPr>
              <a:t>2. EREV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 시스템 </a:t>
            </a:r>
            <a:r>
              <a:rPr lang="ko-KR" altLang="en-US" kern="1200" baseline="0" dirty="0" err="1">
                <a:latin typeface="+mn-lt"/>
                <a:ea typeface="+mn-ea"/>
                <a:cs typeface="+mn-cs"/>
              </a:rPr>
              <a:t>아키텍쳐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 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–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참고 차량 및 주요 제원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3" y="1143345"/>
            <a:ext cx="11130906" cy="5459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FCF45E-6767-D7AF-BD17-1EE36C8492CC}"/>
              </a:ext>
            </a:extLst>
          </p:cNvPr>
          <p:cNvSpPr/>
          <p:nvPr/>
        </p:nvSpPr>
        <p:spPr>
          <a:xfrm>
            <a:off x="4927207" y="922276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차량 주요 제원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183D9B-70D2-9754-C463-56A68BA6D7DF}"/>
              </a:ext>
            </a:extLst>
          </p:cNvPr>
          <p:cNvSpPr txBox="1"/>
          <p:nvPr/>
        </p:nvSpPr>
        <p:spPr>
          <a:xfrm>
            <a:off x="7396105" y="1830274"/>
            <a:ext cx="330999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+mn-ea"/>
              </a:rPr>
              <a:t>Vehicle Specification</a:t>
            </a:r>
            <a:br>
              <a:rPr lang="en-US" altLang="ko-KR" sz="1500" b="1" dirty="0">
                <a:latin typeface="+mn-ea"/>
              </a:rPr>
            </a:br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 - </a:t>
            </a:r>
            <a:r>
              <a:rPr lang="ko-KR" altLang="en-US" sz="1500" b="1" dirty="0">
                <a:latin typeface="+mn-ea"/>
              </a:rPr>
              <a:t>차량 중량 </a:t>
            </a:r>
            <a:r>
              <a:rPr lang="en-US" altLang="ko-KR" sz="1500" b="1" dirty="0">
                <a:latin typeface="+mn-ea"/>
              </a:rPr>
              <a:t>: 2,165kg</a:t>
            </a: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 - </a:t>
            </a:r>
            <a:r>
              <a:rPr lang="ko-KR" altLang="en-US" sz="1500" b="1" dirty="0" err="1">
                <a:latin typeface="+mn-ea"/>
              </a:rPr>
              <a:t>휠베이스</a:t>
            </a:r>
            <a:r>
              <a:rPr lang="ko-KR" altLang="en-US" sz="1500" b="1" dirty="0">
                <a:latin typeface="+mn-ea"/>
              </a:rPr>
              <a:t> </a:t>
            </a:r>
            <a:r>
              <a:rPr lang="en-US" altLang="ko-KR" sz="1500" b="1" dirty="0">
                <a:latin typeface="+mn-ea"/>
              </a:rPr>
              <a:t>: 2.765m</a:t>
            </a: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 - </a:t>
            </a:r>
            <a:r>
              <a:rPr lang="ko-KR" altLang="en-US" sz="1500" b="1" dirty="0">
                <a:latin typeface="+mn-ea"/>
              </a:rPr>
              <a:t>타이어 </a:t>
            </a:r>
            <a:r>
              <a:rPr lang="en-US" altLang="ko-KR" sz="1500" b="1" dirty="0">
                <a:latin typeface="+mn-ea"/>
              </a:rPr>
              <a:t>: 235/55R20</a:t>
            </a:r>
          </a:p>
          <a:p>
            <a:endParaRPr lang="en-US" altLang="ko-KR" sz="1500" b="1" dirty="0">
              <a:latin typeface="+mn-ea"/>
            </a:endParaRPr>
          </a:p>
          <a:p>
            <a:endParaRPr lang="en-US" altLang="ko-KR" sz="15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+mn-ea"/>
              </a:rPr>
              <a:t>Powertrain</a:t>
            </a: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 - </a:t>
            </a:r>
            <a:r>
              <a:rPr lang="ko-KR" altLang="en-US" sz="1500" b="1" dirty="0">
                <a:latin typeface="+mn-ea"/>
              </a:rPr>
              <a:t>배터리 </a:t>
            </a:r>
            <a:r>
              <a:rPr lang="en-US" altLang="ko-KR" sz="1500" b="1" dirty="0">
                <a:latin typeface="+mn-ea"/>
              </a:rPr>
              <a:t>: 13.8 kWh (NCM622)</a:t>
            </a: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 - </a:t>
            </a:r>
            <a:r>
              <a:rPr lang="ko-KR" altLang="en-US" sz="1500" b="1" dirty="0">
                <a:latin typeface="+mn-ea"/>
              </a:rPr>
              <a:t>전륜 모터 </a:t>
            </a:r>
            <a:r>
              <a:rPr lang="en-US" altLang="ko-KR" sz="1500" b="1" dirty="0">
                <a:latin typeface="+mn-ea"/>
              </a:rPr>
              <a:t>: 66.9 kW (264Nm)</a:t>
            </a: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 - </a:t>
            </a:r>
            <a:r>
              <a:rPr lang="ko-KR" altLang="en-US" sz="1500" b="1" dirty="0">
                <a:latin typeface="+mn-ea"/>
              </a:rPr>
              <a:t>후륜 모터 </a:t>
            </a:r>
            <a:r>
              <a:rPr lang="en-US" altLang="ko-KR" sz="1500" b="1" dirty="0">
                <a:latin typeface="+mn-ea"/>
              </a:rPr>
              <a:t>: 91 kW (304Nm)</a:t>
            </a: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 - </a:t>
            </a:r>
            <a:r>
              <a:rPr lang="ko-KR" altLang="en-US" sz="1500" b="1" dirty="0">
                <a:latin typeface="+mn-ea"/>
              </a:rPr>
              <a:t>엔진 </a:t>
            </a:r>
            <a:r>
              <a:rPr lang="en-US" altLang="ko-KR" sz="1500" b="1" dirty="0">
                <a:latin typeface="+mn-ea"/>
              </a:rPr>
              <a:t>: 1.6L Turbo-GDI (132kW)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E96C7B-E756-3923-C5FB-F0ABB3539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3" r="20520"/>
          <a:stretch>
            <a:fillRect/>
          </a:stretch>
        </p:blipFill>
        <p:spPr>
          <a:xfrm>
            <a:off x="1026160" y="1597371"/>
            <a:ext cx="5069840" cy="44560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4326C2-6744-410E-EBA6-367F1F3C0BA0}"/>
              </a:ext>
            </a:extLst>
          </p:cNvPr>
          <p:cNvSpPr txBox="1"/>
          <p:nvPr/>
        </p:nvSpPr>
        <p:spPr>
          <a:xfrm>
            <a:off x="1341121" y="5659437"/>
            <a:ext cx="4236335" cy="39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500" b="1" dirty="0">
                <a:latin typeface="+mn-ea"/>
              </a:rPr>
              <a:t>참고 차량 </a:t>
            </a:r>
            <a:r>
              <a:rPr lang="en-US" altLang="ko-KR" sz="1500" b="1" dirty="0">
                <a:latin typeface="+mn-ea"/>
              </a:rPr>
              <a:t>: Hyundai Santa Fe PHEV (2024)</a:t>
            </a:r>
          </a:p>
        </p:txBody>
      </p:sp>
    </p:spTree>
    <p:extLst>
      <p:ext uri="{BB962C8B-B14F-4D97-AF65-F5344CB8AC3E}">
        <p14:creationId xmlns:p14="http://schemas.microsoft.com/office/powerpoint/2010/main" val="2362849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kern="1200" baseline="0" dirty="0">
                <a:latin typeface="+mn-lt"/>
                <a:ea typeface="+mn-ea"/>
                <a:cs typeface="+mn-cs"/>
              </a:rPr>
              <a:t>2. EREV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 시스템 </a:t>
            </a:r>
            <a:r>
              <a:rPr lang="ko-KR" altLang="en-US" kern="1200" baseline="0" dirty="0" err="1">
                <a:latin typeface="+mn-lt"/>
                <a:ea typeface="+mn-ea"/>
                <a:cs typeface="+mn-cs"/>
              </a:rPr>
              <a:t>아키텍쳐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 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–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시스템 구성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3" y="1143345"/>
            <a:ext cx="6275567" cy="5459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12D979-E2FD-BD78-4552-5E733091E744}"/>
              </a:ext>
            </a:extLst>
          </p:cNvPr>
          <p:cNvSpPr/>
          <p:nvPr/>
        </p:nvSpPr>
        <p:spPr>
          <a:xfrm>
            <a:off x="2470737" y="916332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전륜 시스템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7AB5C0-252C-472C-CA4A-28BDB03074DE}"/>
              </a:ext>
            </a:extLst>
          </p:cNvPr>
          <p:cNvSpPr txBox="1"/>
          <p:nvPr/>
        </p:nvSpPr>
        <p:spPr>
          <a:xfrm>
            <a:off x="597326" y="5089470"/>
            <a:ext cx="192407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+mn-ea"/>
              </a:rPr>
              <a:t>4WD Mode</a:t>
            </a: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- </a:t>
            </a:r>
            <a:r>
              <a:rPr lang="ko-KR" altLang="en-US" sz="1500" b="1" dirty="0">
                <a:latin typeface="+mn-ea"/>
              </a:rPr>
              <a:t>전륜 </a:t>
            </a:r>
            <a:r>
              <a:rPr lang="en-US" altLang="ko-KR" sz="1500" b="1" dirty="0">
                <a:latin typeface="+mn-ea"/>
              </a:rPr>
              <a:t>+ </a:t>
            </a:r>
            <a:r>
              <a:rPr lang="ko-KR" altLang="en-US" sz="1500" b="1" dirty="0">
                <a:latin typeface="+mn-ea"/>
              </a:rPr>
              <a:t>후륜 구동</a:t>
            </a:r>
            <a:endParaRPr lang="en-US" altLang="ko-KR" sz="1500" b="1" dirty="0">
              <a:latin typeface="+mn-ea"/>
            </a:endParaRP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- </a:t>
            </a:r>
            <a:r>
              <a:rPr lang="ko-KR" altLang="en-US" sz="1500" b="1" dirty="0">
                <a:latin typeface="+mn-ea"/>
              </a:rPr>
              <a:t>고부하 상황</a:t>
            </a:r>
            <a:endParaRPr lang="en-US" altLang="ko-KR" sz="1500" b="1" dirty="0">
              <a:latin typeface="+mn-ea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79BF630-ED42-04E5-0671-73950A51FC5D}"/>
              </a:ext>
            </a:extLst>
          </p:cNvPr>
          <p:cNvSpPr/>
          <p:nvPr/>
        </p:nvSpPr>
        <p:spPr>
          <a:xfrm>
            <a:off x="6863787" y="1143345"/>
            <a:ext cx="4895595" cy="54595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FCF45E-6767-D7AF-BD17-1EE36C8492CC}"/>
              </a:ext>
            </a:extLst>
          </p:cNvPr>
          <p:cNvSpPr/>
          <p:nvPr/>
        </p:nvSpPr>
        <p:spPr>
          <a:xfrm>
            <a:off x="8250859" y="916332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후륜 시스템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44B5EA-9D9B-2384-E12B-A32A5AC6E068}"/>
              </a:ext>
            </a:extLst>
          </p:cNvPr>
          <p:cNvSpPr txBox="1"/>
          <p:nvPr/>
        </p:nvSpPr>
        <p:spPr>
          <a:xfrm>
            <a:off x="7099490" y="5068324"/>
            <a:ext cx="185505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+mn-ea"/>
              </a:rPr>
              <a:t>1</a:t>
            </a:r>
            <a:r>
              <a:rPr lang="ko-KR" altLang="en-US" b="1" dirty="0">
                <a:latin typeface="+mn-ea"/>
              </a:rPr>
              <a:t>단 기어</a:t>
            </a:r>
            <a:endParaRPr lang="en-US" altLang="ko-KR" b="1" dirty="0">
              <a:latin typeface="+mn-ea"/>
            </a:endParaRPr>
          </a:p>
          <a:p>
            <a:pPr algn="just"/>
            <a:endParaRPr lang="en-US" altLang="ko-KR" sz="1500" b="1" dirty="0">
              <a:latin typeface="+mn-ea"/>
            </a:endParaRPr>
          </a:p>
          <a:p>
            <a:pPr algn="just"/>
            <a:r>
              <a:rPr lang="en-US" altLang="ko-KR" sz="1500" b="1" dirty="0">
                <a:latin typeface="+mn-ea"/>
              </a:rPr>
              <a:t>  - </a:t>
            </a:r>
            <a:r>
              <a:rPr lang="ko-KR" altLang="en-US" sz="1500" b="1" dirty="0" err="1">
                <a:latin typeface="+mn-ea"/>
              </a:rPr>
              <a:t>기어비</a:t>
            </a:r>
            <a:r>
              <a:rPr lang="ko-KR" altLang="en-US" sz="1500" b="1" dirty="0">
                <a:latin typeface="+mn-ea"/>
              </a:rPr>
              <a:t> </a:t>
            </a:r>
            <a:r>
              <a:rPr lang="en-US" altLang="ko-KR" sz="1500" b="1" dirty="0">
                <a:latin typeface="+mn-ea"/>
              </a:rPr>
              <a:t>: 12:1</a:t>
            </a:r>
          </a:p>
          <a:p>
            <a:pPr algn="just"/>
            <a:endParaRPr lang="en-US" altLang="ko-KR" sz="1500" b="1" dirty="0">
              <a:latin typeface="+mn-ea"/>
            </a:endParaRPr>
          </a:p>
          <a:p>
            <a:pPr algn="just"/>
            <a:r>
              <a:rPr lang="en-US" altLang="ko-KR" sz="1500" b="1" dirty="0">
                <a:latin typeface="+mn-ea"/>
              </a:rPr>
              <a:t>  - </a:t>
            </a:r>
            <a:r>
              <a:rPr lang="ko-KR" altLang="en-US" sz="1500" b="1" dirty="0">
                <a:latin typeface="+mn-ea"/>
              </a:rPr>
              <a:t>저속</a:t>
            </a:r>
            <a:r>
              <a:rPr lang="en-US" altLang="ko-KR" sz="1500" b="1" dirty="0">
                <a:latin typeface="+mn-ea"/>
              </a:rPr>
              <a:t>/</a:t>
            </a:r>
            <a:r>
              <a:rPr lang="ko-KR" altLang="en-US" sz="1500" b="1" dirty="0">
                <a:latin typeface="+mn-ea"/>
              </a:rPr>
              <a:t>가속 구간</a:t>
            </a:r>
            <a:endParaRPr lang="en-US" altLang="ko-KR" sz="1500" b="1" dirty="0">
              <a:latin typeface="+mn-ea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EB84D48-A66A-A388-6ACF-4228F1B30E3B}"/>
              </a:ext>
            </a:extLst>
          </p:cNvPr>
          <p:cNvGrpSpPr/>
          <p:nvPr/>
        </p:nvGrpSpPr>
        <p:grpSpPr>
          <a:xfrm>
            <a:off x="1752096" y="1456869"/>
            <a:ext cx="3159000" cy="3088181"/>
            <a:chOff x="594342" y="1860849"/>
            <a:chExt cx="4297140" cy="4203482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50861E9-6DF9-095F-AEE3-3318206B326E}"/>
                </a:ext>
              </a:extLst>
            </p:cNvPr>
            <p:cNvSpPr/>
            <p:nvPr/>
          </p:nvSpPr>
          <p:spPr>
            <a:xfrm>
              <a:off x="1186098" y="5405927"/>
              <a:ext cx="1183880" cy="2685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718D3A2-7926-512F-E575-75257EBC9BDF}"/>
                </a:ext>
              </a:extLst>
            </p:cNvPr>
            <p:cNvSpPr/>
            <p:nvPr/>
          </p:nvSpPr>
          <p:spPr>
            <a:xfrm>
              <a:off x="594342" y="3644219"/>
              <a:ext cx="596724" cy="10471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/>
                <a:t>엔진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1F5911B-44E4-EBDF-C5C7-A58E1187D855}"/>
                </a:ext>
              </a:extLst>
            </p:cNvPr>
            <p:cNvSpPr/>
            <p:nvPr/>
          </p:nvSpPr>
          <p:spPr>
            <a:xfrm>
              <a:off x="1940276" y="4033516"/>
              <a:ext cx="2264843" cy="2685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EF3D2A8A-D682-1AF8-1F28-D3B8922C0DBE}"/>
                </a:ext>
              </a:extLst>
            </p:cNvPr>
            <p:cNvSpPr/>
            <p:nvPr/>
          </p:nvSpPr>
          <p:spPr>
            <a:xfrm>
              <a:off x="4205119" y="3377656"/>
              <a:ext cx="592720" cy="158027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모터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68565FF-6602-0BD9-00D0-A159FF2A869A}"/>
                </a:ext>
              </a:extLst>
            </p:cNvPr>
            <p:cNvSpPr/>
            <p:nvPr/>
          </p:nvSpPr>
          <p:spPr>
            <a:xfrm>
              <a:off x="712702" y="2308827"/>
              <a:ext cx="4178780" cy="44029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ysClr val="windowText" lastClr="000000"/>
                  </a:solidFill>
                </a:rPr>
                <a:t>전륜 샤프트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50026F5-A0BB-5AA6-DAED-F259E5A20E49}"/>
                </a:ext>
              </a:extLst>
            </p:cNvPr>
            <p:cNvSpPr/>
            <p:nvPr/>
          </p:nvSpPr>
          <p:spPr>
            <a:xfrm>
              <a:off x="1191066" y="4033516"/>
              <a:ext cx="443244" cy="26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74A719A3-679F-1DF1-FCC2-F9A2DE9D5AAE}"/>
                </a:ext>
              </a:extLst>
            </p:cNvPr>
            <p:cNvGrpSpPr/>
            <p:nvPr/>
          </p:nvGrpSpPr>
          <p:grpSpPr>
            <a:xfrm>
              <a:off x="1940276" y="4302070"/>
              <a:ext cx="233507" cy="239331"/>
              <a:chOff x="5849585" y="3863588"/>
              <a:chExt cx="1260000" cy="1260000"/>
            </a:xfrm>
          </p:grpSpPr>
          <p:sp>
            <p:nvSpPr>
              <p:cNvPr id="1063" name="사각형: 둥근 모서리 1062">
                <a:extLst>
                  <a:ext uri="{FF2B5EF4-FFF2-40B4-BE49-F238E27FC236}">
                    <a16:creationId xmlns:a16="http://schemas.microsoft.com/office/drawing/2014/main" id="{B8216C2E-3EFF-BADE-686E-495037652433}"/>
                  </a:ext>
                </a:extLst>
              </p:cNvPr>
              <p:cNvSpPr/>
              <p:nvPr/>
            </p:nvSpPr>
            <p:spPr>
              <a:xfrm>
                <a:off x="5849585" y="3863588"/>
                <a:ext cx="1260000" cy="1260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064" name="직사각형 1063">
                <a:extLst>
                  <a:ext uri="{FF2B5EF4-FFF2-40B4-BE49-F238E27FC236}">
                    <a16:creationId xmlns:a16="http://schemas.microsoft.com/office/drawing/2014/main" id="{78B0A449-F233-4A9C-71B5-03936BD10D8F}"/>
                  </a:ext>
                </a:extLst>
              </p:cNvPr>
              <p:cNvSpPr/>
              <p:nvPr/>
            </p:nvSpPr>
            <p:spPr>
              <a:xfrm>
                <a:off x="5849585" y="4286588"/>
                <a:ext cx="1260000" cy="4140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065" name="타원 1064">
                <a:extLst>
                  <a:ext uri="{FF2B5EF4-FFF2-40B4-BE49-F238E27FC236}">
                    <a16:creationId xmlns:a16="http://schemas.microsoft.com/office/drawing/2014/main" id="{C7F1F77E-20D2-9993-C5DF-C548F9A43888}"/>
                  </a:ext>
                </a:extLst>
              </p:cNvPr>
              <p:cNvSpPr/>
              <p:nvPr/>
            </p:nvSpPr>
            <p:spPr>
              <a:xfrm>
                <a:off x="6119585" y="4125950"/>
                <a:ext cx="720000" cy="720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</p:grp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098C429-5A8F-1A0E-0059-041039C304B1}"/>
                </a:ext>
              </a:extLst>
            </p:cNvPr>
            <p:cNvSpPr/>
            <p:nvPr/>
          </p:nvSpPr>
          <p:spPr>
            <a:xfrm>
              <a:off x="2635972" y="3601295"/>
              <a:ext cx="443244" cy="11377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ysClr val="windowText" lastClr="000000"/>
                  </a:solidFill>
                </a:rPr>
                <a:t>허브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874BFBF8-026C-8E6E-CB9F-3FCBD76CAF4C}"/>
                </a:ext>
              </a:extLst>
            </p:cNvPr>
            <p:cNvGrpSpPr/>
            <p:nvPr/>
          </p:nvGrpSpPr>
          <p:grpSpPr>
            <a:xfrm>
              <a:off x="1940276" y="3799192"/>
              <a:ext cx="233507" cy="239331"/>
              <a:chOff x="5849585" y="3863588"/>
              <a:chExt cx="1260000" cy="1260000"/>
            </a:xfrm>
          </p:grpSpPr>
          <p:sp>
            <p:nvSpPr>
              <p:cNvPr id="1060" name="사각형: 둥근 모서리 1059">
                <a:extLst>
                  <a:ext uri="{FF2B5EF4-FFF2-40B4-BE49-F238E27FC236}">
                    <a16:creationId xmlns:a16="http://schemas.microsoft.com/office/drawing/2014/main" id="{FB260966-0A00-B5AA-768A-0F45BCBA8389}"/>
                  </a:ext>
                </a:extLst>
              </p:cNvPr>
              <p:cNvSpPr/>
              <p:nvPr/>
            </p:nvSpPr>
            <p:spPr>
              <a:xfrm>
                <a:off x="5849585" y="3863588"/>
                <a:ext cx="1260000" cy="1260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061" name="직사각형 1060">
                <a:extLst>
                  <a:ext uri="{FF2B5EF4-FFF2-40B4-BE49-F238E27FC236}">
                    <a16:creationId xmlns:a16="http://schemas.microsoft.com/office/drawing/2014/main" id="{43F5E4BF-9E2A-8B5D-2AE3-510932DE8F7E}"/>
                  </a:ext>
                </a:extLst>
              </p:cNvPr>
              <p:cNvSpPr/>
              <p:nvPr/>
            </p:nvSpPr>
            <p:spPr>
              <a:xfrm>
                <a:off x="5849585" y="4286588"/>
                <a:ext cx="1260000" cy="4140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062" name="타원 1061">
                <a:extLst>
                  <a:ext uri="{FF2B5EF4-FFF2-40B4-BE49-F238E27FC236}">
                    <a16:creationId xmlns:a16="http://schemas.microsoft.com/office/drawing/2014/main" id="{32D84B99-89E0-AE47-662A-78264BAF9CD9}"/>
                  </a:ext>
                </a:extLst>
              </p:cNvPr>
              <p:cNvSpPr/>
              <p:nvPr/>
            </p:nvSpPr>
            <p:spPr>
              <a:xfrm>
                <a:off x="6119585" y="4125950"/>
                <a:ext cx="720000" cy="720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</p:grp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EDDF206-888F-4092-DF82-70BF54D93055}"/>
                </a:ext>
              </a:extLst>
            </p:cNvPr>
            <p:cNvSpPr/>
            <p:nvPr/>
          </p:nvSpPr>
          <p:spPr>
            <a:xfrm>
              <a:off x="1433054" y="3116151"/>
              <a:ext cx="263638" cy="21334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A7F12C4B-49E3-6292-318E-FBF9784DC5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3257" y="3337651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52FA4D1-DA1A-F4AB-AE49-6F3FB47342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3257" y="3518062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24EF1B52-0698-2FAB-EC31-BCF705227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3257" y="3698471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812BDD63-6D32-7B5B-08D0-574A497412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3257" y="3878882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3E32EAB-E23C-F8E2-23C6-3472C72CD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3257" y="4059292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7CCFB8E-274F-1C79-EFD3-007CEB35AB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3257" y="4239703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CD875A34-3953-FC06-2CA4-82CFFE2373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3257" y="4420113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B57FAAB-AE65-B0DC-5039-477C5B7844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3257" y="4600523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38D0467B-E055-8055-9C5C-2974F86210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3257" y="5141754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5A308992-B3D6-1269-AF3E-BC594B4137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3257" y="4780933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4F1A9C07-9C1A-7344-2EE0-21E29657A3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3257" y="4961343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7FB9BE3-FD3D-01DB-7919-7884C12FD083}"/>
                </a:ext>
              </a:extLst>
            </p:cNvPr>
            <p:cNvSpPr/>
            <p:nvPr/>
          </p:nvSpPr>
          <p:spPr>
            <a:xfrm>
              <a:off x="1932038" y="3354908"/>
              <a:ext cx="233507" cy="4402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8A243B92-F90B-130C-DC38-7DFF512D2E43}"/>
                </a:ext>
              </a:extLst>
            </p:cNvPr>
            <p:cNvSpPr/>
            <p:nvPr/>
          </p:nvSpPr>
          <p:spPr>
            <a:xfrm>
              <a:off x="1938814" y="3605041"/>
              <a:ext cx="443244" cy="189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39B3A74-247F-B999-2C0E-2716B6AC516F}"/>
                </a:ext>
              </a:extLst>
            </p:cNvPr>
            <p:cNvSpPr/>
            <p:nvPr/>
          </p:nvSpPr>
          <p:spPr>
            <a:xfrm>
              <a:off x="1940275" y="4547145"/>
              <a:ext cx="233507" cy="4402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77A4318-D4B1-0BBE-0730-4C5F189936DE}"/>
                </a:ext>
              </a:extLst>
            </p:cNvPr>
            <p:cNvSpPr/>
            <p:nvPr/>
          </p:nvSpPr>
          <p:spPr>
            <a:xfrm>
              <a:off x="1941903" y="4544961"/>
              <a:ext cx="443244" cy="189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07FCC99A-07FB-BD21-179A-78C42166D066}"/>
                </a:ext>
              </a:extLst>
            </p:cNvPr>
            <p:cNvGrpSpPr/>
            <p:nvPr/>
          </p:nvGrpSpPr>
          <p:grpSpPr>
            <a:xfrm>
              <a:off x="2279144" y="3601295"/>
              <a:ext cx="275404" cy="295507"/>
              <a:chOff x="2659842" y="2464379"/>
              <a:chExt cx="339674" cy="355598"/>
            </a:xfrm>
          </p:grpSpPr>
          <p:sp>
            <p:nvSpPr>
              <p:cNvPr id="1058" name="직사각형 1057">
                <a:extLst>
                  <a:ext uri="{FF2B5EF4-FFF2-40B4-BE49-F238E27FC236}">
                    <a16:creationId xmlns:a16="http://schemas.microsoft.com/office/drawing/2014/main" id="{55F3D103-9E84-B8D7-CF4A-0032D1A81DC1}"/>
                  </a:ext>
                </a:extLst>
              </p:cNvPr>
              <p:cNvSpPr/>
              <p:nvPr/>
            </p:nvSpPr>
            <p:spPr>
              <a:xfrm>
                <a:off x="2831371" y="2464379"/>
                <a:ext cx="167683" cy="35559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059" name="직사각형 1058">
                <a:extLst>
                  <a:ext uri="{FF2B5EF4-FFF2-40B4-BE49-F238E27FC236}">
                    <a16:creationId xmlns:a16="http://schemas.microsoft.com/office/drawing/2014/main" id="{5FF02769-D321-460C-57D7-375B1F69C681}"/>
                  </a:ext>
                </a:extLst>
              </p:cNvPr>
              <p:cNvSpPr/>
              <p:nvPr/>
            </p:nvSpPr>
            <p:spPr>
              <a:xfrm>
                <a:off x="2659842" y="2736620"/>
                <a:ext cx="339674" cy="8335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BD49D859-B6AE-3C64-75A8-7EDCE6342FEB}"/>
                </a:ext>
              </a:extLst>
            </p:cNvPr>
            <p:cNvGrpSpPr/>
            <p:nvPr/>
          </p:nvGrpSpPr>
          <p:grpSpPr>
            <a:xfrm flipV="1">
              <a:off x="2279144" y="4438786"/>
              <a:ext cx="275404" cy="295507"/>
              <a:chOff x="2659842" y="2464379"/>
              <a:chExt cx="339674" cy="355598"/>
            </a:xfrm>
          </p:grpSpPr>
          <p:sp>
            <p:nvSpPr>
              <p:cNvPr id="1056" name="직사각형 1055">
                <a:extLst>
                  <a:ext uri="{FF2B5EF4-FFF2-40B4-BE49-F238E27FC236}">
                    <a16:creationId xmlns:a16="http://schemas.microsoft.com/office/drawing/2014/main" id="{DBA0DF47-8B2B-1A15-E179-07FA3FB5AC7F}"/>
                  </a:ext>
                </a:extLst>
              </p:cNvPr>
              <p:cNvSpPr/>
              <p:nvPr/>
            </p:nvSpPr>
            <p:spPr>
              <a:xfrm>
                <a:off x="2831371" y="2464379"/>
                <a:ext cx="167683" cy="35559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057" name="직사각형 1056">
                <a:extLst>
                  <a:ext uri="{FF2B5EF4-FFF2-40B4-BE49-F238E27FC236}">
                    <a16:creationId xmlns:a16="http://schemas.microsoft.com/office/drawing/2014/main" id="{1F9BC2EF-B39E-52D5-8546-32C216472515}"/>
                  </a:ext>
                </a:extLst>
              </p:cNvPr>
              <p:cNvSpPr/>
              <p:nvPr/>
            </p:nvSpPr>
            <p:spPr>
              <a:xfrm>
                <a:off x="2659842" y="2736620"/>
                <a:ext cx="339674" cy="8335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027588C6-113B-0540-C2D0-C403BC68B956}"/>
                </a:ext>
              </a:extLst>
            </p:cNvPr>
            <p:cNvGrpSpPr/>
            <p:nvPr/>
          </p:nvGrpSpPr>
          <p:grpSpPr>
            <a:xfrm flipH="1">
              <a:off x="3148756" y="3601295"/>
              <a:ext cx="275404" cy="295507"/>
              <a:chOff x="2659842" y="2464379"/>
              <a:chExt cx="339674" cy="355598"/>
            </a:xfrm>
          </p:grpSpPr>
          <p:sp>
            <p:nvSpPr>
              <p:cNvPr id="1054" name="직사각형 1053">
                <a:extLst>
                  <a:ext uri="{FF2B5EF4-FFF2-40B4-BE49-F238E27FC236}">
                    <a16:creationId xmlns:a16="http://schemas.microsoft.com/office/drawing/2014/main" id="{228771B4-3487-5F62-77B5-2AB260E0B3FC}"/>
                  </a:ext>
                </a:extLst>
              </p:cNvPr>
              <p:cNvSpPr/>
              <p:nvPr/>
            </p:nvSpPr>
            <p:spPr>
              <a:xfrm>
                <a:off x="2831371" y="2464379"/>
                <a:ext cx="167683" cy="35559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055" name="직사각형 1054">
                <a:extLst>
                  <a:ext uri="{FF2B5EF4-FFF2-40B4-BE49-F238E27FC236}">
                    <a16:creationId xmlns:a16="http://schemas.microsoft.com/office/drawing/2014/main" id="{E76175CF-2441-CAFF-55C0-A81D5154BBB9}"/>
                  </a:ext>
                </a:extLst>
              </p:cNvPr>
              <p:cNvSpPr/>
              <p:nvPr/>
            </p:nvSpPr>
            <p:spPr>
              <a:xfrm>
                <a:off x="2659842" y="2736620"/>
                <a:ext cx="339674" cy="8335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1EDB2596-45E3-8A32-DF4C-4B0C98175E6C}"/>
                </a:ext>
              </a:extLst>
            </p:cNvPr>
            <p:cNvGrpSpPr/>
            <p:nvPr/>
          </p:nvGrpSpPr>
          <p:grpSpPr>
            <a:xfrm flipH="1" flipV="1">
              <a:off x="3144971" y="4438786"/>
              <a:ext cx="275404" cy="295507"/>
              <a:chOff x="2659842" y="2464379"/>
              <a:chExt cx="339674" cy="355598"/>
            </a:xfrm>
          </p:grpSpPr>
          <p:sp>
            <p:nvSpPr>
              <p:cNvPr id="1052" name="직사각형 1051">
                <a:extLst>
                  <a:ext uri="{FF2B5EF4-FFF2-40B4-BE49-F238E27FC236}">
                    <a16:creationId xmlns:a16="http://schemas.microsoft.com/office/drawing/2014/main" id="{0708CD00-9DE9-CD5A-F81D-75EF9B4592FB}"/>
                  </a:ext>
                </a:extLst>
              </p:cNvPr>
              <p:cNvSpPr/>
              <p:nvPr/>
            </p:nvSpPr>
            <p:spPr>
              <a:xfrm>
                <a:off x="2831371" y="2464379"/>
                <a:ext cx="167683" cy="35559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053" name="직사각형 1052">
                <a:extLst>
                  <a:ext uri="{FF2B5EF4-FFF2-40B4-BE49-F238E27FC236}">
                    <a16:creationId xmlns:a16="http://schemas.microsoft.com/office/drawing/2014/main" id="{7108BE63-09C0-07C5-4EAA-0C1FF4C677ED}"/>
                  </a:ext>
                </a:extLst>
              </p:cNvPr>
              <p:cNvSpPr/>
              <p:nvPr/>
            </p:nvSpPr>
            <p:spPr>
              <a:xfrm>
                <a:off x="2659842" y="2736620"/>
                <a:ext cx="339674" cy="8335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C0BFB366-2075-C895-24EC-5CC05EE40CD8}"/>
                </a:ext>
              </a:extLst>
            </p:cNvPr>
            <p:cNvGrpSpPr/>
            <p:nvPr/>
          </p:nvGrpSpPr>
          <p:grpSpPr>
            <a:xfrm flipH="1">
              <a:off x="3526057" y="4298690"/>
              <a:ext cx="233507" cy="239331"/>
              <a:chOff x="5849585" y="3863588"/>
              <a:chExt cx="1260000" cy="1260000"/>
            </a:xfrm>
          </p:grpSpPr>
          <p:sp>
            <p:nvSpPr>
              <p:cNvPr id="1049" name="사각형: 둥근 모서리 1048">
                <a:extLst>
                  <a:ext uri="{FF2B5EF4-FFF2-40B4-BE49-F238E27FC236}">
                    <a16:creationId xmlns:a16="http://schemas.microsoft.com/office/drawing/2014/main" id="{ACF9DBC0-146B-4ABE-9A51-063F9473FD3E}"/>
                  </a:ext>
                </a:extLst>
              </p:cNvPr>
              <p:cNvSpPr/>
              <p:nvPr/>
            </p:nvSpPr>
            <p:spPr>
              <a:xfrm>
                <a:off x="5849585" y="3863588"/>
                <a:ext cx="1260000" cy="1260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050" name="직사각형 1049">
                <a:extLst>
                  <a:ext uri="{FF2B5EF4-FFF2-40B4-BE49-F238E27FC236}">
                    <a16:creationId xmlns:a16="http://schemas.microsoft.com/office/drawing/2014/main" id="{9897101C-E980-2976-9D1B-D48EC404E95E}"/>
                  </a:ext>
                </a:extLst>
              </p:cNvPr>
              <p:cNvSpPr/>
              <p:nvPr/>
            </p:nvSpPr>
            <p:spPr>
              <a:xfrm>
                <a:off x="5849585" y="4286588"/>
                <a:ext cx="1260000" cy="4140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051" name="타원 1050">
                <a:extLst>
                  <a:ext uri="{FF2B5EF4-FFF2-40B4-BE49-F238E27FC236}">
                    <a16:creationId xmlns:a16="http://schemas.microsoft.com/office/drawing/2014/main" id="{D235D1B8-752A-C276-CC1F-36028CB82EB4}"/>
                  </a:ext>
                </a:extLst>
              </p:cNvPr>
              <p:cNvSpPr/>
              <p:nvPr/>
            </p:nvSpPr>
            <p:spPr>
              <a:xfrm>
                <a:off x="6119585" y="4125950"/>
                <a:ext cx="720000" cy="720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4EE31079-7FBB-9728-27F3-AE219851E6AF}"/>
                </a:ext>
              </a:extLst>
            </p:cNvPr>
            <p:cNvGrpSpPr/>
            <p:nvPr/>
          </p:nvGrpSpPr>
          <p:grpSpPr>
            <a:xfrm flipH="1">
              <a:off x="3526057" y="3795812"/>
              <a:ext cx="233507" cy="239331"/>
              <a:chOff x="5849585" y="3863588"/>
              <a:chExt cx="1260000" cy="1260000"/>
            </a:xfrm>
          </p:grpSpPr>
          <p:sp>
            <p:nvSpPr>
              <p:cNvPr id="1046" name="사각형: 둥근 모서리 1045">
                <a:extLst>
                  <a:ext uri="{FF2B5EF4-FFF2-40B4-BE49-F238E27FC236}">
                    <a16:creationId xmlns:a16="http://schemas.microsoft.com/office/drawing/2014/main" id="{7B08DFAD-A271-2DBC-FDB3-48CC0F0DA92E}"/>
                  </a:ext>
                </a:extLst>
              </p:cNvPr>
              <p:cNvSpPr/>
              <p:nvPr/>
            </p:nvSpPr>
            <p:spPr>
              <a:xfrm>
                <a:off x="5849585" y="3863588"/>
                <a:ext cx="1260000" cy="1260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047" name="직사각형 1046">
                <a:extLst>
                  <a:ext uri="{FF2B5EF4-FFF2-40B4-BE49-F238E27FC236}">
                    <a16:creationId xmlns:a16="http://schemas.microsoft.com/office/drawing/2014/main" id="{2E6A771C-6958-1449-130B-D8E9141E27B4}"/>
                  </a:ext>
                </a:extLst>
              </p:cNvPr>
              <p:cNvSpPr/>
              <p:nvPr/>
            </p:nvSpPr>
            <p:spPr>
              <a:xfrm>
                <a:off x="5849585" y="4286588"/>
                <a:ext cx="1260000" cy="4140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048" name="타원 1047">
                <a:extLst>
                  <a:ext uri="{FF2B5EF4-FFF2-40B4-BE49-F238E27FC236}">
                    <a16:creationId xmlns:a16="http://schemas.microsoft.com/office/drawing/2014/main" id="{D8AA7ACD-5E00-1996-22E3-3997FDEAD1DF}"/>
                  </a:ext>
                </a:extLst>
              </p:cNvPr>
              <p:cNvSpPr/>
              <p:nvPr/>
            </p:nvSpPr>
            <p:spPr>
              <a:xfrm>
                <a:off x="6119585" y="4125950"/>
                <a:ext cx="720000" cy="720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</p:grp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6683368-D177-C4DB-080D-D0D980F7C7AF}"/>
                </a:ext>
              </a:extLst>
            </p:cNvPr>
            <p:cNvSpPr/>
            <p:nvPr/>
          </p:nvSpPr>
          <p:spPr>
            <a:xfrm flipH="1">
              <a:off x="3529146" y="3217481"/>
              <a:ext cx="233507" cy="5684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EC91B808-5020-B37B-4D6D-93BFCD35D959}"/>
                </a:ext>
              </a:extLst>
            </p:cNvPr>
            <p:cNvSpPr/>
            <p:nvPr/>
          </p:nvSpPr>
          <p:spPr>
            <a:xfrm flipH="1">
              <a:off x="3317782" y="3601661"/>
              <a:ext cx="443244" cy="189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69C09E97-F978-EF4D-8AC7-72C9E8A341E6}"/>
                </a:ext>
              </a:extLst>
            </p:cNvPr>
            <p:cNvSpPr/>
            <p:nvPr/>
          </p:nvSpPr>
          <p:spPr>
            <a:xfrm flipH="1">
              <a:off x="3526058" y="4543765"/>
              <a:ext cx="233507" cy="5684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A595D9C0-AA63-D68C-7FD5-DC6745CE5AC8}"/>
                </a:ext>
              </a:extLst>
            </p:cNvPr>
            <p:cNvSpPr/>
            <p:nvPr/>
          </p:nvSpPr>
          <p:spPr>
            <a:xfrm flipH="1">
              <a:off x="3314694" y="4541582"/>
              <a:ext cx="443244" cy="189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35E8424E-FC89-5E13-E341-D7A16F2805E8}"/>
                </a:ext>
              </a:extLst>
            </p:cNvPr>
            <p:cNvSpPr/>
            <p:nvPr/>
          </p:nvSpPr>
          <p:spPr>
            <a:xfrm>
              <a:off x="3503197" y="1860849"/>
              <a:ext cx="263638" cy="133624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64E8B00-ECF4-F845-0992-48DD5BA66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3197" y="1949741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F1DC56E2-3B55-B7FC-891E-36F3A3022F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3197" y="2130151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BC26C07B-615A-E2C9-DEA7-5AB51A23C5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3197" y="2310562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9333CE7E-F0BD-3DC5-E460-C50E4EA678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3197" y="2490971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66B1D148-EEDF-F63E-0D28-2BD6D080B6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3197" y="2671381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CE464AD3-75C5-944C-639A-39C6B017A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3197" y="2851792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C7E5DD11-803A-4FC4-2E99-F99E4167C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3197" y="3032202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D961E41A-0B42-A453-175D-4D78983765B3}"/>
                </a:ext>
              </a:extLst>
            </p:cNvPr>
            <p:cNvSpPr/>
            <p:nvPr/>
          </p:nvSpPr>
          <p:spPr>
            <a:xfrm>
              <a:off x="1933846" y="5019644"/>
              <a:ext cx="233507" cy="10446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C9A8D879-0B08-E092-08D0-33827B7CA5EC}"/>
                </a:ext>
              </a:extLst>
            </p:cNvPr>
            <p:cNvSpPr/>
            <p:nvPr/>
          </p:nvSpPr>
          <p:spPr>
            <a:xfrm>
              <a:off x="1428086" y="5275052"/>
              <a:ext cx="740728" cy="5338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C7B7B472-7F0C-2103-D499-1F14680971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22297" y="3165413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직선 연결선 1023">
              <a:extLst>
                <a:ext uri="{FF2B5EF4-FFF2-40B4-BE49-F238E27FC236}">
                  <a16:creationId xmlns:a16="http://schemas.microsoft.com/office/drawing/2014/main" id="{4089E899-81E7-3D97-2585-A7F9AB92D53F}"/>
                </a:ext>
              </a:extLst>
            </p:cNvPr>
            <p:cNvCxnSpPr>
              <a:cxnSpLocks/>
            </p:cNvCxnSpPr>
            <p:nvPr/>
          </p:nvCxnSpPr>
          <p:spPr>
            <a:xfrm>
              <a:off x="1932038" y="5068437"/>
              <a:ext cx="231440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직선 연결선 1024">
              <a:extLst>
                <a:ext uri="{FF2B5EF4-FFF2-40B4-BE49-F238E27FC236}">
                  <a16:creationId xmlns:a16="http://schemas.microsoft.com/office/drawing/2014/main" id="{DF395EE3-E021-D47C-1857-568E2B873630}"/>
                </a:ext>
              </a:extLst>
            </p:cNvPr>
            <p:cNvCxnSpPr>
              <a:cxnSpLocks/>
            </p:cNvCxnSpPr>
            <p:nvPr/>
          </p:nvCxnSpPr>
          <p:spPr>
            <a:xfrm>
              <a:off x="1932038" y="5248847"/>
              <a:ext cx="231440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직선 연결선 1026">
              <a:extLst>
                <a:ext uri="{FF2B5EF4-FFF2-40B4-BE49-F238E27FC236}">
                  <a16:creationId xmlns:a16="http://schemas.microsoft.com/office/drawing/2014/main" id="{2607A3D9-3FCE-F458-B6E5-01E451F36DD7}"/>
                </a:ext>
              </a:extLst>
            </p:cNvPr>
            <p:cNvCxnSpPr>
              <a:cxnSpLocks/>
            </p:cNvCxnSpPr>
            <p:nvPr/>
          </p:nvCxnSpPr>
          <p:spPr>
            <a:xfrm>
              <a:off x="1932038" y="5429258"/>
              <a:ext cx="231440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직선 연결선 1027">
              <a:extLst>
                <a:ext uri="{FF2B5EF4-FFF2-40B4-BE49-F238E27FC236}">
                  <a16:creationId xmlns:a16="http://schemas.microsoft.com/office/drawing/2014/main" id="{BFDD81EE-C7FA-5882-C565-00A7DA1E0F19}"/>
                </a:ext>
              </a:extLst>
            </p:cNvPr>
            <p:cNvCxnSpPr>
              <a:cxnSpLocks/>
            </p:cNvCxnSpPr>
            <p:nvPr/>
          </p:nvCxnSpPr>
          <p:spPr>
            <a:xfrm>
              <a:off x="1932038" y="5609668"/>
              <a:ext cx="231440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직선 연결선 1028">
              <a:extLst>
                <a:ext uri="{FF2B5EF4-FFF2-40B4-BE49-F238E27FC236}">
                  <a16:creationId xmlns:a16="http://schemas.microsoft.com/office/drawing/2014/main" id="{E9DECEC1-48B4-4182-2601-C2F68A57F626}"/>
                </a:ext>
              </a:extLst>
            </p:cNvPr>
            <p:cNvCxnSpPr>
              <a:cxnSpLocks/>
            </p:cNvCxnSpPr>
            <p:nvPr/>
          </p:nvCxnSpPr>
          <p:spPr>
            <a:xfrm>
              <a:off x="1932038" y="5790079"/>
              <a:ext cx="231440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직선 연결선 1029">
              <a:extLst>
                <a:ext uri="{FF2B5EF4-FFF2-40B4-BE49-F238E27FC236}">
                  <a16:creationId xmlns:a16="http://schemas.microsoft.com/office/drawing/2014/main" id="{5EF6B347-5A8D-9B0B-EDA4-E788BE894F2F}"/>
                </a:ext>
              </a:extLst>
            </p:cNvPr>
            <p:cNvCxnSpPr>
              <a:cxnSpLocks/>
            </p:cNvCxnSpPr>
            <p:nvPr/>
          </p:nvCxnSpPr>
          <p:spPr>
            <a:xfrm>
              <a:off x="1932038" y="5970488"/>
              <a:ext cx="231440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직선 연결선 1030">
              <a:extLst>
                <a:ext uri="{FF2B5EF4-FFF2-40B4-BE49-F238E27FC236}">
                  <a16:creationId xmlns:a16="http://schemas.microsoft.com/office/drawing/2014/main" id="{73030BCF-2C6B-4471-F1BC-5FC4A23C1E6D}"/>
                </a:ext>
              </a:extLst>
            </p:cNvPr>
            <p:cNvCxnSpPr>
              <a:cxnSpLocks/>
            </p:cNvCxnSpPr>
            <p:nvPr/>
          </p:nvCxnSpPr>
          <p:spPr>
            <a:xfrm>
              <a:off x="1427598" y="5373162"/>
              <a:ext cx="505760" cy="1183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직선 연결선 1031">
              <a:extLst>
                <a:ext uri="{FF2B5EF4-FFF2-40B4-BE49-F238E27FC236}">
                  <a16:creationId xmlns:a16="http://schemas.microsoft.com/office/drawing/2014/main" id="{FFE09AF9-0EE2-E287-CA2F-D93BF6AEC1B4}"/>
                </a:ext>
              </a:extLst>
            </p:cNvPr>
            <p:cNvCxnSpPr>
              <a:cxnSpLocks/>
            </p:cNvCxnSpPr>
            <p:nvPr/>
          </p:nvCxnSpPr>
          <p:spPr>
            <a:xfrm>
              <a:off x="1427598" y="5521208"/>
              <a:ext cx="505760" cy="1183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직선 연결선 1032">
              <a:extLst>
                <a:ext uri="{FF2B5EF4-FFF2-40B4-BE49-F238E27FC236}">
                  <a16:creationId xmlns:a16="http://schemas.microsoft.com/office/drawing/2014/main" id="{6BEC0141-1070-EEF6-C5BB-E09D9A697920}"/>
                </a:ext>
              </a:extLst>
            </p:cNvPr>
            <p:cNvCxnSpPr>
              <a:cxnSpLocks/>
            </p:cNvCxnSpPr>
            <p:nvPr/>
          </p:nvCxnSpPr>
          <p:spPr>
            <a:xfrm>
              <a:off x="1427598" y="5675771"/>
              <a:ext cx="505760" cy="1183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직선 연결선 1033">
              <a:extLst>
                <a:ext uri="{FF2B5EF4-FFF2-40B4-BE49-F238E27FC236}">
                  <a16:creationId xmlns:a16="http://schemas.microsoft.com/office/drawing/2014/main" id="{CDCA21A8-93A7-3B6C-2FB4-A89339A739A9}"/>
                </a:ext>
              </a:extLst>
            </p:cNvPr>
            <p:cNvCxnSpPr>
              <a:cxnSpLocks/>
            </p:cNvCxnSpPr>
            <p:nvPr/>
          </p:nvCxnSpPr>
          <p:spPr>
            <a:xfrm>
              <a:off x="1656634" y="5278539"/>
              <a:ext cx="266454" cy="695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7" name="직사각형 1036">
              <a:extLst>
                <a:ext uri="{FF2B5EF4-FFF2-40B4-BE49-F238E27FC236}">
                  <a16:creationId xmlns:a16="http://schemas.microsoft.com/office/drawing/2014/main" id="{2546EC2C-4C25-CF92-688B-0A82ED2E0B4A}"/>
                </a:ext>
              </a:extLst>
            </p:cNvPr>
            <p:cNvSpPr/>
            <p:nvPr/>
          </p:nvSpPr>
          <p:spPr>
            <a:xfrm>
              <a:off x="2474627" y="3337651"/>
              <a:ext cx="741626" cy="23105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2F7AE227-7925-569D-9FFF-82E3804E4569}"/>
                </a:ext>
              </a:extLst>
            </p:cNvPr>
            <p:cNvSpPr/>
            <p:nvPr/>
          </p:nvSpPr>
          <p:spPr>
            <a:xfrm>
              <a:off x="2474627" y="4781085"/>
              <a:ext cx="741626" cy="23105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cxnSp>
          <p:nvCxnSpPr>
            <p:cNvPr id="1039" name="직선 화살표 연결선 1038">
              <a:extLst>
                <a:ext uri="{FF2B5EF4-FFF2-40B4-BE49-F238E27FC236}">
                  <a16:creationId xmlns:a16="http://schemas.microsoft.com/office/drawing/2014/main" id="{8660D848-8C8E-F1E0-D672-1128C4645B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4289" y="3451971"/>
              <a:ext cx="225011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직선 화살표 연결선 1039">
              <a:extLst>
                <a:ext uri="{FF2B5EF4-FFF2-40B4-BE49-F238E27FC236}">
                  <a16:creationId xmlns:a16="http://schemas.microsoft.com/office/drawing/2014/main" id="{DCDC7278-B8AF-3C9B-A46A-ECC965026ED5}"/>
                </a:ext>
              </a:extLst>
            </p:cNvPr>
            <p:cNvCxnSpPr>
              <a:cxnSpLocks/>
            </p:cNvCxnSpPr>
            <p:nvPr/>
          </p:nvCxnSpPr>
          <p:spPr>
            <a:xfrm>
              <a:off x="3224289" y="4896613"/>
              <a:ext cx="22501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직선 화살표 연결선 1040">
              <a:extLst>
                <a:ext uri="{FF2B5EF4-FFF2-40B4-BE49-F238E27FC236}">
                  <a16:creationId xmlns:a16="http://schemas.microsoft.com/office/drawing/2014/main" id="{4C388754-7054-A127-6C7D-B82BE3FC17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1579" y="3457554"/>
              <a:ext cx="225011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직선 화살표 연결선 1041">
              <a:extLst>
                <a:ext uri="{FF2B5EF4-FFF2-40B4-BE49-F238E27FC236}">
                  <a16:creationId xmlns:a16="http://schemas.microsoft.com/office/drawing/2014/main" id="{D703479A-DAD4-339A-D846-25F446B249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1579" y="4896612"/>
              <a:ext cx="225011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3" name="직사각형 1042">
              <a:extLst>
                <a:ext uri="{FF2B5EF4-FFF2-40B4-BE49-F238E27FC236}">
                  <a16:creationId xmlns:a16="http://schemas.microsoft.com/office/drawing/2014/main" id="{AE534CDF-6C69-3A40-7746-140886B0E185}"/>
                </a:ext>
              </a:extLst>
            </p:cNvPr>
            <p:cNvSpPr/>
            <p:nvPr/>
          </p:nvSpPr>
          <p:spPr>
            <a:xfrm>
              <a:off x="1803418" y="3147952"/>
              <a:ext cx="2132081" cy="201929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</p:grpSp>
      <p:grpSp>
        <p:nvGrpSpPr>
          <p:cNvPr id="1066" name="그룹 1065">
            <a:extLst>
              <a:ext uri="{FF2B5EF4-FFF2-40B4-BE49-F238E27FC236}">
                <a16:creationId xmlns:a16="http://schemas.microsoft.com/office/drawing/2014/main" id="{D26EEF6B-2F01-D4BC-3495-02332375BC0C}"/>
              </a:ext>
            </a:extLst>
          </p:cNvPr>
          <p:cNvGrpSpPr/>
          <p:nvPr/>
        </p:nvGrpSpPr>
        <p:grpSpPr>
          <a:xfrm>
            <a:off x="6976708" y="1824469"/>
            <a:ext cx="3305211" cy="2720581"/>
            <a:chOff x="6237219" y="2653116"/>
            <a:chExt cx="4178780" cy="3486340"/>
          </a:xfrm>
        </p:grpSpPr>
        <p:sp>
          <p:nvSpPr>
            <p:cNvPr id="1067" name="직사각형 1066">
              <a:extLst>
                <a:ext uri="{FF2B5EF4-FFF2-40B4-BE49-F238E27FC236}">
                  <a16:creationId xmlns:a16="http://schemas.microsoft.com/office/drawing/2014/main" id="{9E8ACBBA-9DED-5F4E-F9CB-A25E4FD8C92E}"/>
                </a:ext>
              </a:extLst>
            </p:cNvPr>
            <p:cNvSpPr/>
            <p:nvPr/>
          </p:nvSpPr>
          <p:spPr>
            <a:xfrm>
              <a:off x="7441933" y="3538680"/>
              <a:ext cx="2264843" cy="2685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068" name="직사각형 1067">
              <a:extLst>
                <a:ext uri="{FF2B5EF4-FFF2-40B4-BE49-F238E27FC236}">
                  <a16:creationId xmlns:a16="http://schemas.microsoft.com/office/drawing/2014/main" id="{20209164-AC01-A20B-5D8C-ECF842051320}"/>
                </a:ext>
              </a:extLst>
            </p:cNvPr>
            <p:cNvSpPr/>
            <p:nvPr/>
          </p:nvSpPr>
          <p:spPr>
            <a:xfrm>
              <a:off x="9706776" y="2882820"/>
              <a:ext cx="592720" cy="158027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모터</a:t>
              </a:r>
            </a:p>
          </p:txBody>
        </p:sp>
        <p:sp>
          <p:nvSpPr>
            <p:cNvPr id="1069" name="직사각형 1068">
              <a:extLst>
                <a:ext uri="{FF2B5EF4-FFF2-40B4-BE49-F238E27FC236}">
                  <a16:creationId xmlns:a16="http://schemas.microsoft.com/office/drawing/2014/main" id="{920951F4-4637-43BA-4D7C-FAB5B17D0D08}"/>
                </a:ext>
              </a:extLst>
            </p:cNvPr>
            <p:cNvSpPr/>
            <p:nvPr/>
          </p:nvSpPr>
          <p:spPr>
            <a:xfrm>
              <a:off x="6237219" y="5113815"/>
              <a:ext cx="4178780" cy="44029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ysClr val="windowText" lastClr="000000"/>
                  </a:solidFill>
                </a:rPr>
                <a:t>후륜 샤프트</a:t>
              </a:r>
            </a:p>
          </p:txBody>
        </p:sp>
        <p:grpSp>
          <p:nvGrpSpPr>
            <p:cNvPr id="1070" name="그룹 1069">
              <a:extLst>
                <a:ext uri="{FF2B5EF4-FFF2-40B4-BE49-F238E27FC236}">
                  <a16:creationId xmlns:a16="http://schemas.microsoft.com/office/drawing/2014/main" id="{C695DABB-EB77-888F-A2A2-495555D99232}"/>
                </a:ext>
              </a:extLst>
            </p:cNvPr>
            <p:cNvGrpSpPr/>
            <p:nvPr/>
          </p:nvGrpSpPr>
          <p:grpSpPr>
            <a:xfrm>
              <a:off x="7441933" y="3807234"/>
              <a:ext cx="233507" cy="239331"/>
              <a:chOff x="5849585" y="3863588"/>
              <a:chExt cx="1260000" cy="1260000"/>
            </a:xfrm>
          </p:grpSpPr>
          <p:sp>
            <p:nvSpPr>
              <p:cNvPr id="1133" name="사각형: 둥근 모서리 1132">
                <a:extLst>
                  <a:ext uri="{FF2B5EF4-FFF2-40B4-BE49-F238E27FC236}">
                    <a16:creationId xmlns:a16="http://schemas.microsoft.com/office/drawing/2014/main" id="{BF8A4B21-AC56-A6DF-F853-A56D432BB500}"/>
                  </a:ext>
                </a:extLst>
              </p:cNvPr>
              <p:cNvSpPr/>
              <p:nvPr/>
            </p:nvSpPr>
            <p:spPr>
              <a:xfrm>
                <a:off x="5849585" y="3863588"/>
                <a:ext cx="1260000" cy="1260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134" name="직사각형 1133">
                <a:extLst>
                  <a:ext uri="{FF2B5EF4-FFF2-40B4-BE49-F238E27FC236}">
                    <a16:creationId xmlns:a16="http://schemas.microsoft.com/office/drawing/2014/main" id="{CDA3E6E0-A1FE-F61A-E00F-FFE26F18F202}"/>
                  </a:ext>
                </a:extLst>
              </p:cNvPr>
              <p:cNvSpPr/>
              <p:nvPr/>
            </p:nvSpPr>
            <p:spPr>
              <a:xfrm>
                <a:off x="5849585" y="4286588"/>
                <a:ext cx="1260000" cy="4140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135" name="타원 1134">
                <a:extLst>
                  <a:ext uri="{FF2B5EF4-FFF2-40B4-BE49-F238E27FC236}">
                    <a16:creationId xmlns:a16="http://schemas.microsoft.com/office/drawing/2014/main" id="{03B819C1-E869-9924-9D43-7DF8FABE4D93}"/>
                  </a:ext>
                </a:extLst>
              </p:cNvPr>
              <p:cNvSpPr/>
              <p:nvPr/>
            </p:nvSpPr>
            <p:spPr>
              <a:xfrm>
                <a:off x="6119585" y="4125950"/>
                <a:ext cx="720000" cy="720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</p:grpSp>
        <p:sp>
          <p:nvSpPr>
            <p:cNvPr id="1071" name="직사각형 1070">
              <a:extLst>
                <a:ext uri="{FF2B5EF4-FFF2-40B4-BE49-F238E27FC236}">
                  <a16:creationId xmlns:a16="http://schemas.microsoft.com/office/drawing/2014/main" id="{ECB9EFF3-892F-0ED4-7E5E-965F8DB7EF28}"/>
                </a:ext>
              </a:extLst>
            </p:cNvPr>
            <p:cNvSpPr/>
            <p:nvPr/>
          </p:nvSpPr>
          <p:spPr>
            <a:xfrm>
              <a:off x="8137629" y="3106459"/>
              <a:ext cx="443244" cy="11377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ysClr val="windowText" lastClr="000000"/>
                  </a:solidFill>
                </a:rPr>
                <a:t>허브</a:t>
              </a:r>
            </a:p>
          </p:txBody>
        </p:sp>
        <p:grpSp>
          <p:nvGrpSpPr>
            <p:cNvPr id="1072" name="그룹 1071">
              <a:extLst>
                <a:ext uri="{FF2B5EF4-FFF2-40B4-BE49-F238E27FC236}">
                  <a16:creationId xmlns:a16="http://schemas.microsoft.com/office/drawing/2014/main" id="{7A776818-EAC1-649B-647D-02F73368264B}"/>
                </a:ext>
              </a:extLst>
            </p:cNvPr>
            <p:cNvGrpSpPr/>
            <p:nvPr/>
          </p:nvGrpSpPr>
          <p:grpSpPr>
            <a:xfrm>
              <a:off x="7441933" y="3304356"/>
              <a:ext cx="233507" cy="239331"/>
              <a:chOff x="5849585" y="3863588"/>
              <a:chExt cx="1260000" cy="1260000"/>
            </a:xfrm>
          </p:grpSpPr>
          <p:sp>
            <p:nvSpPr>
              <p:cNvPr id="1130" name="사각형: 둥근 모서리 1129">
                <a:extLst>
                  <a:ext uri="{FF2B5EF4-FFF2-40B4-BE49-F238E27FC236}">
                    <a16:creationId xmlns:a16="http://schemas.microsoft.com/office/drawing/2014/main" id="{F99D3C3F-F11A-F6F6-DEB6-C0BC2D72CD26}"/>
                  </a:ext>
                </a:extLst>
              </p:cNvPr>
              <p:cNvSpPr/>
              <p:nvPr/>
            </p:nvSpPr>
            <p:spPr>
              <a:xfrm>
                <a:off x="5849585" y="3863588"/>
                <a:ext cx="1260000" cy="1260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131" name="직사각형 1130">
                <a:extLst>
                  <a:ext uri="{FF2B5EF4-FFF2-40B4-BE49-F238E27FC236}">
                    <a16:creationId xmlns:a16="http://schemas.microsoft.com/office/drawing/2014/main" id="{EB51910C-8247-B00C-C1D7-BAD5444821AD}"/>
                  </a:ext>
                </a:extLst>
              </p:cNvPr>
              <p:cNvSpPr/>
              <p:nvPr/>
            </p:nvSpPr>
            <p:spPr>
              <a:xfrm>
                <a:off x="5849585" y="4286588"/>
                <a:ext cx="1260000" cy="4140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132" name="타원 1131">
                <a:extLst>
                  <a:ext uri="{FF2B5EF4-FFF2-40B4-BE49-F238E27FC236}">
                    <a16:creationId xmlns:a16="http://schemas.microsoft.com/office/drawing/2014/main" id="{3A26C0F0-AC60-CB84-6011-0B2B505CFF5A}"/>
                  </a:ext>
                </a:extLst>
              </p:cNvPr>
              <p:cNvSpPr/>
              <p:nvPr/>
            </p:nvSpPr>
            <p:spPr>
              <a:xfrm>
                <a:off x="6119585" y="4125950"/>
                <a:ext cx="720000" cy="720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</p:grpSp>
        <p:sp>
          <p:nvSpPr>
            <p:cNvPr id="1073" name="직사각형 1072">
              <a:extLst>
                <a:ext uri="{FF2B5EF4-FFF2-40B4-BE49-F238E27FC236}">
                  <a16:creationId xmlns:a16="http://schemas.microsoft.com/office/drawing/2014/main" id="{57D82D77-91B7-D683-97CB-41499550A8FB}"/>
                </a:ext>
              </a:extLst>
            </p:cNvPr>
            <p:cNvSpPr/>
            <p:nvPr/>
          </p:nvSpPr>
          <p:spPr>
            <a:xfrm>
              <a:off x="7433695" y="2860072"/>
              <a:ext cx="233507" cy="4402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074" name="직사각형 1073">
              <a:extLst>
                <a:ext uri="{FF2B5EF4-FFF2-40B4-BE49-F238E27FC236}">
                  <a16:creationId xmlns:a16="http://schemas.microsoft.com/office/drawing/2014/main" id="{514F54E5-82A1-CF97-41EF-6F9E85EC213C}"/>
                </a:ext>
              </a:extLst>
            </p:cNvPr>
            <p:cNvSpPr/>
            <p:nvPr/>
          </p:nvSpPr>
          <p:spPr>
            <a:xfrm>
              <a:off x="7440471" y="3110205"/>
              <a:ext cx="443244" cy="189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075" name="직사각형 1074">
              <a:extLst>
                <a:ext uri="{FF2B5EF4-FFF2-40B4-BE49-F238E27FC236}">
                  <a16:creationId xmlns:a16="http://schemas.microsoft.com/office/drawing/2014/main" id="{65007235-10DF-1D28-8FE1-A16CAB027536}"/>
                </a:ext>
              </a:extLst>
            </p:cNvPr>
            <p:cNvSpPr/>
            <p:nvPr/>
          </p:nvSpPr>
          <p:spPr>
            <a:xfrm>
              <a:off x="7441932" y="4052309"/>
              <a:ext cx="233507" cy="4402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076" name="직사각형 1075">
              <a:extLst>
                <a:ext uri="{FF2B5EF4-FFF2-40B4-BE49-F238E27FC236}">
                  <a16:creationId xmlns:a16="http://schemas.microsoft.com/office/drawing/2014/main" id="{842AC8EF-0BAB-5FCD-E038-7B2CAE28F4D3}"/>
                </a:ext>
              </a:extLst>
            </p:cNvPr>
            <p:cNvSpPr/>
            <p:nvPr/>
          </p:nvSpPr>
          <p:spPr>
            <a:xfrm>
              <a:off x="7443560" y="4050125"/>
              <a:ext cx="443244" cy="189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grpSp>
          <p:nvGrpSpPr>
            <p:cNvPr id="1077" name="그룹 1076">
              <a:extLst>
                <a:ext uri="{FF2B5EF4-FFF2-40B4-BE49-F238E27FC236}">
                  <a16:creationId xmlns:a16="http://schemas.microsoft.com/office/drawing/2014/main" id="{8A7B1085-3F44-B2ED-BFEB-9D408A72FC1B}"/>
                </a:ext>
              </a:extLst>
            </p:cNvPr>
            <p:cNvGrpSpPr/>
            <p:nvPr/>
          </p:nvGrpSpPr>
          <p:grpSpPr>
            <a:xfrm>
              <a:off x="7780801" y="3106459"/>
              <a:ext cx="275404" cy="295507"/>
              <a:chOff x="2659842" y="2464379"/>
              <a:chExt cx="339674" cy="355598"/>
            </a:xfrm>
          </p:grpSpPr>
          <p:sp>
            <p:nvSpPr>
              <p:cNvPr id="1128" name="직사각형 1127">
                <a:extLst>
                  <a:ext uri="{FF2B5EF4-FFF2-40B4-BE49-F238E27FC236}">
                    <a16:creationId xmlns:a16="http://schemas.microsoft.com/office/drawing/2014/main" id="{19C1A750-04E0-CED5-D171-414D3E1D5E4C}"/>
                  </a:ext>
                </a:extLst>
              </p:cNvPr>
              <p:cNvSpPr/>
              <p:nvPr/>
            </p:nvSpPr>
            <p:spPr>
              <a:xfrm>
                <a:off x="2831371" y="2464379"/>
                <a:ext cx="167683" cy="35559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129" name="직사각형 1128">
                <a:extLst>
                  <a:ext uri="{FF2B5EF4-FFF2-40B4-BE49-F238E27FC236}">
                    <a16:creationId xmlns:a16="http://schemas.microsoft.com/office/drawing/2014/main" id="{CFBBA765-04F5-715F-2CBD-BD1AAB808B1C}"/>
                  </a:ext>
                </a:extLst>
              </p:cNvPr>
              <p:cNvSpPr/>
              <p:nvPr/>
            </p:nvSpPr>
            <p:spPr>
              <a:xfrm>
                <a:off x="2659842" y="2736620"/>
                <a:ext cx="339674" cy="8335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</p:grpSp>
        <p:grpSp>
          <p:nvGrpSpPr>
            <p:cNvPr id="1078" name="그룹 1077">
              <a:extLst>
                <a:ext uri="{FF2B5EF4-FFF2-40B4-BE49-F238E27FC236}">
                  <a16:creationId xmlns:a16="http://schemas.microsoft.com/office/drawing/2014/main" id="{10E69773-7CB5-3841-39F9-0D4DB0A2CB12}"/>
                </a:ext>
              </a:extLst>
            </p:cNvPr>
            <p:cNvGrpSpPr/>
            <p:nvPr/>
          </p:nvGrpSpPr>
          <p:grpSpPr>
            <a:xfrm flipV="1">
              <a:off x="7780801" y="3943950"/>
              <a:ext cx="275404" cy="295507"/>
              <a:chOff x="2659842" y="2464379"/>
              <a:chExt cx="339674" cy="355598"/>
            </a:xfrm>
          </p:grpSpPr>
          <p:sp>
            <p:nvSpPr>
              <p:cNvPr id="1126" name="직사각형 1125">
                <a:extLst>
                  <a:ext uri="{FF2B5EF4-FFF2-40B4-BE49-F238E27FC236}">
                    <a16:creationId xmlns:a16="http://schemas.microsoft.com/office/drawing/2014/main" id="{13A2129F-AA2C-6EF8-8B44-4F65319FFA71}"/>
                  </a:ext>
                </a:extLst>
              </p:cNvPr>
              <p:cNvSpPr/>
              <p:nvPr/>
            </p:nvSpPr>
            <p:spPr>
              <a:xfrm>
                <a:off x="2831371" y="2464379"/>
                <a:ext cx="167683" cy="35559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127" name="직사각형 1126">
                <a:extLst>
                  <a:ext uri="{FF2B5EF4-FFF2-40B4-BE49-F238E27FC236}">
                    <a16:creationId xmlns:a16="http://schemas.microsoft.com/office/drawing/2014/main" id="{427209F0-7039-2506-C50E-967B93A5270F}"/>
                  </a:ext>
                </a:extLst>
              </p:cNvPr>
              <p:cNvSpPr/>
              <p:nvPr/>
            </p:nvSpPr>
            <p:spPr>
              <a:xfrm>
                <a:off x="2659842" y="2736620"/>
                <a:ext cx="339674" cy="8335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</p:grpSp>
        <p:grpSp>
          <p:nvGrpSpPr>
            <p:cNvPr id="1079" name="그룹 1078">
              <a:extLst>
                <a:ext uri="{FF2B5EF4-FFF2-40B4-BE49-F238E27FC236}">
                  <a16:creationId xmlns:a16="http://schemas.microsoft.com/office/drawing/2014/main" id="{FAC87D8A-57B6-B733-73B6-ABC97C4DC459}"/>
                </a:ext>
              </a:extLst>
            </p:cNvPr>
            <p:cNvGrpSpPr/>
            <p:nvPr/>
          </p:nvGrpSpPr>
          <p:grpSpPr>
            <a:xfrm flipH="1">
              <a:off x="8650413" y="3106459"/>
              <a:ext cx="275404" cy="295507"/>
              <a:chOff x="2659842" y="2464379"/>
              <a:chExt cx="339674" cy="355598"/>
            </a:xfrm>
          </p:grpSpPr>
          <p:sp>
            <p:nvSpPr>
              <p:cNvPr id="1124" name="직사각형 1123">
                <a:extLst>
                  <a:ext uri="{FF2B5EF4-FFF2-40B4-BE49-F238E27FC236}">
                    <a16:creationId xmlns:a16="http://schemas.microsoft.com/office/drawing/2014/main" id="{87A1117B-6F02-DC28-9629-A24C2C8FD053}"/>
                  </a:ext>
                </a:extLst>
              </p:cNvPr>
              <p:cNvSpPr/>
              <p:nvPr/>
            </p:nvSpPr>
            <p:spPr>
              <a:xfrm>
                <a:off x="2831371" y="2464379"/>
                <a:ext cx="167683" cy="35559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125" name="직사각형 1124">
                <a:extLst>
                  <a:ext uri="{FF2B5EF4-FFF2-40B4-BE49-F238E27FC236}">
                    <a16:creationId xmlns:a16="http://schemas.microsoft.com/office/drawing/2014/main" id="{E9CC61BF-AA30-38CA-6362-8BAAB9DDFD2F}"/>
                  </a:ext>
                </a:extLst>
              </p:cNvPr>
              <p:cNvSpPr/>
              <p:nvPr/>
            </p:nvSpPr>
            <p:spPr>
              <a:xfrm>
                <a:off x="2659842" y="2736620"/>
                <a:ext cx="339674" cy="8335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</p:grpSp>
        <p:grpSp>
          <p:nvGrpSpPr>
            <p:cNvPr id="1080" name="그룹 1079">
              <a:extLst>
                <a:ext uri="{FF2B5EF4-FFF2-40B4-BE49-F238E27FC236}">
                  <a16:creationId xmlns:a16="http://schemas.microsoft.com/office/drawing/2014/main" id="{53B01154-B2CC-B35D-6F81-B854CD305FAB}"/>
                </a:ext>
              </a:extLst>
            </p:cNvPr>
            <p:cNvGrpSpPr/>
            <p:nvPr/>
          </p:nvGrpSpPr>
          <p:grpSpPr>
            <a:xfrm flipH="1" flipV="1">
              <a:off x="8646628" y="3943950"/>
              <a:ext cx="275404" cy="295507"/>
              <a:chOff x="2659842" y="2464379"/>
              <a:chExt cx="339674" cy="355598"/>
            </a:xfrm>
          </p:grpSpPr>
          <p:sp>
            <p:nvSpPr>
              <p:cNvPr id="1122" name="직사각형 1121">
                <a:extLst>
                  <a:ext uri="{FF2B5EF4-FFF2-40B4-BE49-F238E27FC236}">
                    <a16:creationId xmlns:a16="http://schemas.microsoft.com/office/drawing/2014/main" id="{8BA91C10-8C65-E5F6-1B04-92E2D47AD276}"/>
                  </a:ext>
                </a:extLst>
              </p:cNvPr>
              <p:cNvSpPr/>
              <p:nvPr/>
            </p:nvSpPr>
            <p:spPr>
              <a:xfrm>
                <a:off x="2831371" y="2464379"/>
                <a:ext cx="167683" cy="35559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123" name="직사각형 1122">
                <a:extLst>
                  <a:ext uri="{FF2B5EF4-FFF2-40B4-BE49-F238E27FC236}">
                    <a16:creationId xmlns:a16="http://schemas.microsoft.com/office/drawing/2014/main" id="{699E9311-6D60-437A-D8D6-DD0DCD53DBCF}"/>
                  </a:ext>
                </a:extLst>
              </p:cNvPr>
              <p:cNvSpPr/>
              <p:nvPr/>
            </p:nvSpPr>
            <p:spPr>
              <a:xfrm>
                <a:off x="2659842" y="2736620"/>
                <a:ext cx="339674" cy="8335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</p:grpSp>
        <p:grpSp>
          <p:nvGrpSpPr>
            <p:cNvPr id="1081" name="그룹 1080">
              <a:extLst>
                <a:ext uri="{FF2B5EF4-FFF2-40B4-BE49-F238E27FC236}">
                  <a16:creationId xmlns:a16="http://schemas.microsoft.com/office/drawing/2014/main" id="{E13A40D8-92F0-1300-CDD0-8EAB3AB27928}"/>
                </a:ext>
              </a:extLst>
            </p:cNvPr>
            <p:cNvGrpSpPr/>
            <p:nvPr/>
          </p:nvGrpSpPr>
          <p:grpSpPr>
            <a:xfrm flipH="1">
              <a:off x="9027714" y="3803854"/>
              <a:ext cx="233507" cy="239331"/>
              <a:chOff x="5849585" y="3863588"/>
              <a:chExt cx="1260000" cy="1260000"/>
            </a:xfrm>
          </p:grpSpPr>
          <p:sp>
            <p:nvSpPr>
              <p:cNvPr id="1119" name="사각형: 둥근 모서리 1118">
                <a:extLst>
                  <a:ext uri="{FF2B5EF4-FFF2-40B4-BE49-F238E27FC236}">
                    <a16:creationId xmlns:a16="http://schemas.microsoft.com/office/drawing/2014/main" id="{5146751A-AAAB-BB69-4C43-ED6CE000F08E}"/>
                  </a:ext>
                </a:extLst>
              </p:cNvPr>
              <p:cNvSpPr/>
              <p:nvPr/>
            </p:nvSpPr>
            <p:spPr>
              <a:xfrm>
                <a:off x="5849585" y="3863588"/>
                <a:ext cx="1260000" cy="1260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120" name="직사각형 1119">
                <a:extLst>
                  <a:ext uri="{FF2B5EF4-FFF2-40B4-BE49-F238E27FC236}">
                    <a16:creationId xmlns:a16="http://schemas.microsoft.com/office/drawing/2014/main" id="{FA43B482-5222-874F-22BD-8D69A9B2D8E5}"/>
                  </a:ext>
                </a:extLst>
              </p:cNvPr>
              <p:cNvSpPr/>
              <p:nvPr/>
            </p:nvSpPr>
            <p:spPr>
              <a:xfrm>
                <a:off x="5849585" y="4286588"/>
                <a:ext cx="1260000" cy="4140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121" name="타원 1120">
                <a:extLst>
                  <a:ext uri="{FF2B5EF4-FFF2-40B4-BE49-F238E27FC236}">
                    <a16:creationId xmlns:a16="http://schemas.microsoft.com/office/drawing/2014/main" id="{19DB31E7-55E0-5829-1AB7-2E6674129F46}"/>
                  </a:ext>
                </a:extLst>
              </p:cNvPr>
              <p:cNvSpPr/>
              <p:nvPr/>
            </p:nvSpPr>
            <p:spPr>
              <a:xfrm>
                <a:off x="6119585" y="4125950"/>
                <a:ext cx="720000" cy="720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</p:grpSp>
        <p:grpSp>
          <p:nvGrpSpPr>
            <p:cNvPr id="1082" name="그룹 1081">
              <a:extLst>
                <a:ext uri="{FF2B5EF4-FFF2-40B4-BE49-F238E27FC236}">
                  <a16:creationId xmlns:a16="http://schemas.microsoft.com/office/drawing/2014/main" id="{18E1C524-374B-570F-8872-922A5FC85235}"/>
                </a:ext>
              </a:extLst>
            </p:cNvPr>
            <p:cNvGrpSpPr/>
            <p:nvPr/>
          </p:nvGrpSpPr>
          <p:grpSpPr>
            <a:xfrm flipH="1">
              <a:off x="9027714" y="3300976"/>
              <a:ext cx="233507" cy="239331"/>
              <a:chOff x="5849585" y="3863588"/>
              <a:chExt cx="1260000" cy="1260000"/>
            </a:xfrm>
          </p:grpSpPr>
          <p:sp>
            <p:nvSpPr>
              <p:cNvPr id="1116" name="사각형: 둥근 모서리 1115">
                <a:extLst>
                  <a:ext uri="{FF2B5EF4-FFF2-40B4-BE49-F238E27FC236}">
                    <a16:creationId xmlns:a16="http://schemas.microsoft.com/office/drawing/2014/main" id="{8F6A099A-F452-E23D-9E8B-0357A8F2E1EB}"/>
                  </a:ext>
                </a:extLst>
              </p:cNvPr>
              <p:cNvSpPr/>
              <p:nvPr/>
            </p:nvSpPr>
            <p:spPr>
              <a:xfrm>
                <a:off x="5849585" y="3863588"/>
                <a:ext cx="1260000" cy="1260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117" name="직사각형 1116">
                <a:extLst>
                  <a:ext uri="{FF2B5EF4-FFF2-40B4-BE49-F238E27FC236}">
                    <a16:creationId xmlns:a16="http://schemas.microsoft.com/office/drawing/2014/main" id="{A9D157E3-70D6-8A93-1753-9C22B5B50A57}"/>
                  </a:ext>
                </a:extLst>
              </p:cNvPr>
              <p:cNvSpPr/>
              <p:nvPr/>
            </p:nvSpPr>
            <p:spPr>
              <a:xfrm>
                <a:off x="5849585" y="4286588"/>
                <a:ext cx="1260000" cy="4140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118" name="타원 1117">
                <a:extLst>
                  <a:ext uri="{FF2B5EF4-FFF2-40B4-BE49-F238E27FC236}">
                    <a16:creationId xmlns:a16="http://schemas.microsoft.com/office/drawing/2014/main" id="{2B50BDA8-CAE0-AB15-4D22-F7E53D014116}"/>
                  </a:ext>
                </a:extLst>
              </p:cNvPr>
              <p:cNvSpPr/>
              <p:nvPr/>
            </p:nvSpPr>
            <p:spPr>
              <a:xfrm>
                <a:off x="6119585" y="4125950"/>
                <a:ext cx="720000" cy="720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</p:grpSp>
        <p:sp>
          <p:nvSpPr>
            <p:cNvPr id="1083" name="직사각형 1082">
              <a:extLst>
                <a:ext uri="{FF2B5EF4-FFF2-40B4-BE49-F238E27FC236}">
                  <a16:creationId xmlns:a16="http://schemas.microsoft.com/office/drawing/2014/main" id="{61ECEF5C-8374-0345-872E-596EDC073AFA}"/>
                </a:ext>
              </a:extLst>
            </p:cNvPr>
            <p:cNvSpPr/>
            <p:nvPr/>
          </p:nvSpPr>
          <p:spPr>
            <a:xfrm flipH="1">
              <a:off x="9030803" y="2722645"/>
              <a:ext cx="233507" cy="5684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084" name="직사각형 1083">
              <a:extLst>
                <a:ext uri="{FF2B5EF4-FFF2-40B4-BE49-F238E27FC236}">
                  <a16:creationId xmlns:a16="http://schemas.microsoft.com/office/drawing/2014/main" id="{20014860-BE63-7351-7F19-28F55B3CFD2E}"/>
                </a:ext>
              </a:extLst>
            </p:cNvPr>
            <p:cNvSpPr/>
            <p:nvPr/>
          </p:nvSpPr>
          <p:spPr>
            <a:xfrm flipH="1">
              <a:off x="8819439" y="3106825"/>
              <a:ext cx="443244" cy="189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085" name="직사각형 1084">
              <a:extLst>
                <a:ext uri="{FF2B5EF4-FFF2-40B4-BE49-F238E27FC236}">
                  <a16:creationId xmlns:a16="http://schemas.microsoft.com/office/drawing/2014/main" id="{DF3FBCC5-EFC6-725A-D098-1CE205518D9A}"/>
                </a:ext>
              </a:extLst>
            </p:cNvPr>
            <p:cNvSpPr/>
            <p:nvPr/>
          </p:nvSpPr>
          <p:spPr>
            <a:xfrm flipH="1">
              <a:off x="9027715" y="4048929"/>
              <a:ext cx="233507" cy="5684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086" name="직사각형 1085">
              <a:extLst>
                <a:ext uri="{FF2B5EF4-FFF2-40B4-BE49-F238E27FC236}">
                  <a16:creationId xmlns:a16="http://schemas.microsoft.com/office/drawing/2014/main" id="{4CD32A1A-912F-EF2A-DAAF-FE915FE7CE0C}"/>
                </a:ext>
              </a:extLst>
            </p:cNvPr>
            <p:cNvSpPr/>
            <p:nvPr/>
          </p:nvSpPr>
          <p:spPr>
            <a:xfrm flipH="1">
              <a:off x="8816351" y="4046746"/>
              <a:ext cx="443244" cy="189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087" name="직사각형 1086">
              <a:extLst>
                <a:ext uri="{FF2B5EF4-FFF2-40B4-BE49-F238E27FC236}">
                  <a16:creationId xmlns:a16="http://schemas.microsoft.com/office/drawing/2014/main" id="{92DC2CC5-9EBA-0CBC-4CB8-A2DC247CEB85}"/>
                </a:ext>
              </a:extLst>
            </p:cNvPr>
            <p:cNvSpPr/>
            <p:nvPr/>
          </p:nvSpPr>
          <p:spPr>
            <a:xfrm>
              <a:off x="9027714" y="4665837"/>
              <a:ext cx="263638" cy="133624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cxnSp>
          <p:nvCxnSpPr>
            <p:cNvPr id="1088" name="직선 연결선 1087">
              <a:extLst>
                <a:ext uri="{FF2B5EF4-FFF2-40B4-BE49-F238E27FC236}">
                  <a16:creationId xmlns:a16="http://schemas.microsoft.com/office/drawing/2014/main" id="{61C40052-65EC-29C8-2D2C-5135FEFC86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7714" y="4754729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직선 연결선 1088">
              <a:extLst>
                <a:ext uri="{FF2B5EF4-FFF2-40B4-BE49-F238E27FC236}">
                  <a16:creationId xmlns:a16="http://schemas.microsoft.com/office/drawing/2014/main" id="{12762AF1-03A7-266C-BBF8-EA98D90ED2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7714" y="4935139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직선 연결선 1089">
              <a:extLst>
                <a:ext uri="{FF2B5EF4-FFF2-40B4-BE49-F238E27FC236}">
                  <a16:creationId xmlns:a16="http://schemas.microsoft.com/office/drawing/2014/main" id="{E0A1777F-59EF-A96E-E661-8281BEDCD8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7714" y="5115550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직선 연결선 1090">
              <a:extLst>
                <a:ext uri="{FF2B5EF4-FFF2-40B4-BE49-F238E27FC236}">
                  <a16:creationId xmlns:a16="http://schemas.microsoft.com/office/drawing/2014/main" id="{7FDDBC6E-A95A-0C10-957F-93B0476FA7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7714" y="5295959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직선 연결선 1091">
              <a:extLst>
                <a:ext uri="{FF2B5EF4-FFF2-40B4-BE49-F238E27FC236}">
                  <a16:creationId xmlns:a16="http://schemas.microsoft.com/office/drawing/2014/main" id="{89715C06-B269-E0DC-9592-969F521E0F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7714" y="5476369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직선 연결선 1092">
              <a:extLst>
                <a:ext uri="{FF2B5EF4-FFF2-40B4-BE49-F238E27FC236}">
                  <a16:creationId xmlns:a16="http://schemas.microsoft.com/office/drawing/2014/main" id="{A07068FE-39E7-2157-E82B-F9BCCE591A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7714" y="5656780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직선 연결선 1093">
              <a:extLst>
                <a:ext uri="{FF2B5EF4-FFF2-40B4-BE49-F238E27FC236}">
                  <a16:creationId xmlns:a16="http://schemas.microsoft.com/office/drawing/2014/main" id="{89454CF3-3C70-24DC-45B3-39C46E591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7714" y="5837190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5" name="직사각형 1094">
              <a:extLst>
                <a:ext uri="{FF2B5EF4-FFF2-40B4-BE49-F238E27FC236}">
                  <a16:creationId xmlns:a16="http://schemas.microsoft.com/office/drawing/2014/main" id="{630DBE37-A98A-F88D-854D-76AF7567C427}"/>
                </a:ext>
              </a:extLst>
            </p:cNvPr>
            <p:cNvSpPr/>
            <p:nvPr/>
          </p:nvSpPr>
          <p:spPr>
            <a:xfrm>
              <a:off x="7409713" y="4533770"/>
              <a:ext cx="265725" cy="16056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1098" name="직사각형 1097">
              <a:extLst>
                <a:ext uri="{FF2B5EF4-FFF2-40B4-BE49-F238E27FC236}">
                  <a16:creationId xmlns:a16="http://schemas.microsoft.com/office/drawing/2014/main" id="{49478627-ED62-6D24-3046-F29486559D68}"/>
                </a:ext>
              </a:extLst>
            </p:cNvPr>
            <p:cNvSpPr/>
            <p:nvPr/>
          </p:nvSpPr>
          <p:spPr>
            <a:xfrm>
              <a:off x="7976284" y="2842815"/>
              <a:ext cx="741626" cy="23105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099" name="직사각형 1098">
              <a:extLst>
                <a:ext uri="{FF2B5EF4-FFF2-40B4-BE49-F238E27FC236}">
                  <a16:creationId xmlns:a16="http://schemas.microsoft.com/office/drawing/2014/main" id="{B1E47759-661E-1B1F-2361-9FB7B1B3B27A}"/>
                </a:ext>
              </a:extLst>
            </p:cNvPr>
            <p:cNvSpPr/>
            <p:nvPr/>
          </p:nvSpPr>
          <p:spPr>
            <a:xfrm>
              <a:off x="7976284" y="4286249"/>
              <a:ext cx="741626" cy="23105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cxnSp>
          <p:nvCxnSpPr>
            <p:cNvPr id="1100" name="직선 화살표 연결선 1099">
              <a:extLst>
                <a:ext uri="{FF2B5EF4-FFF2-40B4-BE49-F238E27FC236}">
                  <a16:creationId xmlns:a16="http://schemas.microsoft.com/office/drawing/2014/main" id="{8B1E6381-58C7-9650-EA4E-D44F8B2F4B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5946" y="2957135"/>
              <a:ext cx="225011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직선 화살표 연결선 1100">
              <a:extLst>
                <a:ext uri="{FF2B5EF4-FFF2-40B4-BE49-F238E27FC236}">
                  <a16:creationId xmlns:a16="http://schemas.microsoft.com/office/drawing/2014/main" id="{F3D2E2EA-907E-5965-0C0D-07F90482E366}"/>
                </a:ext>
              </a:extLst>
            </p:cNvPr>
            <p:cNvCxnSpPr>
              <a:cxnSpLocks/>
            </p:cNvCxnSpPr>
            <p:nvPr/>
          </p:nvCxnSpPr>
          <p:spPr>
            <a:xfrm>
              <a:off x="8725946" y="4401777"/>
              <a:ext cx="22501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2" name="직선 화살표 연결선 1101">
              <a:extLst>
                <a:ext uri="{FF2B5EF4-FFF2-40B4-BE49-F238E27FC236}">
                  <a16:creationId xmlns:a16="http://schemas.microsoft.com/office/drawing/2014/main" id="{912A0C0A-CE5B-D3BC-DE47-ABD717AD3D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3236" y="2962718"/>
              <a:ext cx="225011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직선 화살표 연결선 1102">
              <a:extLst>
                <a:ext uri="{FF2B5EF4-FFF2-40B4-BE49-F238E27FC236}">
                  <a16:creationId xmlns:a16="http://schemas.microsoft.com/office/drawing/2014/main" id="{FEEBB6EB-5861-9911-AFEA-718F090A1B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3236" y="4401776"/>
              <a:ext cx="225011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5" name="직사각형 1104">
              <a:extLst>
                <a:ext uri="{FF2B5EF4-FFF2-40B4-BE49-F238E27FC236}">
                  <a16:creationId xmlns:a16="http://schemas.microsoft.com/office/drawing/2014/main" id="{F347E6B6-668B-CCE1-6D80-EF6EFDF09945}"/>
                </a:ext>
              </a:extLst>
            </p:cNvPr>
            <p:cNvSpPr/>
            <p:nvPr/>
          </p:nvSpPr>
          <p:spPr>
            <a:xfrm>
              <a:off x="7305075" y="2653116"/>
              <a:ext cx="2132081" cy="201929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cxnSp>
          <p:nvCxnSpPr>
            <p:cNvPr id="1106" name="직선 연결선 1105">
              <a:extLst>
                <a:ext uri="{FF2B5EF4-FFF2-40B4-BE49-F238E27FC236}">
                  <a16:creationId xmlns:a16="http://schemas.microsoft.com/office/drawing/2014/main" id="{C8557D9C-64BC-5234-35ED-206AAEBE68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5606" y="4754728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7" name="직선 연결선 1106">
              <a:extLst>
                <a:ext uri="{FF2B5EF4-FFF2-40B4-BE49-F238E27FC236}">
                  <a16:creationId xmlns:a16="http://schemas.microsoft.com/office/drawing/2014/main" id="{560DD407-B58E-E091-27A7-F71D7EA2FC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5606" y="4935139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8" name="직선 연결선 1107">
              <a:extLst>
                <a:ext uri="{FF2B5EF4-FFF2-40B4-BE49-F238E27FC236}">
                  <a16:creationId xmlns:a16="http://schemas.microsoft.com/office/drawing/2014/main" id="{384528DE-BD4F-E9D4-65F9-340D898563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5606" y="5115548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9" name="직선 연결선 1108">
              <a:extLst>
                <a:ext uri="{FF2B5EF4-FFF2-40B4-BE49-F238E27FC236}">
                  <a16:creationId xmlns:a16="http://schemas.microsoft.com/office/drawing/2014/main" id="{BEC42E87-8ED9-225B-0177-7C743CF9CA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5606" y="5295959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직선 연결선 1109">
              <a:extLst>
                <a:ext uri="{FF2B5EF4-FFF2-40B4-BE49-F238E27FC236}">
                  <a16:creationId xmlns:a16="http://schemas.microsoft.com/office/drawing/2014/main" id="{7D16BBAC-A8F0-1ABA-99E7-F2FE885782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5606" y="5476369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직선 연결선 1110">
              <a:extLst>
                <a:ext uri="{FF2B5EF4-FFF2-40B4-BE49-F238E27FC236}">
                  <a16:creationId xmlns:a16="http://schemas.microsoft.com/office/drawing/2014/main" id="{1E5FC364-6BE3-BABE-A8AD-E11BEBE25A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5606" y="5656780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2" name="직선 연결선 1111">
              <a:extLst>
                <a:ext uri="{FF2B5EF4-FFF2-40B4-BE49-F238E27FC236}">
                  <a16:creationId xmlns:a16="http://schemas.microsoft.com/office/drawing/2014/main" id="{3732BF97-598F-B141-CDAA-498553D898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5606" y="5837190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3" name="직선 연결선 1112">
              <a:extLst>
                <a:ext uri="{FF2B5EF4-FFF2-40B4-BE49-F238E27FC236}">
                  <a16:creationId xmlns:a16="http://schemas.microsoft.com/office/drawing/2014/main" id="{1762CB80-D6D5-F96D-1E89-43EBC332FC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5606" y="6017600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직선 연결선 1113">
              <a:extLst>
                <a:ext uri="{FF2B5EF4-FFF2-40B4-BE49-F238E27FC236}">
                  <a16:creationId xmlns:a16="http://schemas.microsoft.com/office/drawing/2014/main" id="{8669183E-A51C-DCEE-0423-38638BFB63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4646" y="4582490"/>
              <a:ext cx="263638" cy="506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6" name="TextBox 1135">
            <a:extLst>
              <a:ext uri="{FF2B5EF4-FFF2-40B4-BE49-F238E27FC236}">
                <a16:creationId xmlns:a16="http://schemas.microsoft.com/office/drawing/2014/main" id="{6B6B1030-AAB9-8A99-0A48-288C4DFC0C1A}"/>
              </a:ext>
            </a:extLst>
          </p:cNvPr>
          <p:cNvSpPr txBox="1"/>
          <p:nvPr/>
        </p:nvSpPr>
        <p:spPr>
          <a:xfrm>
            <a:off x="2617196" y="5087128"/>
            <a:ext cx="182853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+mn-ea"/>
              </a:rPr>
              <a:t>2WD Mode</a:t>
            </a: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- </a:t>
            </a:r>
            <a:r>
              <a:rPr lang="ko-KR" altLang="en-US" sz="1500" b="1" dirty="0" err="1">
                <a:latin typeface="+mn-ea"/>
              </a:rPr>
              <a:t>후륜만</a:t>
            </a:r>
            <a:r>
              <a:rPr lang="ko-KR" altLang="en-US" sz="1500" b="1" dirty="0">
                <a:latin typeface="+mn-ea"/>
              </a:rPr>
              <a:t> 구동</a:t>
            </a:r>
            <a:endParaRPr lang="en-US" altLang="ko-KR" sz="1500" b="1" dirty="0">
              <a:latin typeface="+mn-ea"/>
            </a:endParaRP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- </a:t>
            </a:r>
            <a:r>
              <a:rPr lang="ko-KR" altLang="en-US" sz="1500" b="1" dirty="0">
                <a:latin typeface="+mn-ea"/>
              </a:rPr>
              <a:t>전륜 연결 해제</a:t>
            </a:r>
            <a:endParaRPr lang="en-US" altLang="ko-KR" sz="1500" b="1" dirty="0">
              <a:latin typeface="+mn-ea"/>
            </a:endParaRP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3FF67FA6-BEC5-DA1D-13E7-D052B09F7EA0}"/>
              </a:ext>
            </a:extLst>
          </p:cNvPr>
          <p:cNvSpPr txBox="1"/>
          <p:nvPr/>
        </p:nvSpPr>
        <p:spPr>
          <a:xfrm>
            <a:off x="4485281" y="5087128"/>
            <a:ext cx="229181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+mn-ea"/>
              </a:rPr>
              <a:t>Generator Mode </a:t>
            </a: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- </a:t>
            </a:r>
            <a:r>
              <a:rPr lang="ko-KR" altLang="en-US" sz="1500" b="1" dirty="0">
                <a:latin typeface="+mn-ea"/>
              </a:rPr>
              <a:t>엔진으로 발전</a:t>
            </a:r>
            <a:endParaRPr lang="en-US" altLang="ko-KR" sz="1500" b="1" dirty="0">
              <a:latin typeface="+mn-ea"/>
            </a:endParaRPr>
          </a:p>
          <a:p>
            <a:endParaRPr lang="en-US" altLang="ko-KR" sz="1500" b="1" dirty="0">
              <a:latin typeface="+mn-ea"/>
            </a:endParaRPr>
          </a:p>
          <a:p>
            <a:r>
              <a:rPr lang="en-US" altLang="ko-KR" sz="1500" b="1" dirty="0">
                <a:latin typeface="+mn-ea"/>
              </a:rPr>
              <a:t> - SOC &lt; 30% </a:t>
            </a:r>
            <a:r>
              <a:rPr lang="ko-KR" altLang="en-US" sz="1500" b="1" dirty="0">
                <a:latin typeface="+mn-ea"/>
              </a:rPr>
              <a:t>시</a:t>
            </a:r>
            <a:endParaRPr lang="en-US" altLang="ko-KR" sz="1500" b="1" dirty="0">
              <a:latin typeface="+mn-ea"/>
            </a:endParaRP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6345177F-86DC-FDF6-2F07-1F73854BE4A1}"/>
              </a:ext>
            </a:extLst>
          </p:cNvPr>
          <p:cNvSpPr txBox="1"/>
          <p:nvPr/>
        </p:nvSpPr>
        <p:spPr>
          <a:xfrm>
            <a:off x="9655906" y="5068324"/>
            <a:ext cx="178108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+mn-ea"/>
              </a:rPr>
              <a:t>2</a:t>
            </a:r>
            <a:r>
              <a:rPr lang="ko-KR" altLang="en-US" b="1" dirty="0">
                <a:latin typeface="+mn-ea"/>
              </a:rPr>
              <a:t>단 기어</a:t>
            </a:r>
            <a:r>
              <a:rPr lang="en-US" altLang="ko-KR" b="1" dirty="0">
                <a:latin typeface="+mn-ea"/>
              </a:rPr>
              <a:t> </a:t>
            </a:r>
          </a:p>
          <a:p>
            <a:pPr algn="just"/>
            <a:endParaRPr lang="en-US" altLang="ko-KR" sz="1500" b="1" dirty="0">
              <a:latin typeface="+mn-ea"/>
            </a:endParaRPr>
          </a:p>
          <a:p>
            <a:pPr algn="just"/>
            <a:r>
              <a:rPr lang="en-US" altLang="ko-KR" sz="1500" b="1" dirty="0">
                <a:latin typeface="+mn-ea"/>
              </a:rPr>
              <a:t>  - </a:t>
            </a:r>
            <a:r>
              <a:rPr lang="ko-KR" altLang="en-US" sz="1500" b="1" dirty="0" err="1">
                <a:latin typeface="+mn-ea"/>
              </a:rPr>
              <a:t>기어비</a:t>
            </a:r>
            <a:r>
              <a:rPr lang="ko-KR" altLang="en-US" sz="1500" b="1" dirty="0">
                <a:latin typeface="+mn-ea"/>
              </a:rPr>
              <a:t> </a:t>
            </a:r>
            <a:r>
              <a:rPr lang="en-US" altLang="ko-KR" sz="1500" b="1" dirty="0">
                <a:latin typeface="+mn-ea"/>
              </a:rPr>
              <a:t>: 7:1</a:t>
            </a:r>
          </a:p>
          <a:p>
            <a:pPr algn="just"/>
            <a:endParaRPr lang="en-US" altLang="ko-KR" sz="1500" b="1" dirty="0">
              <a:latin typeface="+mn-ea"/>
            </a:endParaRPr>
          </a:p>
          <a:p>
            <a:pPr algn="just"/>
            <a:r>
              <a:rPr lang="en-US" altLang="ko-KR" sz="1500" b="1" dirty="0">
                <a:latin typeface="+mn-ea"/>
              </a:rPr>
              <a:t>  - </a:t>
            </a:r>
            <a:r>
              <a:rPr lang="ko-KR" altLang="en-US" sz="1500" b="1" dirty="0">
                <a:latin typeface="+mn-ea"/>
              </a:rPr>
              <a:t>고속</a:t>
            </a:r>
            <a:r>
              <a:rPr lang="en-US" altLang="ko-KR" sz="1500" b="1" dirty="0">
                <a:latin typeface="+mn-ea"/>
              </a:rPr>
              <a:t>/</a:t>
            </a:r>
            <a:r>
              <a:rPr lang="ko-KR" altLang="en-US" sz="1500" b="1" dirty="0">
                <a:latin typeface="+mn-ea"/>
              </a:rPr>
              <a:t>순항 구간</a:t>
            </a:r>
            <a:endParaRPr lang="en-US" altLang="ko-KR" sz="1500" b="1" dirty="0">
              <a:latin typeface="+mn-ea"/>
            </a:endParaRPr>
          </a:p>
        </p:txBody>
      </p:sp>
      <p:sp>
        <p:nvSpPr>
          <p:cNvPr id="1139" name="TextBox 1138">
            <a:extLst>
              <a:ext uri="{FF2B5EF4-FFF2-40B4-BE49-F238E27FC236}">
                <a16:creationId xmlns:a16="http://schemas.microsoft.com/office/drawing/2014/main" id="{7972DFD3-627B-DD08-6FF5-D0F419F53D68}"/>
              </a:ext>
            </a:extLst>
          </p:cNvPr>
          <p:cNvSpPr txBox="1"/>
          <p:nvPr/>
        </p:nvSpPr>
        <p:spPr>
          <a:xfrm>
            <a:off x="10428116" y="2526844"/>
            <a:ext cx="12623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200" b="1" dirty="0">
                <a:latin typeface="+mn-ea"/>
              </a:rPr>
              <a:t>* </a:t>
            </a:r>
            <a:r>
              <a:rPr lang="ko-KR" altLang="en-US" sz="1200" b="1" dirty="0">
                <a:latin typeface="+mn-ea"/>
              </a:rPr>
              <a:t>변속 조건</a:t>
            </a:r>
            <a:r>
              <a:rPr lang="en-US" altLang="ko-KR" sz="1200" b="1" dirty="0">
                <a:latin typeface="+mn-ea"/>
              </a:rPr>
              <a:t> </a:t>
            </a:r>
          </a:p>
          <a:p>
            <a:pPr algn="just"/>
            <a:endParaRPr lang="en-US" altLang="ko-KR" sz="1200" b="1" dirty="0">
              <a:latin typeface="+mn-ea"/>
            </a:endParaRPr>
          </a:p>
          <a:p>
            <a:pPr algn="just"/>
            <a:r>
              <a:rPr lang="en-US" altLang="ko-KR" sz="1200" b="1" dirty="0">
                <a:latin typeface="+mn-ea"/>
              </a:rPr>
              <a:t> - 35km/h </a:t>
            </a:r>
          </a:p>
          <a:p>
            <a:pPr algn="just"/>
            <a:r>
              <a:rPr lang="en-US" altLang="ko-KR" sz="1200" b="1" dirty="0">
                <a:latin typeface="+mn-ea"/>
              </a:rPr>
              <a:t>   (Upshift)</a:t>
            </a:r>
          </a:p>
          <a:p>
            <a:pPr algn="just"/>
            <a:endParaRPr lang="en-US" altLang="ko-KR" sz="1200" b="1" dirty="0">
              <a:latin typeface="+mn-ea"/>
            </a:endParaRPr>
          </a:p>
          <a:p>
            <a:pPr algn="just"/>
            <a:r>
              <a:rPr lang="en-US" altLang="ko-KR" sz="1200" b="1" dirty="0">
                <a:latin typeface="+mn-ea"/>
              </a:rPr>
              <a:t> - 30km/h </a:t>
            </a:r>
          </a:p>
          <a:p>
            <a:pPr algn="just"/>
            <a:r>
              <a:rPr lang="en-US" altLang="ko-KR" sz="1200" b="1" dirty="0">
                <a:latin typeface="+mn-ea"/>
              </a:rPr>
              <a:t>   (Downshift)</a:t>
            </a:r>
          </a:p>
        </p:txBody>
      </p:sp>
    </p:spTree>
    <p:extLst>
      <p:ext uri="{BB962C8B-B14F-4D97-AF65-F5344CB8AC3E}">
        <p14:creationId xmlns:p14="http://schemas.microsoft.com/office/powerpoint/2010/main" val="1256944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kern="1200" baseline="0" dirty="0">
                <a:latin typeface="+mn-lt"/>
                <a:ea typeface="+mn-ea"/>
                <a:cs typeface="+mn-cs"/>
              </a:rPr>
              <a:t>2. EREV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 시스템 </a:t>
            </a:r>
            <a:r>
              <a:rPr lang="ko-KR" altLang="en-US" kern="1200" baseline="0" dirty="0" err="1">
                <a:latin typeface="+mn-lt"/>
                <a:ea typeface="+mn-ea"/>
                <a:cs typeface="+mn-cs"/>
              </a:rPr>
              <a:t>아키텍쳐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 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–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컴포넌트 구성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3" y="1143345"/>
            <a:ext cx="11130906" cy="5459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FCF45E-6767-D7AF-BD17-1EE36C8492CC}"/>
              </a:ext>
            </a:extLst>
          </p:cNvPr>
          <p:cNvSpPr/>
          <p:nvPr/>
        </p:nvSpPr>
        <p:spPr>
          <a:xfrm>
            <a:off x="4927207" y="922276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컴포넌트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1F08A8-CE0E-F2ED-C046-E7DD1EC8318C}"/>
              </a:ext>
            </a:extLst>
          </p:cNvPr>
          <p:cNvSpPr/>
          <p:nvPr/>
        </p:nvSpPr>
        <p:spPr>
          <a:xfrm>
            <a:off x="7549236" y="3398321"/>
            <a:ext cx="1620000" cy="20544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배터리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(Battery)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FC66E24-4CA2-D482-3BDB-C5A3876B6661}"/>
              </a:ext>
            </a:extLst>
          </p:cNvPr>
          <p:cNvSpPr/>
          <p:nvPr/>
        </p:nvSpPr>
        <p:spPr>
          <a:xfrm>
            <a:off x="2976647" y="2983921"/>
            <a:ext cx="1625767" cy="24688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VCU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B61AD4-AA23-1CBC-5698-50A75A980709}"/>
              </a:ext>
            </a:extLst>
          </p:cNvPr>
          <p:cNvSpPr/>
          <p:nvPr/>
        </p:nvSpPr>
        <p:spPr>
          <a:xfrm>
            <a:off x="696308" y="2983921"/>
            <a:ext cx="1625767" cy="2468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운전자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(Driver)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118791-6BA8-DDE1-7153-7AD96122F3BB}"/>
              </a:ext>
            </a:extLst>
          </p:cNvPr>
          <p:cNvSpPr/>
          <p:nvPr/>
        </p:nvSpPr>
        <p:spPr>
          <a:xfrm>
            <a:off x="9820736" y="2983921"/>
            <a:ext cx="1625767" cy="24688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FFFF"/>
                </a:solidFill>
              </a:rPr>
              <a:t>차량 동역학</a:t>
            </a:r>
            <a:br>
              <a:rPr lang="en-US" altLang="ko-KR" dirty="0">
                <a:solidFill>
                  <a:srgbClr val="FFFFFF"/>
                </a:solidFill>
              </a:rPr>
            </a:br>
            <a:r>
              <a:rPr lang="en-US" altLang="ko-KR" dirty="0">
                <a:solidFill>
                  <a:srgbClr val="FFFFFF"/>
                </a:solidFill>
              </a:rPr>
              <a:t>(Vehicle Dynamics)</a:t>
            </a:r>
            <a:endParaRPr lang="ko-KR" altLang="en-US" dirty="0">
              <a:solidFill>
                <a:srgbClr val="FFFFFF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9421D8B9-C6B3-5A5E-61B2-BF9902E19E1F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>
            <a:off x="2322075" y="4218361"/>
            <a:ext cx="654572" cy="0"/>
          </a:xfrm>
          <a:prstGeom prst="straightConnector1">
            <a:avLst/>
          </a:prstGeom>
          <a:ln w="28575">
            <a:solidFill>
              <a:srgbClr val="003C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BEA6E2E8-5D2D-28D3-6D53-7B4F5C8D32B6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6069869" y="3124801"/>
            <a:ext cx="5956" cy="4543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9744DFE8-10D1-BD3B-98C8-ECCBE7721656}"/>
              </a:ext>
            </a:extLst>
          </p:cNvPr>
          <p:cNvSpPr/>
          <p:nvPr/>
        </p:nvSpPr>
        <p:spPr>
          <a:xfrm>
            <a:off x="5265825" y="4552801"/>
            <a:ext cx="1620000" cy="90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FFFF"/>
                </a:solidFill>
              </a:rPr>
              <a:t>후륜 모터</a:t>
            </a:r>
            <a:endParaRPr lang="en-US" altLang="ko-KR" dirty="0">
              <a:solidFill>
                <a:srgbClr val="FFFFFF"/>
              </a:solidFill>
            </a:endParaRPr>
          </a:p>
          <a:p>
            <a:pPr algn="ctr"/>
            <a:r>
              <a:rPr lang="en-US" altLang="ko-KR" dirty="0">
                <a:solidFill>
                  <a:srgbClr val="FFFFFF"/>
                </a:solidFill>
              </a:rPr>
              <a:t>(Rear Motor)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425E889-63F1-9725-3EB4-A15B05084B64}"/>
              </a:ext>
            </a:extLst>
          </p:cNvPr>
          <p:cNvSpPr/>
          <p:nvPr/>
        </p:nvSpPr>
        <p:spPr>
          <a:xfrm>
            <a:off x="5265825" y="3579191"/>
            <a:ext cx="1620000" cy="90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FFFF"/>
                </a:solidFill>
              </a:rPr>
              <a:t>전륜 모터</a:t>
            </a:r>
            <a:br>
              <a:rPr lang="en-US" altLang="ko-KR" dirty="0">
                <a:solidFill>
                  <a:srgbClr val="FFFFFF"/>
                </a:solidFill>
              </a:rPr>
            </a:br>
            <a:r>
              <a:rPr lang="en-US" altLang="ko-KR" dirty="0">
                <a:solidFill>
                  <a:srgbClr val="FFFFFF"/>
                </a:solidFill>
              </a:rPr>
              <a:t>(Front Motor)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524EF0D-7DFC-B3AE-B120-5C9AFE5D1FE2}"/>
              </a:ext>
            </a:extLst>
          </p:cNvPr>
          <p:cNvSpPr/>
          <p:nvPr/>
        </p:nvSpPr>
        <p:spPr>
          <a:xfrm>
            <a:off x="5253913" y="2224801"/>
            <a:ext cx="1631911" cy="90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FFFF"/>
                </a:solidFill>
              </a:rPr>
              <a:t>엔진</a:t>
            </a:r>
            <a:endParaRPr lang="en-US" altLang="ko-KR" dirty="0">
              <a:solidFill>
                <a:srgbClr val="FFFFFF"/>
              </a:solidFill>
            </a:endParaRPr>
          </a:p>
          <a:p>
            <a:pPr algn="ctr"/>
            <a:r>
              <a:rPr lang="en-US" altLang="ko-KR" dirty="0">
                <a:solidFill>
                  <a:srgbClr val="FFFFFF"/>
                </a:solidFill>
              </a:rPr>
              <a:t>(Engine)</a:t>
            </a:r>
            <a:endParaRPr lang="ko-KR" altLang="en-US" dirty="0">
              <a:solidFill>
                <a:srgbClr val="FFFFFF"/>
              </a:solidFill>
            </a:endParaRPr>
          </a:p>
        </p:txBody>
      </p: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A4BF6399-A99F-2096-0DD8-8A1619811FC0}"/>
              </a:ext>
            </a:extLst>
          </p:cNvPr>
          <p:cNvCxnSpPr>
            <a:cxnSpLocks/>
            <a:stCxn id="12" idx="0"/>
            <a:endCxn id="11" idx="0"/>
          </p:cNvCxnSpPr>
          <p:nvPr/>
        </p:nvCxnSpPr>
        <p:spPr>
          <a:xfrm rot="16200000" flipV="1">
            <a:off x="6071406" y="-1578293"/>
            <a:ext cx="12700" cy="9124428"/>
          </a:xfrm>
          <a:prstGeom prst="bentConnector3">
            <a:avLst>
              <a:gd name="adj1" fmla="val 7560000"/>
            </a:avLst>
          </a:prstGeom>
          <a:ln w="28575">
            <a:solidFill>
              <a:srgbClr val="003C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연결선: 꺾임 103">
            <a:extLst>
              <a:ext uri="{FF2B5EF4-FFF2-40B4-BE49-F238E27FC236}">
                <a16:creationId xmlns:a16="http://schemas.microsoft.com/office/drawing/2014/main" id="{8C9BEC9E-8AF0-20FD-DE66-4910971365AE}"/>
              </a:ext>
            </a:extLst>
          </p:cNvPr>
          <p:cNvCxnSpPr>
            <a:endCxn id="8" idx="1"/>
          </p:cNvCxnSpPr>
          <p:nvPr/>
        </p:nvCxnSpPr>
        <p:spPr>
          <a:xfrm flipV="1">
            <a:off x="4602414" y="4029191"/>
            <a:ext cx="663411" cy="189170"/>
          </a:xfrm>
          <a:prstGeom prst="bentConnector3">
            <a:avLst/>
          </a:prstGeom>
          <a:ln w="28575">
            <a:solidFill>
              <a:srgbClr val="003C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B135B67F-A84B-C409-C600-2B103D7A74A7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602416" y="4757755"/>
            <a:ext cx="663409" cy="245046"/>
          </a:xfrm>
          <a:prstGeom prst="bentConnector3">
            <a:avLst>
              <a:gd name="adj1" fmla="val 50000"/>
            </a:avLst>
          </a:prstGeom>
          <a:ln w="28575">
            <a:solidFill>
              <a:srgbClr val="003C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연결선: 꺾임 108">
            <a:extLst>
              <a:ext uri="{FF2B5EF4-FFF2-40B4-BE49-F238E27FC236}">
                <a16:creationId xmlns:a16="http://schemas.microsoft.com/office/drawing/2014/main" id="{FDA2C297-1338-D23E-7E31-23A540C063E5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4608369" y="2674801"/>
            <a:ext cx="645544" cy="577927"/>
          </a:xfrm>
          <a:prstGeom prst="bentConnector3">
            <a:avLst>
              <a:gd name="adj1" fmla="val 50000"/>
            </a:avLst>
          </a:prstGeom>
          <a:ln w="28575">
            <a:solidFill>
              <a:srgbClr val="003C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연결선: 꺾임 130">
            <a:extLst>
              <a:ext uri="{FF2B5EF4-FFF2-40B4-BE49-F238E27FC236}">
                <a16:creationId xmlns:a16="http://schemas.microsoft.com/office/drawing/2014/main" id="{60091742-BCBE-5FFD-DA52-3DEEF8189C43}"/>
              </a:ext>
            </a:extLst>
          </p:cNvPr>
          <p:cNvCxnSpPr>
            <a:cxnSpLocks/>
          </p:cNvCxnSpPr>
          <p:nvPr/>
        </p:nvCxnSpPr>
        <p:spPr>
          <a:xfrm flipV="1">
            <a:off x="6888708" y="3124801"/>
            <a:ext cx="2932028" cy="631900"/>
          </a:xfrm>
          <a:prstGeom prst="bentConnector3">
            <a:avLst>
              <a:gd name="adj1" fmla="val 17774"/>
            </a:avLst>
          </a:prstGeom>
          <a:ln w="28575">
            <a:solidFill>
              <a:srgbClr val="003C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DC8C329E-A790-3F47-27E6-13D1193B9DBC}"/>
              </a:ext>
            </a:extLst>
          </p:cNvPr>
          <p:cNvCxnSpPr>
            <a:cxnSpLocks/>
            <a:stCxn id="7" idx="2"/>
            <a:endCxn id="12" idx="2"/>
          </p:cNvCxnSpPr>
          <p:nvPr/>
        </p:nvCxnSpPr>
        <p:spPr>
          <a:xfrm rot="16200000" flipH="1">
            <a:off x="8354722" y="3173903"/>
            <a:ext cx="12700" cy="4557795"/>
          </a:xfrm>
          <a:prstGeom prst="bentConnector3">
            <a:avLst>
              <a:gd name="adj1" fmla="val 1800000"/>
            </a:avLst>
          </a:prstGeom>
          <a:ln w="28575">
            <a:solidFill>
              <a:srgbClr val="003C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9FF3C275-DC47-22B5-7F8E-509320865F8E}"/>
              </a:ext>
            </a:extLst>
          </p:cNvPr>
          <p:cNvCxnSpPr/>
          <p:nvPr/>
        </p:nvCxnSpPr>
        <p:spPr>
          <a:xfrm>
            <a:off x="6885824" y="4029191"/>
            <a:ext cx="663412" cy="0"/>
          </a:xfrm>
          <a:prstGeom prst="straightConnector1">
            <a:avLst/>
          </a:prstGeom>
          <a:ln w="28575">
            <a:solidFill>
              <a:srgbClr val="003C89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EFEDC999-FA7B-4169-C5BE-28A4F678695B}"/>
              </a:ext>
            </a:extLst>
          </p:cNvPr>
          <p:cNvCxnSpPr/>
          <p:nvPr/>
        </p:nvCxnSpPr>
        <p:spPr>
          <a:xfrm>
            <a:off x="6885824" y="4984424"/>
            <a:ext cx="663412" cy="0"/>
          </a:xfrm>
          <a:prstGeom prst="straightConnector1">
            <a:avLst/>
          </a:prstGeom>
          <a:ln w="28575">
            <a:solidFill>
              <a:srgbClr val="003C89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26DB9946-7F89-1DDB-710F-A2CDA3926635}"/>
              </a:ext>
            </a:extLst>
          </p:cNvPr>
          <p:cNvSpPr txBox="1"/>
          <p:nvPr/>
        </p:nvSpPr>
        <p:spPr>
          <a:xfrm>
            <a:off x="2186683" y="4274467"/>
            <a:ext cx="9165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/>
              <a:t>Ap(</a:t>
            </a:r>
            <a:r>
              <a:rPr lang="ko-KR" altLang="en-US" sz="1500" dirty="0"/>
              <a:t>가속</a:t>
            </a:r>
            <a:r>
              <a:rPr lang="en-US" altLang="ko-KR" sz="1500" dirty="0"/>
              <a:t>)</a:t>
            </a:r>
          </a:p>
          <a:p>
            <a:pPr algn="ctr"/>
            <a:r>
              <a:rPr lang="en-US" altLang="ko-KR" sz="1500" dirty="0"/>
              <a:t>Bp(</a:t>
            </a:r>
            <a:r>
              <a:rPr lang="ko-KR" altLang="en-US" sz="1500" dirty="0"/>
              <a:t>제동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41FD5894-9621-9563-6C06-32D828454611}"/>
              </a:ext>
            </a:extLst>
          </p:cNvPr>
          <p:cNvSpPr txBox="1"/>
          <p:nvPr/>
        </p:nvSpPr>
        <p:spPr>
          <a:xfrm>
            <a:off x="4504848" y="4187997"/>
            <a:ext cx="8126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 err="1"/>
              <a:t>T_cmd</a:t>
            </a:r>
            <a:endParaRPr lang="en-US" altLang="ko-KR" sz="1500" dirty="0"/>
          </a:p>
          <a:p>
            <a:pPr algn="ctr"/>
            <a:r>
              <a:rPr lang="en-US" altLang="ko-KR" sz="1500" dirty="0"/>
              <a:t>Mode</a:t>
            </a:r>
            <a:endParaRPr lang="ko-KR" altLang="en-US" sz="1500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D4365944-E996-4B78-3A63-4271B71B2A69}"/>
              </a:ext>
            </a:extLst>
          </p:cNvPr>
          <p:cNvSpPr txBox="1"/>
          <p:nvPr/>
        </p:nvSpPr>
        <p:spPr>
          <a:xfrm>
            <a:off x="7771743" y="2696812"/>
            <a:ext cx="2006565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dirty="0"/>
              <a:t>T_wheel(</a:t>
            </a:r>
            <a:r>
              <a:rPr lang="ko-KR" altLang="en-US" sz="1500" dirty="0" err="1"/>
              <a:t>바퀴토크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7139F30-FBED-295A-EFDA-172E5C8B9F99}"/>
              </a:ext>
            </a:extLst>
          </p:cNvPr>
          <p:cNvSpPr txBox="1"/>
          <p:nvPr/>
        </p:nvSpPr>
        <p:spPr>
          <a:xfrm>
            <a:off x="6812643" y="4176729"/>
            <a:ext cx="8126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/>
              <a:t>I(</a:t>
            </a:r>
            <a:r>
              <a:rPr lang="ko-KR" altLang="en-US" sz="1500" dirty="0"/>
              <a:t>전류</a:t>
            </a:r>
            <a:r>
              <a:rPr lang="en-US" altLang="ko-KR" sz="1500" dirty="0"/>
              <a:t>)</a:t>
            </a:r>
          </a:p>
          <a:p>
            <a:pPr algn="ctr"/>
            <a:r>
              <a:rPr lang="en-US" altLang="ko-KR" sz="1500" dirty="0"/>
              <a:t>V(</a:t>
            </a:r>
            <a:r>
              <a:rPr lang="ko-KR" altLang="en-US" sz="1500" dirty="0"/>
              <a:t>전압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3408348-C2FD-75CB-4C45-4A85340C1E27}"/>
              </a:ext>
            </a:extLst>
          </p:cNvPr>
          <p:cNvSpPr txBox="1"/>
          <p:nvPr/>
        </p:nvSpPr>
        <p:spPr>
          <a:xfrm>
            <a:off x="1673624" y="1629688"/>
            <a:ext cx="164869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dirty="0"/>
              <a:t>Speed(</a:t>
            </a:r>
            <a:r>
              <a:rPr lang="ko-KR" altLang="en-US" sz="1500" dirty="0"/>
              <a:t>차량속도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9CE7135-0824-B580-BAC2-819377022D9F}"/>
              </a:ext>
            </a:extLst>
          </p:cNvPr>
          <p:cNvSpPr txBox="1"/>
          <p:nvPr/>
        </p:nvSpPr>
        <p:spPr>
          <a:xfrm>
            <a:off x="3703811" y="2454797"/>
            <a:ext cx="14372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 err="1"/>
              <a:t>Eng_cmd</a:t>
            </a:r>
            <a:endParaRPr lang="en-US" altLang="ko-KR" sz="1500" dirty="0"/>
          </a:p>
          <a:p>
            <a:pPr algn="ctr"/>
            <a:r>
              <a:rPr lang="en-US" altLang="ko-KR" sz="1500" dirty="0"/>
              <a:t>(</a:t>
            </a:r>
            <a:r>
              <a:rPr lang="ko-KR" altLang="en-US" sz="1500" dirty="0"/>
              <a:t>엔진 명령</a:t>
            </a:r>
            <a:r>
              <a:rPr lang="en-US" altLang="ko-KR" sz="1500" dirty="0"/>
              <a:t>)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2A9ADA41-7D53-28AC-6F08-1653551DABFF}"/>
              </a:ext>
            </a:extLst>
          </p:cNvPr>
          <p:cNvSpPr txBox="1"/>
          <p:nvPr/>
        </p:nvSpPr>
        <p:spPr>
          <a:xfrm>
            <a:off x="7771742" y="5680220"/>
            <a:ext cx="2006565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dirty="0"/>
              <a:t>T_wheel(</a:t>
            </a:r>
            <a:r>
              <a:rPr lang="ko-KR" altLang="en-US" sz="1500" dirty="0" err="1"/>
              <a:t>바퀴토크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DF6868-B300-8E9D-F674-631B2FAEBAA7}"/>
              </a:ext>
            </a:extLst>
          </p:cNvPr>
          <p:cNvSpPr txBox="1"/>
          <p:nvPr/>
        </p:nvSpPr>
        <p:spPr>
          <a:xfrm>
            <a:off x="501532" y="1151987"/>
            <a:ext cx="19458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/>
              <a:t>* </a:t>
            </a:r>
            <a:r>
              <a:rPr lang="ko-KR" altLang="en-US" sz="1500" b="1" dirty="0"/>
              <a:t>주요 신호만 작성</a:t>
            </a:r>
          </a:p>
        </p:txBody>
      </p:sp>
    </p:spTree>
    <p:extLst>
      <p:ext uri="{BB962C8B-B14F-4D97-AF65-F5344CB8AC3E}">
        <p14:creationId xmlns:p14="http://schemas.microsoft.com/office/powerpoint/2010/main" val="2560499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8AC90-F279-C27C-DEA4-78EB6D61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EREV</a:t>
            </a:r>
            <a:r>
              <a:rPr lang="ko-KR" altLang="en-US" dirty="0"/>
              <a:t> 시스템 </a:t>
            </a:r>
            <a:r>
              <a:rPr lang="ko-KR" altLang="en-US" dirty="0" err="1"/>
              <a:t>아키텍쳐</a:t>
            </a:r>
            <a:r>
              <a:rPr lang="ko-KR" altLang="en-US" dirty="0"/>
              <a:t> </a:t>
            </a:r>
            <a:r>
              <a:rPr lang="en-US" altLang="ko-KR" dirty="0"/>
              <a:t>– Simulink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0AA372B-BF4A-B371-4782-FFA50C3FEC92}"/>
              </a:ext>
            </a:extLst>
          </p:cNvPr>
          <p:cNvGrpSpPr/>
          <p:nvPr/>
        </p:nvGrpSpPr>
        <p:grpSpPr>
          <a:xfrm>
            <a:off x="1533101" y="773095"/>
            <a:ext cx="9125798" cy="5966567"/>
            <a:chOff x="1533101" y="773095"/>
            <a:chExt cx="9125798" cy="596656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0CAE003-E08A-3FFA-39AB-03DE09E10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3101" y="773095"/>
              <a:ext cx="9125798" cy="5966567"/>
            </a:xfrm>
            <a:prstGeom prst="rect">
              <a:avLst/>
            </a:prstGeom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C15FF270-ABF3-8322-13CD-E048D073465E}"/>
                </a:ext>
              </a:extLst>
            </p:cNvPr>
            <p:cNvSpPr/>
            <p:nvPr/>
          </p:nvSpPr>
          <p:spPr>
            <a:xfrm>
              <a:off x="3002972" y="889000"/>
              <a:ext cx="972127" cy="5562600"/>
            </a:xfrm>
            <a:prstGeom prst="rect">
              <a:avLst/>
            </a:prstGeom>
            <a:solidFill>
              <a:srgbClr val="FFC000">
                <a:alpha val="4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274CA2A-902D-07C5-4D52-E13C2A6F4F65}"/>
                </a:ext>
              </a:extLst>
            </p:cNvPr>
            <p:cNvSpPr/>
            <p:nvPr/>
          </p:nvSpPr>
          <p:spPr>
            <a:xfrm>
              <a:off x="1776845" y="2514600"/>
              <a:ext cx="706581" cy="1288474"/>
            </a:xfrm>
            <a:prstGeom prst="rect">
              <a:avLst/>
            </a:prstGeom>
            <a:solidFill>
              <a:schemeClr val="bg1">
                <a:lumMod val="95000"/>
                <a:alpha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21DE294-C85E-3617-A74D-F2BAE6578667}"/>
                </a:ext>
              </a:extLst>
            </p:cNvPr>
            <p:cNvSpPr/>
            <p:nvPr/>
          </p:nvSpPr>
          <p:spPr>
            <a:xfrm>
              <a:off x="7169726" y="889000"/>
              <a:ext cx="1057568" cy="991755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398CC47-2752-2DAB-91A4-C10CAAC57324}"/>
                </a:ext>
              </a:extLst>
            </p:cNvPr>
            <p:cNvSpPr/>
            <p:nvPr/>
          </p:nvSpPr>
          <p:spPr>
            <a:xfrm>
              <a:off x="7169726" y="2125369"/>
              <a:ext cx="1057568" cy="1843958"/>
            </a:xfrm>
            <a:prstGeom prst="rect">
              <a:avLst/>
            </a:prstGeom>
            <a:solidFill>
              <a:srgbClr val="00B0F0">
                <a:alpha val="4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60C5D8C-9024-4472-096B-4BBE26901DA5}"/>
                </a:ext>
              </a:extLst>
            </p:cNvPr>
            <p:cNvSpPr/>
            <p:nvPr/>
          </p:nvSpPr>
          <p:spPr>
            <a:xfrm>
              <a:off x="9676382" y="2815936"/>
              <a:ext cx="735310" cy="3583709"/>
            </a:xfrm>
            <a:prstGeom prst="rect">
              <a:avLst/>
            </a:prstGeom>
            <a:solidFill>
              <a:schemeClr val="accent6">
                <a:alpha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AC43E6E-9C07-43A3-C790-B0CD2F747078}"/>
                </a:ext>
              </a:extLst>
            </p:cNvPr>
            <p:cNvSpPr/>
            <p:nvPr/>
          </p:nvSpPr>
          <p:spPr>
            <a:xfrm>
              <a:off x="7211290" y="4478626"/>
              <a:ext cx="972126" cy="1843958"/>
            </a:xfrm>
            <a:prstGeom prst="rect">
              <a:avLst/>
            </a:prstGeom>
            <a:solidFill>
              <a:srgbClr val="00B0F0">
                <a:alpha val="4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D3FB4BE-1773-26B0-E52D-21925550495A}"/>
                </a:ext>
              </a:extLst>
            </p:cNvPr>
            <p:cNvSpPr/>
            <p:nvPr/>
          </p:nvSpPr>
          <p:spPr>
            <a:xfrm>
              <a:off x="4431278" y="5372099"/>
              <a:ext cx="1664721" cy="1027545"/>
            </a:xfrm>
            <a:prstGeom prst="rect">
              <a:avLst/>
            </a:prstGeom>
            <a:solidFill>
              <a:srgbClr val="FF0000">
                <a:alpha val="4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9380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4F25-BEA8-15FE-D408-B624CF6CF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AB93A38D-85E9-C23E-353A-EB9DB578BA5F}"/>
              </a:ext>
            </a:extLst>
          </p:cNvPr>
          <p:cNvSpPr/>
          <p:nvPr/>
        </p:nvSpPr>
        <p:spPr>
          <a:xfrm>
            <a:off x="1164500" y="1638934"/>
            <a:ext cx="4047607" cy="223490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DC5A57C-70DB-1C9E-BEC4-5ECFC6ECE682}"/>
              </a:ext>
            </a:extLst>
          </p:cNvPr>
          <p:cNvSpPr/>
          <p:nvPr/>
        </p:nvSpPr>
        <p:spPr>
          <a:xfrm>
            <a:off x="1330029" y="2092959"/>
            <a:ext cx="1515005" cy="1676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모터 구동 토크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회생제동 토크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마찰제동 토크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주행 저항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35EB283-B037-621E-E0F1-F444DF293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+mn-lt"/>
                <a:ea typeface="+mn-ea"/>
                <a:cs typeface="+mn-cs"/>
              </a:rPr>
              <a:t>3. </a:t>
            </a:r>
            <a:r>
              <a:rPr lang="ko-KR" altLang="en-US" dirty="0">
                <a:latin typeface="+mn-lt"/>
                <a:ea typeface="+mn-ea"/>
                <a:cs typeface="+mn-cs"/>
              </a:rPr>
              <a:t>수식 기반 시스템 모델링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E6CBEC-3C17-651C-55C1-D6EE8E796869}"/>
              </a:ext>
            </a:extLst>
          </p:cNvPr>
          <p:cNvSpPr/>
          <p:nvPr/>
        </p:nvSpPr>
        <p:spPr>
          <a:xfrm>
            <a:off x="501533" y="1143344"/>
            <a:ext cx="11257847" cy="5481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86B4872-ECD4-1878-78BD-1B0C6FB6F937}"/>
              </a:ext>
            </a:extLst>
          </p:cNvPr>
          <p:cNvSpPr/>
          <p:nvPr/>
        </p:nvSpPr>
        <p:spPr>
          <a:xfrm>
            <a:off x="5035275" y="916332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모델 컴포넌트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9F0DAB9-8EE9-22C7-DC55-7F4C70F85262}"/>
              </a:ext>
            </a:extLst>
          </p:cNvPr>
          <p:cNvSpPr/>
          <p:nvPr/>
        </p:nvSpPr>
        <p:spPr>
          <a:xfrm>
            <a:off x="2397315" y="1411921"/>
            <a:ext cx="1581976" cy="4540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차량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B02C429-8A6E-EA20-4B1D-CADD62584EC2}"/>
              </a:ext>
            </a:extLst>
          </p:cNvPr>
          <p:cNvGrpSpPr/>
          <p:nvPr/>
        </p:nvGrpSpPr>
        <p:grpSpPr>
          <a:xfrm>
            <a:off x="6979892" y="4016565"/>
            <a:ext cx="4047607" cy="2461919"/>
            <a:chOff x="1143719" y="1647595"/>
            <a:chExt cx="4047607" cy="2461919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81CCEF80-E9E7-4B87-1A8A-62BA943CBF5E}"/>
                </a:ext>
              </a:extLst>
            </p:cNvPr>
            <p:cNvSpPr/>
            <p:nvPr/>
          </p:nvSpPr>
          <p:spPr>
            <a:xfrm>
              <a:off x="1143719" y="1874608"/>
              <a:ext cx="4047607" cy="2234906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E4EF6A6-9465-5A25-DB9E-8A756122AADF}"/>
                </a:ext>
              </a:extLst>
            </p:cNvPr>
            <p:cNvSpPr/>
            <p:nvPr/>
          </p:nvSpPr>
          <p:spPr>
            <a:xfrm>
              <a:off x="2376534" y="1647595"/>
              <a:ext cx="1581976" cy="45402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</a:rPr>
                <a:t>배터리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F92A326-EB21-6767-4277-7E0D6878C8A1}"/>
              </a:ext>
            </a:extLst>
          </p:cNvPr>
          <p:cNvGrpSpPr/>
          <p:nvPr/>
        </p:nvGrpSpPr>
        <p:grpSpPr>
          <a:xfrm>
            <a:off x="1164500" y="4016565"/>
            <a:ext cx="4047607" cy="2461919"/>
            <a:chOff x="1143719" y="1647595"/>
            <a:chExt cx="4047607" cy="2461919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6435D3E2-D440-C6E0-FE14-8901BD291C14}"/>
                </a:ext>
              </a:extLst>
            </p:cNvPr>
            <p:cNvSpPr/>
            <p:nvPr/>
          </p:nvSpPr>
          <p:spPr>
            <a:xfrm>
              <a:off x="1143719" y="1874608"/>
              <a:ext cx="4047607" cy="2234906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243E9C3-53DA-6B53-541C-1115D75B2BC9}"/>
                </a:ext>
              </a:extLst>
            </p:cNvPr>
            <p:cNvSpPr/>
            <p:nvPr/>
          </p:nvSpPr>
          <p:spPr>
            <a:xfrm>
              <a:off x="2376534" y="1647595"/>
              <a:ext cx="1581976" cy="45402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</a:rPr>
                <a:t>모터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95C8427-9EB3-7D0D-E752-E466927EC25B}"/>
              </a:ext>
            </a:extLst>
          </p:cNvPr>
          <p:cNvGrpSpPr/>
          <p:nvPr/>
        </p:nvGrpSpPr>
        <p:grpSpPr>
          <a:xfrm>
            <a:off x="6979892" y="1408777"/>
            <a:ext cx="4047607" cy="2461919"/>
            <a:chOff x="1143719" y="1647595"/>
            <a:chExt cx="4047607" cy="2461919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BC35DCF-5F9C-165E-E090-0600EA1E0508}"/>
                </a:ext>
              </a:extLst>
            </p:cNvPr>
            <p:cNvSpPr/>
            <p:nvPr/>
          </p:nvSpPr>
          <p:spPr>
            <a:xfrm>
              <a:off x="1143719" y="1874608"/>
              <a:ext cx="4047607" cy="223490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4E4E481B-CBFF-5E12-262C-13F9A3309D9D}"/>
                </a:ext>
              </a:extLst>
            </p:cNvPr>
            <p:cNvSpPr/>
            <p:nvPr/>
          </p:nvSpPr>
          <p:spPr>
            <a:xfrm>
              <a:off x="2376534" y="1647595"/>
              <a:ext cx="1581976" cy="45402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</a:rPr>
                <a:t>엔진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5A5715BA-B960-E5E5-B211-D2385DC105C7}"/>
              </a:ext>
            </a:extLst>
          </p:cNvPr>
          <p:cNvSpPr/>
          <p:nvPr/>
        </p:nvSpPr>
        <p:spPr>
          <a:xfrm>
            <a:off x="1665434" y="1928837"/>
            <a:ext cx="800100" cy="32824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입력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0C9487D-833A-280B-AC0F-6C7080B07C34}"/>
              </a:ext>
            </a:extLst>
          </p:cNvPr>
          <p:cNvSpPr/>
          <p:nvPr/>
        </p:nvSpPr>
        <p:spPr>
          <a:xfrm>
            <a:off x="3520270" y="2087856"/>
            <a:ext cx="1515005" cy="1676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차량 가속도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차량 속도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주행 거리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208E421D-348A-AA27-DBEA-781F2BD6B63C}"/>
              </a:ext>
            </a:extLst>
          </p:cNvPr>
          <p:cNvSpPr/>
          <p:nvPr/>
        </p:nvSpPr>
        <p:spPr>
          <a:xfrm>
            <a:off x="3855675" y="1928837"/>
            <a:ext cx="800100" cy="32824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출력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B520E9F-AC9A-EF03-9584-06528E622F3E}"/>
              </a:ext>
            </a:extLst>
          </p:cNvPr>
          <p:cNvSpPr/>
          <p:nvPr/>
        </p:nvSpPr>
        <p:spPr>
          <a:xfrm>
            <a:off x="7156725" y="2092959"/>
            <a:ext cx="1515005" cy="1676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요구 엔진 속도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요구 엔진 토크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23ECA0E0-4B04-F921-36BB-9CE5CAB8E2EB}"/>
              </a:ext>
            </a:extLst>
          </p:cNvPr>
          <p:cNvSpPr/>
          <p:nvPr/>
        </p:nvSpPr>
        <p:spPr>
          <a:xfrm>
            <a:off x="7492130" y="1928837"/>
            <a:ext cx="800100" cy="32824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입력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EF92ECD-F756-2021-6E41-724C4D00A5D1}"/>
              </a:ext>
            </a:extLst>
          </p:cNvPr>
          <p:cNvSpPr/>
          <p:nvPr/>
        </p:nvSpPr>
        <p:spPr>
          <a:xfrm>
            <a:off x="9346966" y="2087856"/>
            <a:ext cx="1515005" cy="1676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엔진 토크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연료 소모량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8E15AFB6-70E8-9C59-10E4-E40481648BBB}"/>
              </a:ext>
            </a:extLst>
          </p:cNvPr>
          <p:cNvSpPr/>
          <p:nvPr/>
        </p:nvSpPr>
        <p:spPr>
          <a:xfrm>
            <a:off x="9682371" y="1928837"/>
            <a:ext cx="800100" cy="32824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출력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A6F976F-BB41-9795-0DB9-7B7B8DB4BBE2}"/>
              </a:ext>
            </a:extLst>
          </p:cNvPr>
          <p:cNvSpPr/>
          <p:nvPr/>
        </p:nvSpPr>
        <p:spPr>
          <a:xfrm>
            <a:off x="7156725" y="4702706"/>
            <a:ext cx="1515005" cy="1676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요구 배터리 전류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533FAE1D-5CDB-B190-749C-0518C87485E2}"/>
              </a:ext>
            </a:extLst>
          </p:cNvPr>
          <p:cNvSpPr/>
          <p:nvPr/>
        </p:nvSpPr>
        <p:spPr>
          <a:xfrm>
            <a:off x="7492130" y="4538584"/>
            <a:ext cx="800100" cy="32824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입력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69DDA7D-CEBA-2256-5757-36A062D5AD9A}"/>
              </a:ext>
            </a:extLst>
          </p:cNvPr>
          <p:cNvSpPr/>
          <p:nvPr/>
        </p:nvSpPr>
        <p:spPr>
          <a:xfrm>
            <a:off x="9346966" y="4697603"/>
            <a:ext cx="1515005" cy="1676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배터리 전압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배터리 </a:t>
            </a:r>
            <a:r>
              <a:rPr lang="en-US" altLang="ko-KR" sz="1200" dirty="0">
                <a:solidFill>
                  <a:schemeClr val="tx1"/>
                </a:solidFill>
              </a:rPr>
              <a:t>SOC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BD529478-74C4-89CB-AD69-8260D29C4EDD}"/>
              </a:ext>
            </a:extLst>
          </p:cNvPr>
          <p:cNvSpPr/>
          <p:nvPr/>
        </p:nvSpPr>
        <p:spPr>
          <a:xfrm>
            <a:off x="9682371" y="4538584"/>
            <a:ext cx="800100" cy="32824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출력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5ABF035-1D5F-8503-B072-8FEBCFA17675}"/>
              </a:ext>
            </a:extLst>
          </p:cNvPr>
          <p:cNvSpPr/>
          <p:nvPr/>
        </p:nvSpPr>
        <p:spPr>
          <a:xfrm>
            <a:off x="1297090" y="4702706"/>
            <a:ext cx="1515005" cy="1676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요구 구동 토크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요구 회생제동 토크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모터 회전 수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배터리 전압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EE79296B-D384-B4C5-D5E8-F14710AD1DF4}"/>
              </a:ext>
            </a:extLst>
          </p:cNvPr>
          <p:cNvSpPr/>
          <p:nvPr/>
        </p:nvSpPr>
        <p:spPr>
          <a:xfrm>
            <a:off x="1632495" y="4538584"/>
            <a:ext cx="800100" cy="32824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입력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21654A41-1E40-14B4-1526-E25DF9506F85}"/>
              </a:ext>
            </a:extLst>
          </p:cNvPr>
          <p:cNvSpPr/>
          <p:nvPr/>
        </p:nvSpPr>
        <p:spPr>
          <a:xfrm>
            <a:off x="3487331" y="4697603"/>
            <a:ext cx="1515005" cy="1676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구동 토크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회생제동 토크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요구 배터리 전류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28251228-FC4C-BE8E-EB8C-39B805D744F5}"/>
              </a:ext>
            </a:extLst>
          </p:cNvPr>
          <p:cNvSpPr/>
          <p:nvPr/>
        </p:nvSpPr>
        <p:spPr>
          <a:xfrm>
            <a:off x="3822736" y="4538584"/>
            <a:ext cx="800100" cy="32824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3862335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FA35A-BEF0-3DB7-270F-C60872B84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E4648E-30A0-A73E-8F0D-E402D50322EC}"/>
              </a:ext>
            </a:extLst>
          </p:cNvPr>
          <p:cNvSpPr/>
          <p:nvPr/>
        </p:nvSpPr>
        <p:spPr>
          <a:xfrm>
            <a:off x="5987932" y="3048001"/>
            <a:ext cx="5574016" cy="34544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64262AF-820E-5F98-6978-14AC630B1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+mn-lt"/>
                <a:ea typeface="+mn-ea"/>
                <a:cs typeface="+mn-cs"/>
              </a:rPr>
              <a:t>3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.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수식 기반 시스템 모델링 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-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차량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85D08F8-007B-65DF-0CA7-14891F5B721D}"/>
              </a:ext>
            </a:extLst>
          </p:cNvPr>
          <p:cNvSpPr/>
          <p:nvPr/>
        </p:nvSpPr>
        <p:spPr>
          <a:xfrm>
            <a:off x="501534" y="1143344"/>
            <a:ext cx="11272702" cy="5481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ECB292-D230-01DC-030E-4418F3818B60}"/>
              </a:ext>
            </a:extLst>
          </p:cNvPr>
          <p:cNvSpPr/>
          <p:nvPr/>
        </p:nvSpPr>
        <p:spPr>
          <a:xfrm>
            <a:off x="684482" y="1572752"/>
            <a:ext cx="1515005" cy="19844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모터 구동 토크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회생제동 토크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마찰제동 토크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주행 저항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A36345E-50A2-5087-34C6-12F3A35B9767}"/>
              </a:ext>
            </a:extLst>
          </p:cNvPr>
          <p:cNvSpPr/>
          <p:nvPr/>
        </p:nvSpPr>
        <p:spPr>
          <a:xfrm>
            <a:off x="980832" y="1403528"/>
            <a:ext cx="922305" cy="3282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ysClr val="windowText" lastClr="000000"/>
                </a:solidFill>
              </a:rPr>
              <a:t>입력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1490A32-068A-65F3-E7DE-80EDEF862103}"/>
              </a:ext>
            </a:extLst>
          </p:cNvPr>
          <p:cNvSpPr/>
          <p:nvPr/>
        </p:nvSpPr>
        <p:spPr>
          <a:xfrm>
            <a:off x="2262372" y="1572752"/>
            <a:ext cx="1742924" cy="19844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차량 중량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공기 밀도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투영 면적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공기저항 계수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타이어 구름저항 계수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등판 각도</a:t>
            </a:r>
            <a:endParaRPr lang="en-US" altLang="ko-KR" sz="1200" dirty="0">
              <a:solidFill>
                <a:sysClr val="windowText" lastClr="000000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7CC1B8C-9B8B-45E1-A8CE-91D794197CEC}"/>
              </a:ext>
            </a:extLst>
          </p:cNvPr>
          <p:cNvSpPr/>
          <p:nvPr/>
        </p:nvSpPr>
        <p:spPr>
          <a:xfrm>
            <a:off x="2639308" y="1403528"/>
            <a:ext cx="922305" cy="3282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ysClr val="windowText" lastClr="000000"/>
                </a:solidFill>
              </a:rPr>
              <a:t>파라미터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4CE99A0-F391-B498-2F46-43009E81A23D}"/>
              </a:ext>
            </a:extLst>
          </p:cNvPr>
          <p:cNvSpPr/>
          <p:nvPr/>
        </p:nvSpPr>
        <p:spPr>
          <a:xfrm>
            <a:off x="4073074" y="1567649"/>
            <a:ext cx="1515005" cy="19844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차량 가속도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차량 속도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주행 거리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E11386E-DBFC-226A-B2B2-A55242DB915E}"/>
              </a:ext>
            </a:extLst>
          </p:cNvPr>
          <p:cNvSpPr/>
          <p:nvPr/>
        </p:nvSpPr>
        <p:spPr>
          <a:xfrm>
            <a:off x="4369424" y="1403528"/>
            <a:ext cx="922305" cy="3282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출력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27B4C4-6D56-11DC-464C-61336039C94B}"/>
                  </a:ext>
                </a:extLst>
              </p:cNvPr>
              <p:cNvSpPr txBox="1"/>
              <p:nvPr/>
            </p:nvSpPr>
            <p:spPr>
              <a:xfrm>
                <a:off x="6056093" y="1907894"/>
                <a:ext cx="5463499" cy="571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𝑡𝑖𝑟𝑒</m:t>
                          </m:r>
                        </m:sub>
                      </m:sSub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5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1500" b="0" i="1" smtClean="0">
                                  <a:latin typeface="Cambria Math" panose="02040503050406030204" pitchFamily="18" charset="0"/>
                                </a:rPr>
                                <m:t>𝑓𝑖𝑛𝑎𝑙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5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1500" b="0" i="1" smtClean="0">
                                  <a:latin typeface="Cambria Math" panose="02040503050406030204" pitchFamily="18" charset="0"/>
                                </a:rPr>
                                <m:t>𝑡𝑖𝑟𝑒</m:t>
                              </m:r>
                            </m:sub>
                          </m:sSub>
                        </m:den>
                      </m:f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𝑝𝑟𝑜𝑝</m:t>
                          </m:r>
                        </m:sub>
                      </m:sSub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𝑟𝑒𝑔𝑒𝑛</m:t>
                          </m:r>
                        </m:sub>
                      </m:sSub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𝑓𝑟𝑖𝑐</m:t>
                          </m:r>
                        </m:sub>
                      </m:sSub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5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27B4C4-6D56-11DC-464C-61336039C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6093" y="1907894"/>
                <a:ext cx="5463499" cy="5715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EB2BD7F-33BE-8095-6850-4F579461C000}"/>
                  </a:ext>
                </a:extLst>
              </p:cNvPr>
              <p:cNvSpPr txBox="1"/>
              <p:nvPr/>
            </p:nvSpPr>
            <p:spPr>
              <a:xfrm>
                <a:off x="6226967" y="3197212"/>
                <a:ext cx="5121753" cy="3255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500" b="1" dirty="0"/>
                  <a:t>주행 저항</a:t>
                </a:r>
                <a:r>
                  <a:rPr lang="en-US" altLang="ko-KR" sz="1500" b="1" dirty="0"/>
                  <a:t> : </a:t>
                </a:r>
                <a:r>
                  <a:rPr lang="ko-KR" altLang="en-US" sz="1500" b="1" dirty="0"/>
                  <a:t>차량이 받는 저항력의 합</a:t>
                </a:r>
                <a:endParaRPr lang="en-US" altLang="ko-KR" sz="1500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1500" b="1" dirty="0"/>
                  <a:t> 1. </a:t>
                </a:r>
                <a:r>
                  <a:rPr lang="ko-KR" altLang="en-US" sz="1500" b="1" dirty="0"/>
                  <a:t>공기 저항</a:t>
                </a:r>
                <a:endParaRPr lang="en-US" altLang="ko-KR" sz="15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𝑎𝑒𝑟𝑜</m:t>
                          </m:r>
                        </m:sub>
                      </m:sSub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ko-KR" altLang="en-US" sz="1500" i="1" smtClean="0"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sSup>
                        <m:sSupPr>
                          <m:ctrlPr>
                            <a:rPr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altLang="ko-KR" sz="1500" b="1" dirty="0"/>
                </a:br>
                <a:r>
                  <a:rPr lang="en-US" altLang="ko-KR" sz="1500" b="1" dirty="0"/>
                  <a:t> 2. </a:t>
                </a:r>
                <a:r>
                  <a:rPr lang="ko-KR" altLang="en-US" sz="1500" b="1" dirty="0"/>
                  <a:t>구름 저항</a:t>
                </a:r>
                <a:endParaRPr lang="en-US" altLang="ko-KR" sz="1500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𝑟𝑜𝑙𝑙</m:t>
                          </m:r>
                        </m:sub>
                      </m:sSub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𝑚𝑔</m:t>
                      </m:r>
                      <m:func>
                        <m:funcPr>
                          <m:ctrlP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5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15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altLang="ko-KR" sz="1500" b="0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1500" b="1" dirty="0"/>
                  <a:t> 3. </a:t>
                </a:r>
                <a:r>
                  <a:rPr lang="ko-KR" altLang="en-US" sz="1500" b="1" dirty="0"/>
                  <a:t>등판 저항</a:t>
                </a:r>
                <a:r>
                  <a:rPr lang="en-US" altLang="ko-KR" sz="1500" b="1" dirty="0"/>
                  <a:t>   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𝑠𝑙𝑜𝑝𝑒</m:t>
                          </m:r>
                        </m:sub>
                      </m:sSub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𝑚𝑔</m:t>
                      </m:r>
                      <m:func>
                        <m:funcPr>
                          <m:ctrlP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5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15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altLang="ko-KR" sz="1500" b="0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1500" b="1" dirty="0"/>
                  <a:t> </a:t>
                </a:r>
                <a:r>
                  <a:rPr lang="ko-KR" altLang="en-US" sz="1500" b="1" dirty="0"/>
                  <a:t>총 주행 저항 </a:t>
                </a:r>
                <a:r>
                  <a:rPr lang="en-US" altLang="ko-KR" sz="1500" b="1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𝑟𝑟</m:t>
                        </m:r>
                      </m:sub>
                    </m:sSub>
                    <m:r>
                      <a:rPr lang="en-US" altLang="ko-KR" sz="15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𝑎𝑒𝑟𝑜</m:t>
                        </m:r>
                      </m:sub>
                    </m:sSub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𝑟𝑜𝑙𝑙</m:t>
                        </m:r>
                      </m:sub>
                    </m:sSub>
                  </m:oMath>
                </a14:m>
                <a:r>
                  <a:rPr lang="en-US" altLang="ko-KR" sz="15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𝑠𝑙𝑜𝑝𝑒</m:t>
                        </m:r>
                      </m:sub>
                    </m:sSub>
                  </m:oMath>
                </a14:m>
                <a:endParaRPr lang="ko-KR" altLang="en-US" sz="15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EB2BD7F-33BE-8095-6850-4F579461C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967" y="3197212"/>
                <a:ext cx="5121753" cy="3255891"/>
              </a:xfrm>
              <a:prstGeom prst="rect">
                <a:avLst/>
              </a:prstGeom>
              <a:blipFill>
                <a:blip r:embed="rId5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9373E57B-674D-634F-78AA-3C53E56237AA}"/>
              </a:ext>
            </a:extLst>
          </p:cNvPr>
          <p:cNvSpPr/>
          <p:nvPr/>
        </p:nvSpPr>
        <p:spPr>
          <a:xfrm>
            <a:off x="7759143" y="2810736"/>
            <a:ext cx="2057400" cy="4680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주행저항 방정식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DD2E61-F396-3195-301D-0913CA2C6CFC}"/>
              </a:ext>
            </a:extLst>
          </p:cNvPr>
          <p:cNvSpPr/>
          <p:nvPr/>
        </p:nvSpPr>
        <p:spPr>
          <a:xfrm>
            <a:off x="5977255" y="1484864"/>
            <a:ext cx="5574016" cy="124547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DB9BFA-01C0-78D1-C0DE-AAC997DE76C6}"/>
              </a:ext>
            </a:extLst>
          </p:cNvPr>
          <p:cNvSpPr/>
          <p:nvPr/>
        </p:nvSpPr>
        <p:spPr>
          <a:xfrm>
            <a:off x="7748466" y="1247599"/>
            <a:ext cx="2057400" cy="4680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차량 </a:t>
            </a:r>
            <a:r>
              <a:rPr lang="ko-KR" altLang="en-US" sz="1500" b="1" dirty="0" err="1">
                <a:solidFill>
                  <a:schemeClr val="tx1"/>
                </a:solidFill>
              </a:rPr>
              <a:t>구동력</a:t>
            </a:r>
            <a:r>
              <a:rPr lang="ko-KR" altLang="en-US" sz="1500" b="1" dirty="0">
                <a:solidFill>
                  <a:schemeClr val="tx1"/>
                </a:solidFill>
              </a:rPr>
              <a:t> 방정식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DAA189F-1E42-558F-DDB0-737ADDB07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52" y="3794654"/>
            <a:ext cx="5140137" cy="2582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436C39-4C82-BDA7-0B1A-4E389CBDBEDB}"/>
                  </a:ext>
                </a:extLst>
              </p:cNvPr>
              <p:cNvSpPr txBox="1"/>
              <p:nvPr/>
            </p:nvSpPr>
            <p:spPr>
              <a:xfrm>
                <a:off x="10194892" y="4037149"/>
                <a:ext cx="1259971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000" i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000" i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en-US" altLang="ko-KR" sz="1000" b="0" i="0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ko-KR" altLang="en-US" sz="1000" i="0">
                        <a:latin typeface="Cambria Math" panose="02040503050406030204" pitchFamily="18" charset="0"/>
                      </a:rPr>
                      <m:t>공</m:t>
                    </m:r>
                  </m:oMath>
                </a14:m>
                <a:r>
                  <a:rPr lang="ko-KR" altLang="en-US" sz="1000" dirty="0">
                    <a:latin typeface="Cambria Math" panose="02040503050406030204" pitchFamily="18" charset="0"/>
                  </a:rPr>
                  <a:t>기저항계수</a:t>
                </a:r>
                <a:endParaRPr lang="en-US" altLang="ko-KR" sz="100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sz="1000" i="0">
                        <a:latin typeface="Cambria Math" panose="02040503050406030204" pitchFamily="18" charset="0"/>
                      </a:rPr>
                      <m:t>ρ</m:t>
                    </m:r>
                    <m:r>
                      <a:rPr lang="en-US" altLang="ko-KR" sz="1000" b="0" i="0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ko-KR" altLang="en-US" sz="1000" i="0">
                        <a:latin typeface="Cambria Math" panose="02040503050406030204" pitchFamily="18" charset="0"/>
                      </a:rPr>
                      <m:t>공</m:t>
                    </m:r>
                    <m:r>
                      <a:rPr lang="ko-KR" altLang="en-US" sz="1000" i="0" smtClean="0">
                        <a:latin typeface="Cambria Math" panose="02040503050406030204" pitchFamily="18" charset="0"/>
                      </a:rPr>
                      <m:t>기</m:t>
                    </m:r>
                    <m:r>
                      <a:rPr lang="ko-KR" altLang="en-US" sz="1000" i="0">
                        <a:latin typeface="Cambria Math" panose="02040503050406030204" pitchFamily="18" charset="0"/>
                      </a:rPr>
                      <m:t>밀</m:t>
                    </m:r>
                  </m:oMath>
                </a14:m>
                <a:r>
                  <a:rPr lang="ko-KR" altLang="en-US" sz="1000" dirty="0">
                    <a:latin typeface="Cambria Math" panose="02040503050406030204" pitchFamily="18" charset="0"/>
                  </a:rPr>
                  <a:t>도</a:t>
                </a:r>
                <a:endParaRPr lang="en-US" altLang="ko-KR" sz="100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000" i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000" i="0"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000" b="0" i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ko-KR" altLang="en-US" sz="1000" i="0">
                        <a:latin typeface="Cambria Math" panose="02040503050406030204" pitchFamily="18" charset="0"/>
                      </a:rPr>
                      <m:t>차</m:t>
                    </m:r>
                  </m:oMath>
                </a14:m>
                <a:r>
                  <a:rPr lang="ko-KR" altLang="en-US" sz="1000" dirty="0"/>
                  <a:t>량 면적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436C39-4C82-BDA7-0B1A-4E389CBDB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4892" y="4037149"/>
                <a:ext cx="1259971" cy="559769"/>
              </a:xfrm>
              <a:prstGeom prst="rect">
                <a:avLst/>
              </a:prstGeom>
              <a:blipFill>
                <a:blip r:embed="rId7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95A4D56-46EA-B32B-81DE-130F631B4C01}"/>
                  </a:ext>
                </a:extLst>
              </p:cNvPr>
              <p:cNvSpPr txBox="1"/>
              <p:nvPr/>
            </p:nvSpPr>
            <p:spPr>
              <a:xfrm>
                <a:off x="10194893" y="4885638"/>
                <a:ext cx="1259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ko-KR" sz="1000" b="0" i="0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ko-KR" altLang="en-US" sz="1000" b="0" i="0" dirty="0">
                    <a:latin typeface="Cambria Math" panose="02040503050406030204" pitchFamily="18" charset="0"/>
                  </a:rPr>
                  <a:t> 구름저항계수</a:t>
                </a:r>
                <a:endParaRPr lang="en-US" altLang="ko-KR" sz="1000" b="0" i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ko-KR" altLang="en-US" sz="10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sz="1000" dirty="0"/>
                  <a:t> </a:t>
                </a:r>
                <a:r>
                  <a:rPr lang="en-US" altLang="ko-KR" sz="1000" dirty="0"/>
                  <a:t>: </a:t>
                </a:r>
                <a:r>
                  <a:rPr lang="ko-KR" altLang="en-US" sz="1000" dirty="0"/>
                  <a:t>경사도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95A4D56-46EA-B32B-81DE-130F631B4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4893" y="4885638"/>
                <a:ext cx="1259971" cy="400110"/>
              </a:xfrm>
              <a:prstGeom prst="rect">
                <a:avLst/>
              </a:prstGeom>
              <a:blipFill>
                <a:blip r:embed="rId8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2011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35EC5-8C5C-ADA7-8CD1-567DF1857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D4E65A79-4F39-4459-CE26-BA5332185868}"/>
              </a:ext>
            </a:extLst>
          </p:cNvPr>
          <p:cNvGrpSpPr/>
          <p:nvPr/>
        </p:nvGrpSpPr>
        <p:grpSpPr>
          <a:xfrm>
            <a:off x="691951" y="2724442"/>
            <a:ext cx="8933761" cy="3878305"/>
            <a:chOff x="737689" y="1429839"/>
            <a:chExt cx="10800392" cy="500436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E4B575E-1D94-F4AF-E9C8-C916ADB4F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7689" y="1429839"/>
              <a:ext cx="10800392" cy="4908017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1BC7239-F098-A89C-61D9-7F470B132F7C}"/>
                </a:ext>
              </a:extLst>
            </p:cNvPr>
            <p:cNvSpPr/>
            <p:nvPr/>
          </p:nvSpPr>
          <p:spPr>
            <a:xfrm>
              <a:off x="2589313" y="2768225"/>
              <a:ext cx="1503185" cy="300218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F52DE6-7947-58BD-3430-F1EF93449E15}"/>
                </a:ext>
              </a:extLst>
            </p:cNvPr>
            <p:cNvSpPr txBox="1"/>
            <p:nvPr/>
          </p:nvSpPr>
          <p:spPr>
            <a:xfrm>
              <a:off x="2589314" y="5976982"/>
              <a:ext cx="1503185" cy="45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/>
                <a:t>주행 저항</a:t>
              </a: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BA721B7-77B2-2BD3-7FA0-1A6AD5DFE472}"/>
              </a:ext>
            </a:extLst>
          </p:cNvPr>
          <p:cNvSpPr/>
          <p:nvPr/>
        </p:nvSpPr>
        <p:spPr>
          <a:xfrm>
            <a:off x="501532" y="988439"/>
            <a:ext cx="3377728" cy="1673942"/>
          </a:xfrm>
          <a:prstGeom prst="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430AC30-A03A-98C0-FD4E-38F555821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+mn-lt"/>
                <a:ea typeface="+mn-ea"/>
                <a:cs typeface="+mn-cs"/>
              </a:rPr>
              <a:t>3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.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수식 기반 시스템 모델링 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-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차량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9D95F36-3B9E-3AB9-AD5B-B796FC8BA149}"/>
              </a:ext>
            </a:extLst>
          </p:cNvPr>
          <p:cNvSpPr/>
          <p:nvPr/>
        </p:nvSpPr>
        <p:spPr>
          <a:xfrm>
            <a:off x="451950" y="914400"/>
            <a:ext cx="11322286" cy="5709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74D3471-5A2F-33C5-067C-0C45ED0CAEB7}"/>
              </a:ext>
            </a:extLst>
          </p:cNvPr>
          <p:cNvGrpSpPr/>
          <p:nvPr/>
        </p:nvGrpSpPr>
        <p:grpSpPr>
          <a:xfrm>
            <a:off x="8187327" y="995288"/>
            <a:ext cx="3440546" cy="1980857"/>
            <a:chOff x="1533101" y="773095"/>
            <a:chExt cx="9125798" cy="5966567"/>
          </a:xfrm>
          <a:noFill/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1EAA9CCA-297E-C979-3F76-C5C8EEBB6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33101" y="773095"/>
              <a:ext cx="9125798" cy="596656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2788B0D-E31D-3896-DA56-56265FF29031}"/>
                </a:ext>
              </a:extLst>
            </p:cNvPr>
            <p:cNvSpPr/>
            <p:nvPr/>
          </p:nvSpPr>
          <p:spPr>
            <a:xfrm>
              <a:off x="3002972" y="889000"/>
              <a:ext cx="972127" cy="5562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1635A6E-C0C7-EF9F-2A9B-C4F6F459ACA1}"/>
                </a:ext>
              </a:extLst>
            </p:cNvPr>
            <p:cNvSpPr/>
            <p:nvPr/>
          </p:nvSpPr>
          <p:spPr>
            <a:xfrm>
              <a:off x="1776845" y="2514600"/>
              <a:ext cx="706581" cy="128847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71E49CE-6490-D8C9-958A-B4D56976B984}"/>
                </a:ext>
              </a:extLst>
            </p:cNvPr>
            <p:cNvSpPr/>
            <p:nvPr/>
          </p:nvSpPr>
          <p:spPr>
            <a:xfrm>
              <a:off x="7169726" y="889000"/>
              <a:ext cx="1057568" cy="99175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5C47590-55C4-C5C1-CD6D-A425751E0E49}"/>
                </a:ext>
              </a:extLst>
            </p:cNvPr>
            <p:cNvSpPr/>
            <p:nvPr/>
          </p:nvSpPr>
          <p:spPr>
            <a:xfrm>
              <a:off x="7169726" y="2125369"/>
              <a:ext cx="1057568" cy="184395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9C2ECD9-DDC6-FA35-CCE1-4AA83A05B374}"/>
                </a:ext>
              </a:extLst>
            </p:cNvPr>
            <p:cNvSpPr/>
            <p:nvPr/>
          </p:nvSpPr>
          <p:spPr>
            <a:xfrm>
              <a:off x="9676382" y="2815936"/>
              <a:ext cx="735310" cy="3583709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2C46335-7AFA-043D-8EA4-2331AA1DCF19}"/>
                </a:ext>
              </a:extLst>
            </p:cNvPr>
            <p:cNvSpPr/>
            <p:nvPr/>
          </p:nvSpPr>
          <p:spPr>
            <a:xfrm>
              <a:off x="7211290" y="4478626"/>
              <a:ext cx="972126" cy="184395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FBA11058-250A-E82C-1253-18D1E3542B62}"/>
                </a:ext>
              </a:extLst>
            </p:cNvPr>
            <p:cNvSpPr/>
            <p:nvPr/>
          </p:nvSpPr>
          <p:spPr>
            <a:xfrm>
              <a:off x="4431278" y="5372099"/>
              <a:ext cx="1664721" cy="102754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3623E99-E7F3-820A-788E-9F6E9C93495E}"/>
              </a:ext>
            </a:extLst>
          </p:cNvPr>
          <p:cNvSpPr/>
          <p:nvPr/>
        </p:nvSpPr>
        <p:spPr>
          <a:xfrm>
            <a:off x="594156" y="1219770"/>
            <a:ext cx="1515005" cy="13405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모터 구동 토크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회생제동 토크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마찰제동 토크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주행 저항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90FD98D-5A99-AAED-B71F-E2830A588EF3}"/>
              </a:ext>
            </a:extLst>
          </p:cNvPr>
          <p:cNvSpPr/>
          <p:nvPr/>
        </p:nvSpPr>
        <p:spPr>
          <a:xfrm>
            <a:off x="929561" y="1055648"/>
            <a:ext cx="800100" cy="32824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입력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483F29-9447-7513-B0A5-5FA219050F31}"/>
              </a:ext>
            </a:extLst>
          </p:cNvPr>
          <p:cNvSpPr/>
          <p:nvPr/>
        </p:nvSpPr>
        <p:spPr>
          <a:xfrm>
            <a:off x="2283822" y="1213019"/>
            <a:ext cx="1515005" cy="13405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차량 가속도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차량 속도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주행 거리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6910B1F-F4DF-B6E3-44C7-C93C8F2DA67F}"/>
              </a:ext>
            </a:extLst>
          </p:cNvPr>
          <p:cNvSpPr/>
          <p:nvPr/>
        </p:nvSpPr>
        <p:spPr>
          <a:xfrm>
            <a:off x="2619227" y="1054000"/>
            <a:ext cx="800100" cy="32824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3707509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35EC5-8C5C-ADA7-8CD1-567DF1857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0AC30-A03A-98C0-FD4E-38F555821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+mn-lt"/>
                <a:ea typeface="+mn-ea"/>
                <a:cs typeface="+mn-cs"/>
              </a:rPr>
              <a:t>3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.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수식 기반 시스템 모델링 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-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차량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9D95F36-3B9E-3AB9-AD5B-B796FC8BA149}"/>
              </a:ext>
            </a:extLst>
          </p:cNvPr>
          <p:cNvSpPr/>
          <p:nvPr/>
        </p:nvSpPr>
        <p:spPr>
          <a:xfrm>
            <a:off x="501534" y="1143344"/>
            <a:ext cx="11272702" cy="5481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AB4D331-B4DD-94ED-8739-18ACB7678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37" y="2073024"/>
            <a:ext cx="6225554" cy="6917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DF23EB1-0E13-69A6-7B2B-80E5EA8EE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23" y="3429000"/>
            <a:ext cx="6467011" cy="155647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F232565-63C4-246A-22FE-ABDEEE8B2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157" y="5714656"/>
            <a:ext cx="5932449" cy="8279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2EA81C7-09B9-2B35-9458-1E6CD471B758}"/>
                  </a:ext>
                </a:extLst>
              </p:cNvPr>
              <p:cNvSpPr txBox="1"/>
              <p:nvPr/>
            </p:nvSpPr>
            <p:spPr>
              <a:xfrm>
                <a:off x="984175" y="1502492"/>
                <a:ext cx="3579541" cy="418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500" b="1" dirty="0"/>
                  <a:t>1. </a:t>
                </a:r>
                <a:r>
                  <a:rPr lang="ko-KR" altLang="en-US" sz="1500" b="1" dirty="0"/>
                  <a:t>공기 저항 </a:t>
                </a:r>
                <a:r>
                  <a:rPr lang="en-US" altLang="ko-KR" sz="1500" b="1" dirty="0"/>
                  <a:t>:</a:t>
                </a:r>
                <a:r>
                  <a:rPr lang="ko-KR" altLang="en-US" sz="15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𝑎𝑒𝑟𝑜</m:t>
                        </m:r>
                      </m:sub>
                    </m:sSub>
                    <m:r>
                      <a:rPr lang="en-US" altLang="ko-KR" sz="15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ko-KR" altLang="en-US" sz="1500" i="1">
                        <a:latin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p>
                      <m:sSup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ko-KR" altLang="en-US" sz="15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2EA81C7-09B9-2B35-9458-1E6CD471B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75" y="1502492"/>
                <a:ext cx="3579541" cy="418256"/>
              </a:xfrm>
              <a:prstGeom prst="rect">
                <a:avLst/>
              </a:prstGeom>
              <a:blipFill>
                <a:blip r:embed="rId6"/>
                <a:stretch>
                  <a:fillRect l="-680" b="-14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9EE694-FCAF-2624-E959-D81D7DD9C468}"/>
                  </a:ext>
                </a:extLst>
              </p:cNvPr>
              <p:cNvSpPr txBox="1"/>
              <p:nvPr/>
            </p:nvSpPr>
            <p:spPr>
              <a:xfrm>
                <a:off x="984175" y="3049137"/>
                <a:ext cx="3579541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500" b="1" dirty="0"/>
                  <a:t>2. </a:t>
                </a:r>
                <a:r>
                  <a:rPr lang="ko-KR" altLang="en-US" sz="1500" b="1" dirty="0"/>
                  <a:t>구름 저항 </a:t>
                </a:r>
                <a:r>
                  <a:rPr lang="en-US" altLang="ko-KR" sz="1500" b="1" dirty="0"/>
                  <a:t>:</a:t>
                </a:r>
                <a:r>
                  <a:rPr lang="ko-KR" altLang="en-US" sz="15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𝑟𝑜𝑙𝑙</m:t>
                        </m:r>
                      </m:sub>
                    </m:sSub>
                    <m:r>
                      <a:rPr lang="en-US" altLang="ko-KR" sz="15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ko-KR" sz="1500" i="1">
                        <a:latin typeface="Cambria Math" panose="02040503050406030204" pitchFamily="18" charset="0"/>
                      </a:rPr>
                      <m:t>𝑚𝑔</m:t>
                    </m:r>
                    <m:func>
                      <m:func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5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ko-KR" altLang="en-US" sz="15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ko-KR" altLang="en-US" sz="1500" b="1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9EE694-FCAF-2624-E959-D81D7DD9C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75" y="3049137"/>
                <a:ext cx="3579541" cy="323165"/>
              </a:xfrm>
              <a:prstGeom prst="rect">
                <a:avLst/>
              </a:prstGeom>
              <a:blipFill>
                <a:blip r:embed="rId7"/>
                <a:stretch>
                  <a:fillRect l="-680" t="-3774" b="-207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7EA6D3E-4470-6DB3-3135-B9B9401C4A38}"/>
                  </a:ext>
                </a:extLst>
              </p:cNvPr>
              <p:cNvSpPr txBox="1"/>
              <p:nvPr/>
            </p:nvSpPr>
            <p:spPr>
              <a:xfrm>
                <a:off x="984175" y="5212491"/>
                <a:ext cx="3579541" cy="340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500" b="1" dirty="0"/>
                  <a:t>3. </a:t>
                </a:r>
                <a:r>
                  <a:rPr lang="ko-KR" altLang="en-US" sz="1500" b="1" dirty="0"/>
                  <a:t>등판 저항 </a:t>
                </a:r>
                <a:r>
                  <a:rPr lang="en-US" altLang="ko-KR" sz="1500" b="1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sz="1500" i="1">
                            <a:latin typeface="Cambria Math" panose="02040503050406030204" pitchFamily="18" charset="0"/>
                          </a:rPr>
                          <m:t>𝑠𝑙𝑜𝑝𝑒</m:t>
                        </m:r>
                      </m:sub>
                    </m:sSub>
                    <m:r>
                      <a:rPr lang="en-US" altLang="ko-KR" sz="1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500" i="1">
                        <a:latin typeface="Cambria Math" panose="02040503050406030204" pitchFamily="18" charset="0"/>
                      </a:rPr>
                      <m:t>𝑚𝑔</m:t>
                    </m:r>
                    <m:func>
                      <m:func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5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ko-KR" altLang="en-US" sz="15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ko-KR" altLang="en-US" sz="15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7EA6D3E-4470-6DB3-3135-B9B9401C4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75" y="5212491"/>
                <a:ext cx="3579541" cy="340927"/>
              </a:xfrm>
              <a:prstGeom prst="rect">
                <a:avLst/>
              </a:prstGeom>
              <a:blipFill>
                <a:blip r:embed="rId8"/>
                <a:stretch>
                  <a:fillRect l="-680" t="-5357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직사각형 24">
            <a:extLst>
              <a:ext uri="{FF2B5EF4-FFF2-40B4-BE49-F238E27FC236}">
                <a16:creationId xmlns:a16="http://schemas.microsoft.com/office/drawing/2014/main" id="{3B412EC9-49D0-2955-A54E-0B078FC13776}"/>
              </a:ext>
            </a:extLst>
          </p:cNvPr>
          <p:cNvSpPr/>
          <p:nvPr/>
        </p:nvSpPr>
        <p:spPr>
          <a:xfrm>
            <a:off x="5035275" y="916332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주행 저항 모델링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1F7462E-F637-1657-71C2-600EF7606B85}"/>
              </a:ext>
            </a:extLst>
          </p:cNvPr>
          <p:cNvGrpSpPr/>
          <p:nvPr/>
        </p:nvGrpSpPr>
        <p:grpSpPr>
          <a:xfrm>
            <a:off x="8249919" y="3337603"/>
            <a:ext cx="3440547" cy="1980857"/>
            <a:chOff x="737689" y="1429839"/>
            <a:chExt cx="10800392" cy="4908017"/>
          </a:xfrm>
        </p:grpSpPr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819B712B-8AFA-CCF2-9DF1-82E495AFA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7689" y="1429839"/>
              <a:ext cx="10800392" cy="490801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5CFE8392-EF72-A218-D823-611893CB588E}"/>
                </a:ext>
              </a:extLst>
            </p:cNvPr>
            <p:cNvSpPr/>
            <p:nvPr/>
          </p:nvSpPr>
          <p:spPr>
            <a:xfrm>
              <a:off x="2589313" y="2768225"/>
              <a:ext cx="1503185" cy="300218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27F23668-ABF9-5076-CDA3-094E9286E0BE}"/>
              </a:ext>
            </a:extLst>
          </p:cNvPr>
          <p:cNvGrpSpPr/>
          <p:nvPr/>
        </p:nvGrpSpPr>
        <p:grpSpPr>
          <a:xfrm>
            <a:off x="8249919" y="1268201"/>
            <a:ext cx="3440546" cy="1980857"/>
            <a:chOff x="1533101" y="773095"/>
            <a:chExt cx="9125798" cy="5966567"/>
          </a:xfrm>
          <a:noFill/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1813EF4F-0DAA-1EEA-E4B8-1F18DABF4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33101" y="773095"/>
              <a:ext cx="9125798" cy="596656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</p:pic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6832C229-675D-6B67-98A9-963FC4D0B01A}"/>
                </a:ext>
              </a:extLst>
            </p:cNvPr>
            <p:cNvSpPr/>
            <p:nvPr/>
          </p:nvSpPr>
          <p:spPr>
            <a:xfrm>
              <a:off x="3002972" y="889000"/>
              <a:ext cx="972127" cy="5562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0064411-D562-47FB-191D-B5D4B480A5F0}"/>
                </a:ext>
              </a:extLst>
            </p:cNvPr>
            <p:cNvSpPr/>
            <p:nvPr/>
          </p:nvSpPr>
          <p:spPr>
            <a:xfrm>
              <a:off x="1776845" y="2514600"/>
              <a:ext cx="706581" cy="128847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2B7F2DCD-B20C-362F-7F83-11445628EDE7}"/>
                </a:ext>
              </a:extLst>
            </p:cNvPr>
            <p:cNvSpPr/>
            <p:nvPr/>
          </p:nvSpPr>
          <p:spPr>
            <a:xfrm>
              <a:off x="7169726" y="889000"/>
              <a:ext cx="1057568" cy="99175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C614BC5-EA92-7AF2-9862-884D5655108D}"/>
                </a:ext>
              </a:extLst>
            </p:cNvPr>
            <p:cNvSpPr/>
            <p:nvPr/>
          </p:nvSpPr>
          <p:spPr>
            <a:xfrm>
              <a:off x="7169726" y="2125369"/>
              <a:ext cx="1057568" cy="184395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F395F784-B6FD-EDC8-92A0-BB431A826BCB}"/>
                </a:ext>
              </a:extLst>
            </p:cNvPr>
            <p:cNvSpPr/>
            <p:nvPr/>
          </p:nvSpPr>
          <p:spPr>
            <a:xfrm>
              <a:off x="9676382" y="2815936"/>
              <a:ext cx="735310" cy="3583709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827FFF92-0541-5E20-9CAC-3528D59D6907}"/>
                </a:ext>
              </a:extLst>
            </p:cNvPr>
            <p:cNvSpPr/>
            <p:nvPr/>
          </p:nvSpPr>
          <p:spPr>
            <a:xfrm>
              <a:off x="7211290" y="4478626"/>
              <a:ext cx="972126" cy="184395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EAE91A97-B03F-4E9F-F3E6-E0C873003B73}"/>
                </a:ext>
              </a:extLst>
            </p:cNvPr>
            <p:cNvSpPr/>
            <p:nvPr/>
          </p:nvSpPr>
          <p:spPr>
            <a:xfrm>
              <a:off x="4431278" y="5372099"/>
              <a:ext cx="1664721" cy="102754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3148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+mn-lt"/>
                <a:ea typeface="+mn-ea"/>
                <a:cs typeface="+mn-cs"/>
              </a:rPr>
              <a:t>3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.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수식 기반 시스템 모델링 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- </a:t>
            </a:r>
            <a:r>
              <a:rPr lang="ko-KR" altLang="en-US" dirty="0">
                <a:latin typeface="+mn-lt"/>
                <a:ea typeface="+mn-ea"/>
                <a:cs typeface="+mn-cs"/>
              </a:rPr>
              <a:t>엔진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4" y="1143344"/>
            <a:ext cx="11181836" cy="5481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7AB5C0-252C-472C-CA4A-28BDB03074DE}"/>
              </a:ext>
            </a:extLst>
          </p:cNvPr>
          <p:cNvSpPr txBox="1"/>
          <p:nvPr/>
        </p:nvSpPr>
        <p:spPr>
          <a:xfrm>
            <a:off x="508630" y="5765456"/>
            <a:ext cx="464475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500" b="1" dirty="0">
                <a:latin typeface="+mn-ea"/>
              </a:rPr>
              <a:t>BSFC </a:t>
            </a:r>
            <a:r>
              <a:rPr lang="ko-KR" altLang="en-US" sz="1500" b="1" dirty="0">
                <a:latin typeface="+mn-ea"/>
              </a:rPr>
              <a:t>맵</a:t>
            </a:r>
            <a:r>
              <a:rPr lang="en-US" altLang="ko-KR" sz="1500" b="1" dirty="0">
                <a:latin typeface="+mn-ea"/>
              </a:rPr>
              <a:t>(</a:t>
            </a:r>
            <a:r>
              <a:rPr lang="ko-KR" altLang="en-US" sz="1500" b="1" dirty="0">
                <a:latin typeface="+mn-ea"/>
              </a:rPr>
              <a:t>제동 연료 소비 효율</a:t>
            </a:r>
            <a:r>
              <a:rPr lang="en-US" altLang="ko-KR" sz="1500" b="1" dirty="0">
                <a:latin typeface="+mn-ea"/>
              </a:rPr>
              <a:t>)</a:t>
            </a:r>
            <a:r>
              <a:rPr lang="ko-KR" altLang="en-US" sz="1500" b="1" dirty="0">
                <a:latin typeface="+mn-ea"/>
              </a:rPr>
              <a:t> 에 따라 </a:t>
            </a:r>
            <a:endParaRPr lang="en-US" altLang="ko-KR" sz="1500" b="1" dirty="0">
              <a:latin typeface="+mn-ea"/>
            </a:endParaRPr>
          </a:p>
          <a:p>
            <a:pPr algn="ctr"/>
            <a:endParaRPr lang="en-US" altLang="ko-KR" sz="1500" b="1" dirty="0">
              <a:latin typeface="+mn-ea"/>
            </a:endParaRPr>
          </a:p>
          <a:p>
            <a:pPr algn="ctr"/>
            <a:r>
              <a:rPr lang="ko-KR" altLang="en-US" sz="1500" b="1" dirty="0">
                <a:latin typeface="+mn-ea"/>
              </a:rPr>
              <a:t>가장 효율이 좋은 지점에서만</a:t>
            </a:r>
            <a:r>
              <a:rPr lang="en-US" altLang="ko-KR" sz="1500" b="1" dirty="0">
                <a:latin typeface="+mn-ea"/>
              </a:rPr>
              <a:t> </a:t>
            </a:r>
            <a:r>
              <a:rPr lang="ko-KR" altLang="en-US" sz="1500" b="1" dirty="0">
                <a:latin typeface="+mn-ea"/>
              </a:rPr>
              <a:t>작동</a:t>
            </a:r>
            <a:endParaRPr lang="en-US" altLang="ko-KR" sz="15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E63830-1CB1-494F-9F67-9BEEA3AF2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27" y="3061442"/>
            <a:ext cx="4245635" cy="266595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BA4ED8B-E3AD-81AA-1950-D6288D34D4B0}"/>
              </a:ext>
            </a:extLst>
          </p:cNvPr>
          <p:cNvSpPr/>
          <p:nvPr/>
        </p:nvSpPr>
        <p:spPr>
          <a:xfrm>
            <a:off x="668285" y="1410781"/>
            <a:ext cx="1458319" cy="1478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엔진 속도 명령 값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엔진 토크 명령 값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76005CC-15C5-391E-3472-76DB669A26F8}"/>
              </a:ext>
            </a:extLst>
          </p:cNvPr>
          <p:cNvSpPr/>
          <p:nvPr/>
        </p:nvSpPr>
        <p:spPr>
          <a:xfrm>
            <a:off x="964636" y="1241556"/>
            <a:ext cx="887796" cy="28946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ysClr val="windowText" lastClr="000000"/>
                </a:solidFill>
              </a:rPr>
              <a:t>입력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D44FF5-0D69-1763-0611-E86F1EE44B25}"/>
              </a:ext>
            </a:extLst>
          </p:cNvPr>
          <p:cNvSpPr/>
          <p:nvPr/>
        </p:nvSpPr>
        <p:spPr>
          <a:xfrm>
            <a:off x="2251070" y="1410781"/>
            <a:ext cx="1369743" cy="1478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엔진 배기량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ysClr val="windowText" lastClr="000000"/>
                </a:solidFill>
              </a:rPr>
              <a:t>BSFC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맵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엔진 부피</a:t>
            </a:r>
            <a:endParaRPr lang="en-US" altLang="ko-KR" sz="1200" dirty="0">
              <a:solidFill>
                <a:sysClr val="windowText" lastClr="000000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FD2BFC1-B08E-FC84-C3B8-0630DBA3E718}"/>
              </a:ext>
            </a:extLst>
          </p:cNvPr>
          <p:cNvSpPr/>
          <p:nvPr/>
        </p:nvSpPr>
        <p:spPr>
          <a:xfrm>
            <a:off x="2547421" y="1246659"/>
            <a:ext cx="833873" cy="28946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ysClr val="windowText" lastClr="000000"/>
                </a:solidFill>
              </a:rPr>
              <a:t>파라미터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B17CB81-97F4-B48C-B347-9962047EFCF1}"/>
              </a:ext>
            </a:extLst>
          </p:cNvPr>
          <p:cNvSpPr/>
          <p:nvPr/>
        </p:nvSpPr>
        <p:spPr>
          <a:xfrm>
            <a:off x="3750035" y="1405678"/>
            <a:ext cx="1369743" cy="1478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엔진 토크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연료 소모량</a:t>
            </a:r>
            <a:endParaRPr lang="en-US" altLang="ko-KR" sz="1200" dirty="0">
              <a:solidFill>
                <a:sysClr val="windowText" lastClr="000000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27BC384-361B-7E79-17EA-26BF98F8A8C5}"/>
              </a:ext>
            </a:extLst>
          </p:cNvPr>
          <p:cNvSpPr/>
          <p:nvPr/>
        </p:nvSpPr>
        <p:spPr>
          <a:xfrm>
            <a:off x="4046386" y="1241556"/>
            <a:ext cx="833873" cy="28946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출력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213E6FA-E22F-7F60-1DBA-DA358F937722}"/>
              </a:ext>
            </a:extLst>
          </p:cNvPr>
          <p:cNvSpPr/>
          <p:nvPr/>
        </p:nvSpPr>
        <p:spPr>
          <a:xfrm>
            <a:off x="1722122" y="3897422"/>
            <a:ext cx="124466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2CB22D-58F0-E3BB-C103-CB17B65717E5}"/>
              </a:ext>
            </a:extLst>
          </p:cNvPr>
          <p:cNvSpPr txBox="1"/>
          <p:nvPr/>
        </p:nvSpPr>
        <p:spPr>
          <a:xfrm>
            <a:off x="1750874" y="3550031"/>
            <a:ext cx="1498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Sweet Spot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D6C1AB1-5885-B4ED-AEF6-3D5C90A552F0}"/>
                  </a:ext>
                </a:extLst>
              </p:cNvPr>
              <p:cNvSpPr txBox="1"/>
              <p:nvPr/>
            </p:nvSpPr>
            <p:spPr>
              <a:xfrm>
                <a:off x="5901859" y="1921539"/>
                <a:ext cx="5020684" cy="3525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500" b="1" dirty="0"/>
                  <a:t>요구 토크 확인</a:t>
                </a:r>
                <a:endParaRPr lang="en-US" altLang="ko-KR" sz="1500" b="1" dirty="0"/>
              </a:p>
              <a:p>
                <a:endParaRPr lang="en-US" altLang="ko-KR" sz="1500" b="1" dirty="0"/>
              </a:p>
              <a:p>
                <a:r>
                  <a:rPr lang="en-US" altLang="ko-KR" sz="1500" b="1" dirty="0"/>
                  <a:t> 1) </a:t>
                </a:r>
                <a:r>
                  <a:rPr lang="ko-KR" altLang="en-US" sz="1500" b="1" dirty="0"/>
                  <a:t>최대 토크 조회	</a:t>
                </a:r>
                <a:endParaRPr lang="en-US" altLang="ko-KR" sz="1500" b="1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𝑎𝑐𝑡𝑢𝑎𝑙</m:t>
                        </m:r>
                      </m:sub>
                    </m:sSub>
                    <m:r>
                      <a:rPr lang="en-US" altLang="ko-KR" sz="15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500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500" b="1" dirty="0"/>
                  <a:t> </a:t>
                </a:r>
              </a:p>
              <a:p>
                <a:endParaRPr lang="en-US" altLang="ko-KR" sz="1500" b="1" dirty="0"/>
              </a:p>
              <a:p>
                <a:endParaRPr lang="en-US" altLang="ko-KR" sz="1500" b="1" dirty="0"/>
              </a:p>
              <a:p>
                <a:r>
                  <a:rPr lang="en-US" altLang="ko-KR" sz="1500" b="1" dirty="0"/>
                  <a:t> 2) </a:t>
                </a:r>
                <a:r>
                  <a:rPr lang="ko-KR" altLang="en-US" sz="1500" b="1" dirty="0"/>
                  <a:t>기계적 출력 계산</a:t>
                </a:r>
                <a:endParaRPr lang="en-US" altLang="ko-KR" sz="1500" b="1" dirty="0"/>
              </a:p>
              <a:p>
                <a:endParaRPr lang="en-US" altLang="ko-KR" sz="15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𝑒𝑛𝑔</m:t>
                          </m:r>
                        </m:sub>
                      </m:sSub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𝑘𝑊</m:t>
                      </m:r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altLang="ko-K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ko-KR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5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ko-KR" sz="1500" i="1">
                                      <a:latin typeface="Cambria Math" panose="02040503050406030204" pitchFamily="18" charset="0"/>
                                    </a:rPr>
                                    <m:t>𝑎𝑐𝑡𝑢𝑎𝑙</m:t>
                                  </m:r>
                                </m:sub>
                              </m:sSub>
                              <m:r>
                                <a:rPr lang="en-US" altLang="ko-KR" sz="15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ko-KR" sz="1500" i="1">
                                  <a:latin typeface="Cambria Math" panose="02040503050406030204" pitchFamily="18" charset="0"/>
                                </a:rPr>
                                <m:t>𝑁𝑚</m:t>
                              </m:r>
                              <m:r>
                                <a:rPr lang="en-US" altLang="ko-KR" sz="1500" i="1">
                                  <a:latin typeface="Cambria Math" panose="02040503050406030204" pitchFamily="18" charset="0"/>
                                </a:rPr>
                                <m:t>]×</m:t>
                              </m:r>
                              <m:r>
                                <a:rPr lang="ko-KR" altLang="en-US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ko-K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𝑒𝑛𝑔</m:t>
                              </m:r>
                            </m:sub>
                          </m:sSub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𝑟𝑎𝑑</m:t>
                          </m:r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altLang="ko-K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US" altLang="ko-KR" sz="1500" b="1" dirty="0"/>
              </a:p>
              <a:p>
                <a:endParaRPr lang="en-US" altLang="ko-KR" sz="1500" b="1" dirty="0"/>
              </a:p>
              <a:p>
                <a:endParaRPr lang="en-US" altLang="ko-KR" sz="1500" b="1" dirty="0"/>
              </a:p>
              <a:p>
                <a:r>
                  <a:rPr lang="en-US" altLang="ko-KR" sz="1500" b="1" dirty="0"/>
                  <a:t> 3) </a:t>
                </a:r>
                <a:r>
                  <a:rPr lang="ko-KR" altLang="en-US" sz="1500" b="1" dirty="0"/>
                  <a:t>최종 연료 소모율 계산</a:t>
                </a:r>
                <a:endParaRPr lang="en-US" altLang="ko-KR" sz="15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ko-KR" sz="15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5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𝑓𝑢𝑒𝑙</m:t>
                          </m:r>
                        </m:sub>
                      </m:sSub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altLang="ko-K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𝑒𝑛𝑔</m:t>
                              </m:r>
                            </m:sub>
                          </m:sSub>
                          <m:r>
                            <a:rPr lang="en-US" altLang="ko-K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𝑘𝑊</m:t>
                          </m:r>
                          <m:r>
                            <a:rPr lang="en-US" altLang="ko-K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]×</m:t>
                          </m:r>
                          <m:r>
                            <a:rPr lang="en-US" altLang="ko-K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𝐵𝑆𝐹𝐶</m:t>
                          </m:r>
                          <m:r>
                            <a:rPr lang="en-US" altLang="ko-K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ko-K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ko-K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)[</m:t>
                          </m:r>
                          <m:r>
                            <a:rPr lang="en-US" altLang="ko-K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ko-K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ko-K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𝑘𝑊</m:t>
                          </m:r>
                          <m:r>
                            <a:rPr lang="en-US" altLang="ko-K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altLang="ko-K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3600</m:t>
                          </m:r>
                        </m:den>
                      </m:f>
                    </m:oMath>
                  </m:oMathPara>
                </a14:m>
                <a:endParaRPr lang="en-US" altLang="ko-KR" sz="15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D6C1AB1-5885-B4ED-AEF6-3D5C90A55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859" y="1921539"/>
                <a:ext cx="5020684" cy="3525196"/>
              </a:xfrm>
              <a:prstGeom prst="rect">
                <a:avLst/>
              </a:prstGeom>
              <a:blipFill>
                <a:blip r:embed="rId5"/>
                <a:stretch>
                  <a:fillRect l="-485" t="-3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직사각형 6">
            <a:extLst>
              <a:ext uri="{FF2B5EF4-FFF2-40B4-BE49-F238E27FC236}">
                <a16:creationId xmlns:a16="http://schemas.microsoft.com/office/drawing/2014/main" id="{7E4C02D2-8E8D-4427-1EE1-7A42C200709A}"/>
              </a:ext>
            </a:extLst>
          </p:cNvPr>
          <p:cNvSpPr/>
          <p:nvPr/>
        </p:nvSpPr>
        <p:spPr>
          <a:xfrm>
            <a:off x="5702935" y="1586464"/>
            <a:ext cx="5574016" cy="412819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1163AAF-5609-4A02-17BC-3B16DFFBCDDA}"/>
              </a:ext>
            </a:extLst>
          </p:cNvPr>
          <p:cNvSpPr/>
          <p:nvPr/>
        </p:nvSpPr>
        <p:spPr>
          <a:xfrm>
            <a:off x="7474146" y="1349199"/>
            <a:ext cx="2057400" cy="3809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연료 소모율 계산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C5BD9E-DC0B-C250-9396-A5ECD5709514}"/>
              </a:ext>
            </a:extLst>
          </p:cNvPr>
          <p:cNvSpPr txBox="1"/>
          <p:nvPr/>
        </p:nvSpPr>
        <p:spPr>
          <a:xfrm>
            <a:off x="5340667" y="5880777"/>
            <a:ext cx="629855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500" b="1" dirty="0">
                <a:latin typeface="+mn-ea"/>
              </a:rPr>
              <a:t>BSFC(Brake Specific Fuel Consumption) Map</a:t>
            </a:r>
            <a:r>
              <a:rPr lang="ko-KR" altLang="en-US" sz="1500" b="1" dirty="0">
                <a:latin typeface="+mn-ea"/>
              </a:rPr>
              <a:t>을 </a:t>
            </a:r>
            <a:endParaRPr lang="en-US" altLang="ko-KR" sz="1500" b="1" dirty="0">
              <a:latin typeface="+mn-ea"/>
            </a:endParaRPr>
          </a:p>
          <a:p>
            <a:pPr algn="ctr"/>
            <a:r>
              <a:rPr lang="en-US" altLang="ko-KR" sz="1500" b="1" dirty="0">
                <a:latin typeface="+mn-ea"/>
              </a:rPr>
              <a:t>2D Lookup Table</a:t>
            </a:r>
            <a:r>
              <a:rPr lang="ko-KR" altLang="en-US" sz="1500" b="1" dirty="0">
                <a:latin typeface="+mn-ea"/>
              </a:rPr>
              <a:t>로 구성하여</a:t>
            </a:r>
            <a:r>
              <a:rPr lang="en-US" altLang="ko-KR" sz="1500" b="1" dirty="0">
                <a:latin typeface="+mn-ea"/>
              </a:rPr>
              <a:t>, </a:t>
            </a:r>
            <a:r>
              <a:rPr lang="ko-KR" altLang="en-US" sz="1500" b="1" dirty="0">
                <a:latin typeface="+mn-ea"/>
              </a:rPr>
              <a:t>엔진의 </a:t>
            </a:r>
            <a:r>
              <a:rPr lang="ko-KR" altLang="en-US" sz="1500" b="1" dirty="0" err="1">
                <a:latin typeface="+mn-ea"/>
              </a:rPr>
              <a:t>비선형적인</a:t>
            </a:r>
            <a:r>
              <a:rPr lang="ko-KR" altLang="en-US" sz="1500" b="1" dirty="0">
                <a:latin typeface="+mn-ea"/>
              </a:rPr>
              <a:t> 특성을 반영함</a:t>
            </a:r>
            <a:endParaRPr lang="en-US" altLang="ko-KR" sz="15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35084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35EC5-8C5C-ADA7-8CD1-567DF1857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77F95C32-D908-F844-204E-6595976F0079}"/>
              </a:ext>
            </a:extLst>
          </p:cNvPr>
          <p:cNvSpPr/>
          <p:nvPr/>
        </p:nvSpPr>
        <p:spPr>
          <a:xfrm>
            <a:off x="581249" y="956078"/>
            <a:ext cx="2995150" cy="1096241"/>
          </a:xfrm>
          <a:prstGeom prst="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9DD9CF1C-2D5B-EE2A-5423-FE8AC52CA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32" y="2980557"/>
            <a:ext cx="11184562" cy="357444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430AC30-A03A-98C0-FD4E-38F555821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kern="1200" baseline="0" dirty="0">
                <a:latin typeface="+mn-lt"/>
                <a:ea typeface="+mn-ea"/>
                <a:cs typeface="+mn-cs"/>
              </a:rPr>
              <a:t>3.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수식 기반 시스템 모델링 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- </a:t>
            </a:r>
            <a:r>
              <a:rPr lang="ko-KR" altLang="en-US" dirty="0">
                <a:latin typeface="+mn-lt"/>
                <a:ea typeface="+mn-ea"/>
                <a:cs typeface="+mn-cs"/>
              </a:rPr>
              <a:t>엔진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9D95F36-3B9E-3AB9-AD5B-B796FC8BA149}"/>
              </a:ext>
            </a:extLst>
          </p:cNvPr>
          <p:cNvSpPr/>
          <p:nvPr/>
        </p:nvSpPr>
        <p:spPr>
          <a:xfrm>
            <a:off x="501534" y="873760"/>
            <a:ext cx="11272702" cy="57505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BF418E5-FA79-54C7-8558-0FD667182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836" y="908684"/>
            <a:ext cx="3581368" cy="2144050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75B6CD2E-33C4-A11E-B7BC-4E8B38C62264}"/>
              </a:ext>
            </a:extLst>
          </p:cNvPr>
          <p:cNvSpPr/>
          <p:nvPr/>
        </p:nvSpPr>
        <p:spPr>
          <a:xfrm>
            <a:off x="3241954" y="3653678"/>
            <a:ext cx="842365" cy="8639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0B2359-7F46-8F66-FE2F-1160729DDBFB}"/>
              </a:ext>
            </a:extLst>
          </p:cNvPr>
          <p:cNvSpPr/>
          <p:nvPr/>
        </p:nvSpPr>
        <p:spPr>
          <a:xfrm>
            <a:off x="656314" y="1184630"/>
            <a:ext cx="1306995" cy="7047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요구 엔진 속도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요구 엔진 토크</a:t>
            </a:r>
            <a:endParaRPr lang="en-US" altLang="ko-KR" sz="1200" dirty="0">
              <a:solidFill>
                <a:sysClr val="windowText" lastClr="000000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3BD143B-2379-7A48-D7DF-225F46B42BD3}"/>
              </a:ext>
            </a:extLst>
          </p:cNvPr>
          <p:cNvSpPr/>
          <p:nvPr/>
        </p:nvSpPr>
        <p:spPr>
          <a:xfrm>
            <a:off x="991719" y="1020508"/>
            <a:ext cx="690246" cy="27066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입력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E798BF4-92B7-EC83-26E0-80485729D216}"/>
              </a:ext>
            </a:extLst>
          </p:cNvPr>
          <p:cNvSpPr/>
          <p:nvPr/>
        </p:nvSpPr>
        <p:spPr>
          <a:xfrm>
            <a:off x="2182998" y="1184630"/>
            <a:ext cx="1306995" cy="7047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엔진 토크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연료 소모량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3B4F43B-A582-2D47-5545-4FCEA846E0B6}"/>
              </a:ext>
            </a:extLst>
          </p:cNvPr>
          <p:cNvSpPr/>
          <p:nvPr/>
        </p:nvSpPr>
        <p:spPr>
          <a:xfrm>
            <a:off x="2518403" y="1025611"/>
            <a:ext cx="690246" cy="27066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출력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F6406BC-FE61-AF28-2680-AD11B60C8664}"/>
              </a:ext>
            </a:extLst>
          </p:cNvPr>
          <p:cNvGrpSpPr/>
          <p:nvPr/>
        </p:nvGrpSpPr>
        <p:grpSpPr>
          <a:xfrm>
            <a:off x="8743388" y="983860"/>
            <a:ext cx="2942706" cy="1775684"/>
            <a:chOff x="7924203" y="1038636"/>
            <a:chExt cx="3766263" cy="2219617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A1F47587-0D10-402F-A6D2-3B9C26B9E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4203" y="1038636"/>
              <a:ext cx="3766263" cy="22196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DC20C17-2252-26B0-E738-ACDAA78EB8EA}"/>
                </a:ext>
              </a:extLst>
            </p:cNvPr>
            <p:cNvSpPr/>
            <p:nvPr/>
          </p:nvSpPr>
          <p:spPr>
            <a:xfrm>
              <a:off x="8530826" y="1070324"/>
              <a:ext cx="401202" cy="206933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3E1D004-D7CA-8DDE-3154-B93751FC2BC8}"/>
                </a:ext>
              </a:extLst>
            </p:cNvPr>
            <p:cNvSpPr/>
            <p:nvPr/>
          </p:nvSpPr>
          <p:spPr>
            <a:xfrm>
              <a:off x="8024797" y="1675062"/>
              <a:ext cx="291610" cy="4793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4D9B467-652D-D083-EE65-008573ACC4CF}"/>
                </a:ext>
              </a:extLst>
            </p:cNvPr>
            <p:cNvSpPr/>
            <p:nvPr/>
          </p:nvSpPr>
          <p:spPr>
            <a:xfrm>
              <a:off x="10250467" y="1070324"/>
              <a:ext cx="436464" cy="3689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C6263D9-09AC-D6FA-6FF2-1084DEF45981}"/>
                </a:ext>
              </a:extLst>
            </p:cNvPr>
            <p:cNvSpPr/>
            <p:nvPr/>
          </p:nvSpPr>
          <p:spPr>
            <a:xfrm>
              <a:off x="10250467" y="1530264"/>
              <a:ext cx="436464" cy="6859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A77ABB0-F3AF-43DF-3341-D5BF65C90B0B}"/>
                </a:ext>
              </a:extLst>
            </p:cNvPr>
            <p:cNvSpPr/>
            <p:nvPr/>
          </p:nvSpPr>
          <p:spPr>
            <a:xfrm>
              <a:off x="11284976" y="1787162"/>
              <a:ext cx="303466" cy="13331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60C0991B-1F68-A8D9-DA48-A5A5934EEC92}"/>
                </a:ext>
              </a:extLst>
            </p:cNvPr>
            <p:cNvSpPr/>
            <p:nvPr/>
          </p:nvSpPr>
          <p:spPr>
            <a:xfrm>
              <a:off x="10267620" y="2405697"/>
              <a:ext cx="401201" cy="6859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920F046-8515-D6E9-921B-C316C5CFA3FD}"/>
                </a:ext>
              </a:extLst>
            </p:cNvPr>
            <p:cNvSpPr/>
            <p:nvPr/>
          </p:nvSpPr>
          <p:spPr>
            <a:xfrm>
              <a:off x="9120295" y="2738077"/>
              <a:ext cx="687039" cy="38225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5A896C9-384E-CCC6-CE69-79B11D01907A}"/>
              </a:ext>
            </a:extLst>
          </p:cNvPr>
          <p:cNvCxnSpPr>
            <a:cxnSpLocks/>
          </p:cNvCxnSpPr>
          <p:nvPr/>
        </p:nvCxnSpPr>
        <p:spPr>
          <a:xfrm flipV="1">
            <a:off x="4084319" y="3052734"/>
            <a:ext cx="711201" cy="6731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415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kern="1200" baseline="0" dirty="0">
                <a:latin typeface="+mn-lt"/>
                <a:ea typeface="+mn-ea"/>
                <a:cs typeface="+mn-cs"/>
              </a:rPr>
              <a:t>3.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수식 기반 시스템 모델링 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- </a:t>
            </a:r>
            <a:r>
              <a:rPr lang="ko-KR" altLang="en-US" dirty="0">
                <a:latin typeface="+mn-lt"/>
                <a:ea typeface="+mn-ea"/>
                <a:cs typeface="+mn-cs"/>
              </a:rPr>
              <a:t>모터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4" y="1143344"/>
            <a:ext cx="11272702" cy="5481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88A3B5-AC99-12A7-C391-E8E97CE952FD}"/>
              </a:ext>
            </a:extLst>
          </p:cNvPr>
          <p:cNvSpPr/>
          <p:nvPr/>
        </p:nvSpPr>
        <p:spPr>
          <a:xfrm>
            <a:off x="853074" y="1572753"/>
            <a:ext cx="1515005" cy="16765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요구 구동 토크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요구 회생제동 토크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모터 회전 수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배터리 전압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812EF7F-B55F-9805-C223-F9CD815027BC}"/>
              </a:ext>
            </a:extLst>
          </p:cNvPr>
          <p:cNvSpPr/>
          <p:nvPr/>
        </p:nvSpPr>
        <p:spPr>
          <a:xfrm>
            <a:off x="1149424" y="1403528"/>
            <a:ext cx="922305" cy="3282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ysClr val="windowText" lastClr="000000"/>
                </a:solidFill>
              </a:rPr>
              <a:t>입력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FEA974-8237-A0DB-D043-86BFF9457764}"/>
              </a:ext>
            </a:extLst>
          </p:cNvPr>
          <p:cNvSpPr/>
          <p:nvPr/>
        </p:nvSpPr>
        <p:spPr>
          <a:xfrm>
            <a:off x="2435859" y="1572753"/>
            <a:ext cx="1515005" cy="16765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모터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시상수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모터 효율 맵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F1AB709-A970-A590-7B38-0EC0BFC61B69}"/>
              </a:ext>
            </a:extLst>
          </p:cNvPr>
          <p:cNvSpPr/>
          <p:nvPr/>
        </p:nvSpPr>
        <p:spPr>
          <a:xfrm>
            <a:off x="2732209" y="1408631"/>
            <a:ext cx="922305" cy="3282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ysClr val="windowText" lastClr="000000"/>
                </a:solidFill>
              </a:rPr>
              <a:t>파라미터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4DD8778-AE88-7B50-4890-A6454BD3ABF3}"/>
              </a:ext>
            </a:extLst>
          </p:cNvPr>
          <p:cNvSpPr/>
          <p:nvPr/>
        </p:nvSpPr>
        <p:spPr>
          <a:xfrm>
            <a:off x="4018644" y="1567650"/>
            <a:ext cx="1515005" cy="16765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구동 토크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회생제동 토크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요구 배터리 전류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1CB0BC1-77BB-53CC-72C1-690A66BDDC4D}"/>
              </a:ext>
            </a:extLst>
          </p:cNvPr>
          <p:cNvSpPr/>
          <p:nvPr/>
        </p:nvSpPr>
        <p:spPr>
          <a:xfrm>
            <a:off x="4314994" y="1403528"/>
            <a:ext cx="922305" cy="3282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출력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5CBB3BB-0A4F-8E20-CED0-81808720C4C5}"/>
                  </a:ext>
                </a:extLst>
              </p:cNvPr>
              <p:cNvSpPr txBox="1"/>
              <p:nvPr/>
            </p:nvSpPr>
            <p:spPr>
              <a:xfrm>
                <a:off x="5966671" y="4331137"/>
                <a:ext cx="5463499" cy="2099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500" b="1" dirty="0"/>
                  <a:t>1. </a:t>
                </a:r>
                <a:r>
                  <a:rPr lang="ko-KR" altLang="en-US" sz="1500" b="1" dirty="0"/>
                  <a:t>구동 파워와 회생제동 파워로 요구 파워</a:t>
                </a:r>
                <a:r>
                  <a:rPr lang="en-US" altLang="ko-KR" sz="1500" b="1" dirty="0"/>
                  <a:t>(</a:t>
                </a:r>
                <a:r>
                  <a:rPr lang="en-US" altLang="ko-KR" sz="1500" b="1" dirty="0" err="1"/>
                  <a:t>P_sum</a:t>
                </a:r>
                <a:r>
                  <a:rPr lang="en-US" altLang="ko-KR" sz="1500" b="1" dirty="0"/>
                  <a:t>)</a:t>
                </a:r>
                <a:r>
                  <a:rPr lang="ko-KR" altLang="en-US" sz="1500" b="1" dirty="0"/>
                  <a:t>계산</a:t>
                </a:r>
                <a:endParaRPr lang="en-US" altLang="ko-KR" sz="15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𝑠𝑢𝑚</m:t>
                          </m:r>
                        </m:sub>
                      </m:sSub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𝑝𝑟𝑜𝑝</m:t>
                          </m:r>
                        </m:sub>
                      </m:sSub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𝑟𝑒𝑔𝑒𝑛</m:t>
                          </m:r>
                        </m:sub>
                      </m:sSub>
                    </m:oMath>
                  </m:oMathPara>
                </a14:m>
                <a:endParaRPr lang="en-US" altLang="ko-KR" sz="1500" b="1" dirty="0"/>
              </a:p>
              <a:p>
                <a:br>
                  <a:rPr lang="en-US" altLang="ko-KR" sz="1500" b="1" dirty="0"/>
                </a:br>
                <a:r>
                  <a:rPr lang="en-US" altLang="ko-KR" sz="1500" b="1" dirty="0"/>
                  <a:t>2. </a:t>
                </a:r>
                <a:r>
                  <a:rPr lang="ko-KR" altLang="en-US" sz="1500" b="1" dirty="0"/>
                  <a:t>방전 및 충전 시 효율</a:t>
                </a:r>
                <a:r>
                  <a:rPr lang="en-US" altLang="ko-KR" sz="1500" b="1" dirty="0"/>
                  <a:t>(</a:t>
                </a:r>
                <a:r>
                  <a:rPr lang="en-US" altLang="ko-KR" sz="1500" b="1" dirty="0" err="1"/>
                  <a:t>eff_m</a:t>
                </a:r>
                <a:r>
                  <a:rPr lang="en-US" altLang="ko-KR" sz="1500" b="1" dirty="0"/>
                  <a:t>)</a:t>
                </a:r>
                <a:r>
                  <a:rPr lang="ko-KR" altLang="en-US" sz="1500" b="1" dirty="0"/>
                  <a:t>을</a:t>
                </a:r>
                <a:r>
                  <a:rPr lang="en-US" altLang="ko-KR" sz="1500" b="1" dirty="0"/>
                  <a:t> </a:t>
                </a:r>
                <a:r>
                  <a:rPr lang="ko-KR" altLang="en-US" sz="1500" b="1" dirty="0"/>
                  <a:t>고려하여 전기적 파워 계산</a:t>
                </a:r>
                <a:endParaRPr lang="en-US" altLang="ko-KR" sz="1500" b="1" dirty="0"/>
              </a:p>
              <a:p>
                <a:pPr algn="ctr">
                  <a:lnSpc>
                    <a:spcPct val="150000"/>
                  </a:lnSpc>
                </a:pPr>
                <a:r>
                  <a:rPr lang="ko-KR" altLang="en-US" sz="1500" dirty="0"/>
                  <a:t>충전 시</a:t>
                </a:r>
                <a:r>
                  <a:rPr lang="en-US" altLang="ko-KR" sz="15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500" b="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ko-KR" sz="15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500" b="0" i="1">
                            <a:latin typeface="Cambria Math" panose="02040503050406030204" pitchFamily="18" charset="0"/>
                          </a:rPr>
                          <m:t>𝑝𝑟𝑜𝑝</m:t>
                        </m:r>
                      </m:sub>
                    </m:sSub>
                    <m:r>
                      <a:rPr lang="en-US" altLang="ko-KR" sz="15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5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ko-KR" sz="1500" dirty="0"/>
                  <a:t>), </a:t>
                </a:r>
                <a:r>
                  <a:rPr lang="ko-KR" altLang="en-US" sz="1500" dirty="0"/>
                  <a:t>방전 시</a:t>
                </a:r>
                <a:r>
                  <a:rPr lang="en-US" altLang="ko-KR" sz="15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500" b="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ko-KR" sz="15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500" b="0" i="1">
                            <a:latin typeface="Cambria Math" panose="02040503050406030204" pitchFamily="18" charset="0"/>
                          </a:rPr>
                          <m:t>𝑝𝑟𝑜𝑝</m:t>
                        </m:r>
                      </m:sub>
                    </m:sSub>
                    <m:r>
                      <a:rPr lang="en-US" altLang="ko-KR" sz="15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ko-KR" altLang="en-US" sz="1500" b="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ko-KR" sz="1500" dirty="0"/>
                  <a:t>)</a:t>
                </a:r>
              </a:p>
              <a:p>
                <a:endParaRPr lang="en-US" altLang="ko-KR" sz="1500" b="1" dirty="0"/>
              </a:p>
              <a:p>
                <a:r>
                  <a:rPr lang="en-US" altLang="ko-KR" sz="1500" b="1" dirty="0"/>
                  <a:t>3. </a:t>
                </a:r>
                <a:r>
                  <a:rPr lang="ko-KR" altLang="en-US" sz="1500" b="1" dirty="0"/>
                  <a:t>구동 전압으로부터 요구 </a:t>
                </a:r>
                <a:r>
                  <a:rPr lang="ko-KR" altLang="en-US" sz="1500" b="1" dirty="0" err="1"/>
                  <a:t>전류값</a:t>
                </a:r>
                <a:r>
                  <a:rPr lang="ko-KR" altLang="en-US" sz="1500" b="1" dirty="0"/>
                  <a:t> 계산</a:t>
                </a:r>
                <a:endParaRPr lang="en-US" altLang="ko-KR" sz="15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ko-KR" altLang="en-US" sz="15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5CBB3BB-0A4F-8E20-CED0-81808720C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671" y="4331137"/>
                <a:ext cx="5463499" cy="2099806"/>
              </a:xfrm>
              <a:prstGeom prst="rect">
                <a:avLst/>
              </a:prstGeom>
              <a:blipFill>
                <a:blip r:embed="rId4"/>
                <a:stretch>
                  <a:fillRect l="-446" t="-580" b="-11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그림 39">
            <a:extLst>
              <a:ext uri="{FF2B5EF4-FFF2-40B4-BE49-F238E27FC236}">
                <a16:creationId xmlns:a16="http://schemas.microsoft.com/office/drawing/2014/main" id="{FF45FFDB-2425-D573-24A2-BA48CDC1CD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30" y="3394212"/>
            <a:ext cx="4719657" cy="314643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AB64CD6-90E7-6381-CFE7-B71BF9EF580D}"/>
              </a:ext>
            </a:extLst>
          </p:cNvPr>
          <p:cNvSpPr/>
          <p:nvPr/>
        </p:nvSpPr>
        <p:spPr>
          <a:xfrm>
            <a:off x="5871034" y="1571307"/>
            <a:ext cx="5574016" cy="202159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CE0C91B-9A67-8D59-D51A-2CC72E543F74}"/>
              </a:ext>
            </a:extLst>
          </p:cNvPr>
          <p:cNvSpPr/>
          <p:nvPr/>
        </p:nvSpPr>
        <p:spPr>
          <a:xfrm>
            <a:off x="7642245" y="1334042"/>
            <a:ext cx="2057400" cy="4680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모터 </a:t>
            </a:r>
            <a:r>
              <a:rPr lang="en-US" altLang="ko-KR" sz="1500" b="1" dirty="0">
                <a:solidFill>
                  <a:schemeClr val="tx1"/>
                </a:solidFill>
              </a:rPr>
              <a:t>1</a:t>
            </a:r>
            <a:r>
              <a:rPr lang="ko-KR" altLang="en-US" sz="1500" b="1" dirty="0">
                <a:solidFill>
                  <a:schemeClr val="tx1"/>
                </a:solidFill>
              </a:rPr>
              <a:t>차 지연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5BC9FA3-0DD7-F9AE-5095-FC41D1D5437A}"/>
              </a:ext>
            </a:extLst>
          </p:cNvPr>
          <p:cNvSpPr/>
          <p:nvPr/>
        </p:nvSpPr>
        <p:spPr>
          <a:xfrm>
            <a:off x="5871034" y="4020865"/>
            <a:ext cx="5574016" cy="244064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F31F36-7735-F082-22D1-B9F2AEE53D22}"/>
              </a:ext>
            </a:extLst>
          </p:cNvPr>
          <p:cNvSpPr/>
          <p:nvPr/>
        </p:nvSpPr>
        <p:spPr>
          <a:xfrm>
            <a:off x="7642245" y="3783600"/>
            <a:ext cx="2057400" cy="4680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요구 전력 계산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765924-10A7-11B2-E8A8-92C8603374E7}"/>
              </a:ext>
            </a:extLst>
          </p:cNvPr>
          <p:cNvSpPr txBox="1"/>
          <p:nvPr/>
        </p:nvSpPr>
        <p:spPr>
          <a:xfrm>
            <a:off x="6064830" y="1841901"/>
            <a:ext cx="5267179" cy="740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/>
              <a:t>VCU</a:t>
            </a:r>
            <a:r>
              <a:rPr lang="ko-KR" altLang="en-US" sz="1500" b="1" dirty="0"/>
              <a:t>가 토크를 명령해도</a:t>
            </a:r>
            <a:r>
              <a:rPr lang="en-US" altLang="ko-KR" sz="1500" b="1" dirty="0"/>
              <a:t>, </a:t>
            </a:r>
            <a:r>
              <a:rPr lang="ko-KR" altLang="en-US" sz="1500" b="1" dirty="0"/>
              <a:t>모터의 관성과 전기적 시상수로 인해 실제 토크가 곧바로 발생하지 않음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33615C4-09F6-A37B-F39E-45880EF98D35}"/>
                  </a:ext>
                </a:extLst>
              </p:cNvPr>
              <p:cNvSpPr txBox="1"/>
              <p:nvPr/>
            </p:nvSpPr>
            <p:spPr>
              <a:xfrm>
                <a:off x="7321884" y="2715180"/>
                <a:ext cx="2672315" cy="679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𝑑𝑒𝑠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33615C4-09F6-A37B-F39E-45880EF98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884" y="2715180"/>
                <a:ext cx="2672315" cy="6790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8CD0D2D-D51C-1BE6-41E8-0264E6C7DEE4}"/>
                  </a:ext>
                </a:extLst>
              </p:cNvPr>
              <p:cNvSpPr txBox="1"/>
              <p:nvPr/>
            </p:nvSpPr>
            <p:spPr>
              <a:xfrm>
                <a:off x="10110507" y="2931585"/>
                <a:ext cx="125997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ko-KR" altLang="en-US" sz="1000" b="0" i="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000" b="0" i="0" dirty="0">
                    <a:latin typeface="Cambria Math" panose="02040503050406030204" pitchFamily="18" charset="0"/>
                  </a:rPr>
                  <a:t>:</a:t>
                </a:r>
                <a:r>
                  <a:rPr lang="ko-KR" altLang="en-US" sz="1000" b="0" i="0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1000" dirty="0">
                    <a:latin typeface="Cambria Math" panose="02040503050406030204" pitchFamily="18" charset="0"/>
                  </a:rPr>
                  <a:t>모터 </a:t>
                </a:r>
                <a:r>
                  <a:rPr lang="ko-KR" altLang="en-US" sz="1000" dirty="0" err="1">
                    <a:latin typeface="Cambria Math" panose="02040503050406030204" pitchFamily="18" charset="0"/>
                  </a:rPr>
                  <a:t>시상수</a:t>
                </a:r>
                <a:endParaRPr lang="ko-KR" altLang="en-US" sz="1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8CD0D2D-D51C-1BE6-41E8-0264E6C7D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0507" y="2931585"/>
                <a:ext cx="1259971" cy="246221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9857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>
            <a:extLst>
              <a:ext uri="{FF2B5EF4-FFF2-40B4-BE49-F238E27FC236}">
                <a16:creationId xmlns:a16="http://schemas.microsoft.com/office/drawing/2014/main" id="{D63B49E6-BA2F-6E31-69DA-7F678A193D83}"/>
              </a:ext>
            </a:extLst>
          </p:cNvPr>
          <p:cNvSpPr/>
          <p:nvPr/>
        </p:nvSpPr>
        <p:spPr>
          <a:xfrm>
            <a:off x="591639" y="956079"/>
            <a:ext cx="3419251" cy="1665202"/>
          </a:xfrm>
          <a:prstGeom prst="rect">
            <a:avLst/>
          </a:prstGeom>
          <a:solidFill>
            <a:srgbClr val="00B0F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71261252-9794-3EE0-3556-EC9486423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08" y="2750952"/>
            <a:ext cx="7329919" cy="382337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kern="1200" baseline="0" dirty="0">
                <a:latin typeface="+mn-lt"/>
                <a:ea typeface="+mn-ea"/>
                <a:cs typeface="+mn-cs"/>
              </a:rPr>
              <a:t>3.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수식 기반 시스템 모델링 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- </a:t>
            </a:r>
            <a:r>
              <a:rPr lang="ko-KR" altLang="en-US" dirty="0">
                <a:latin typeface="+mn-lt"/>
                <a:ea typeface="+mn-ea"/>
                <a:cs typeface="+mn-cs"/>
              </a:rPr>
              <a:t>모터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4" y="873760"/>
            <a:ext cx="11272702" cy="5750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25B5D5-2CEE-05A2-185E-AB31F8A63254}"/>
              </a:ext>
            </a:extLst>
          </p:cNvPr>
          <p:cNvSpPr/>
          <p:nvPr/>
        </p:nvSpPr>
        <p:spPr>
          <a:xfrm>
            <a:off x="1784050" y="4760682"/>
            <a:ext cx="1071699" cy="132160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299569-D721-49D5-78DC-6591330AFDE0}"/>
              </a:ext>
            </a:extLst>
          </p:cNvPr>
          <p:cNvSpPr/>
          <p:nvPr/>
        </p:nvSpPr>
        <p:spPr>
          <a:xfrm>
            <a:off x="3022151" y="2982483"/>
            <a:ext cx="4901757" cy="104725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F166BE8F-9EF5-3494-DEE2-C88400198779}"/>
              </a:ext>
            </a:extLst>
          </p:cNvPr>
          <p:cNvGrpSpPr/>
          <p:nvPr/>
        </p:nvGrpSpPr>
        <p:grpSpPr>
          <a:xfrm>
            <a:off x="9525584" y="3629507"/>
            <a:ext cx="1737022" cy="1279016"/>
            <a:chOff x="9439049" y="3429000"/>
            <a:chExt cx="2684194" cy="1750205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21E3DE13-441B-A7E0-76F9-D03CB723300D}"/>
                </a:ext>
              </a:extLst>
            </p:cNvPr>
            <p:cNvSpPr/>
            <p:nvPr/>
          </p:nvSpPr>
          <p:spPr>
            <a:xfrm>
              <a:off x="9439049" y="3429000"/>
              <a:ext cx="2684192" cy="17221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ysClr val="windowText" lastClr="000000"/>
                  </a:solidFill>
                </a:rPr>
                <a:t>수식</a:t>
              </a:r>
              <a:endParaRPr lang="en-US" altLang="ko-KR" sz="1400" b="1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ko-KR" sz="1400" dirty="0"/>
            </a:p>
            <a:p>
              <a:pPr algn="ctr"/>
              <a:endParaRPr lang="en-US" altLang="ko-KR" sz="1400" dirty="0"/>
            </a:p>
            <a:p>
              <a:pPr algn="ctr"/>
              <a:endParaRPr lang="en-US" altLang="ko-KR" sz="1400" dirty="0"/>
            </a:p>
            <a:p>
              <a:pPr algn="ctr"/>
              <a:endParaRPr lang="en-US" altLang="ko-KR" sz="1400" dirty="0"/>
            </a:p>
            <a:p>
              <a:pPr algn="just"/>
              <a:endParaRPr lang="ko-KR" alt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3AF7431-1070-1C77-F276-F0CFE5A8B28A}"/>
                    </a:ext>
                  </a:extLst>
                </p:cNvPr>
                <p:cNvSpPr txBox="1"/>
                <p:nvPr/>
              </p:nvSpPr>
              <p:spPr>
                <a:xfrm>
                  <a:off x="9452736" y="3981022"/>
                  <a:ext cx="2670507" cy="31876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𝑠𝑢𝑚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𝑝𝑟𝑜𝑝</m:t>
                            </m:r>
                          </m:sub>
                        </m:s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𝑟𝑒𝑔𝑒𝑛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3AF7431-1070-1C77-F276-F0CFE5A8B2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2736" y="3981022"/>
                  <a:ext cx="2670507" cy="318767"/>
                </a:xfrm>
                <a:prstGeom prst="rect">
                  <a:avLst/>
                </a:prstGeom>
                <a:blipFill>
                  <a:blip r:embed="rId4"/>
                  <a:stretch>
                    <a:fillRect l="-1408" b="-1842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1F917CD-633D-6446-A828-04B34CB5E2CA}"/>
                    </a:ext>
                  </a:extLst>
                </p:cNvPr>
                <p:cNvSpPr txBox="1"/>
                <p:nvPr/>
              </p:nvSpPr>
              <p:spPr>
                <a:xfrm>
                  <a:off x="9452736" y="3756193"/>
                  <a:ext cx="1009269" cy="294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ko-KR" altLang="en-US" sz="1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1F917CD-633D-6446-A828-04B34CB5E2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2736" y="3756193"/>
                  <a:ext cx="1009269" cy="294813"/>
                </a:xfrm>
                <a:prstGeom prst="rect">
                  <a:avLst/>
                </a:prstGeom>
                <a:blipFill>
                  <a:blip r:embed="rId5"/>
                  <a:stretch>
                    <a:fillRect l="-3738" r="-935" b="-114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A8E3C4C-F259-80CA-D2E9-A04A39BA2F27}"/>
                    </a:ext>
                  </a:extLst>
                </p:cNvPr>
                <p:cNvSpPr txBox="1"/>
                <p:nvPr/>
              </p:nvSpPr>
              <p:spPr>
                <a:xfrm>
                  <a:off x="9439051" y="4577189"/>
                  <a:ext cx="2423294" cy="3175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𝑝𝑟𝑜𝑝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ko-KR" altLang="en-US" sz="1400" b="0" i="1" smtClean="0">
                          <a:latin typeface="Cambria Math" panose="02040503050406030204" pitchFamily="18" charset="0"/>
                        </a:rPr>
                        <m:t>𝜂</m:t>
                      </m:r>
                    </m:oMath>
                  </a14:m>
                  <a:r>
                    <a:rPr lang="en-US" altLang="ko-KR" sz="1400" dirty="0"/>
                    <a:t>(</a:t>
                  </a:r>
                  <a:r>
                    <a:rPr lang="ko-KR" altLang="en-US" sz="1400" dirty="0"/>
                    <a:t>충전</a:t>
                  </a:r>
                  <a:r>
                    <a:rPr lang="en-US" altLang="ko-KR" sz="1400" dirty="0"/>
                    <a:t>)</a:t>
                  </a:r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A8E3C4C-F259-80CA-D2E9-A04A39BA2F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9051" y="4577189"/>
                  <a:ext cx="2423294" cy="317539"/>
                </a:xfrm>
                <a:prstGeom prst="rect">
                  <a:avLst/>
                </a:prstGeom>
                <a:blipFill>
                  <a:blip r:embed="rId6"/>
                  <a:stretch>
                    <a:fillRect l="-3891" t="-26316" r="-6226" b="-3684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A7B3A62-53DE-F851-14AF-7138F152EC65}"/>
                    </a:ext>
                  </a:extLst>
                </p:cNvPr>
                <p:cNvSpPr txBox="1"/>
                <p:nvPr/>
              </p:nvSpPr>
              <p:spPr>
                <a:xfrm>
                  <a:off x="9452736" y="4280093"/>
                  <a:ext cx="2294485" cy="3175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𝑝𝑟𝑜𝑝</m:t>
                          </m:r>
                        </m:sub>
                      </m:sSub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</m:oMath>
                  </a14:m>
                  <a:r>
                    <a:rPr lang="en-US" altLang="ko-KR" sz="1400" dirty="0"/>
                    <a:t>(</a:t>
                  </a:r>
                  <a:r>
                    <a:rPr lang="ko-KR" altLang="en-US" sz="1400" dirty="0"/>
                    <a:t>방전</a:t>
                  </a:r>
                  <a:r>
                    <a:rPr lang="en-US" altLang="ko-KR" sz="1400" dirty="0"/>
                    <a:t>)</a:t>
                  </a:r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A7B3A62-53DE-F851-14AF-7138F152E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2736" y="4280093"/>
                  <a:ext cx="2294485" cy="317539"/>
                </a:xfrm>
                <a:prstGeom prst="rect">
                  <a:avLst/>
                </a:prstGeom>
                <a:blipFill>
                  <a:blip r:embed="rId7"/>
                  <a:stretch>
                    <a:fillRect l="-4098" t="-26316" r="-6148" b="-3684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277EA0F-B1DA-00CD-AD8D-18D6E4E7DF17}"/>
                    </a:ext>
                  </a:extLst>
                </p:cNvPr>
                <p:cNvSpPr txBox="1"/>
                <p:nvPr/>
              </p:nvSpPr>
              <p:spPr>
                <a:xfrm>
                  <a:off x="9499668" y="4884392"/>
                  <a:ext cx="867877" cy="2948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a14:m>
                  <a:r>
                    <a:rPr lang="en-US" altLang="ko-KR" sz="1400" dirty="0"/>
                    <a:t>=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277EA0F-B1DA-00CD-AD8D-18D6E4E7DF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9668" y="4884392"/>
                  <a:ext cx="867877" cy="294813"/>
                </a:xfrm>
                <a:prstGeom prst="rect">
                  <a:avLst/>
                </a:prstGeom>
                <a:blipFill>
                  <a:blip r:embed="rId8"/>
                  <a:stretch>
                    <a:fillRect l="-10870" t="-25714" r="-8696" b="-514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DF856121-E5C3-C0D4-69A8-3FD94296FB15}"/>
              </a:ext>
            </a:extLst>
          </p:cNvPr>
          <p:cNvCxnSpPr>
            <a:cxnSpLocks/>
          </p:cNvCxnSpPr>
          <p:nvPr/>
        </p:nvCxnSpPr>
        <p:spPr>
          <a:xfrm flipV="1">
            <a:off x="2855749" y="5017008"/>
            <a:ext cx="1970523" cy="4044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DDA9AAB-6339-D1F3-73D9-55356316534D}"/>
                  </a:ext>
                </a:extLst>
              </p:cNvPr>
              <p:cNvSpPr txBox="1"/>
              <p:nvPr/>
            </p:nvSpPr>
            <p:spPr>
              <a:xfrm>
                <a:off x="4845276" y="4662638"/>
                <a:ext cx="2187476" cy="5232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b="1" dirty="0"/>
                  <a:t>모터 </a:t>
                </a:r>
                <a:r>
                  <a:rPr lang="ko-KR" altLang="en-US" sz="1400" b="1" dirty="0" err="1"/>
                  <a:t>시상수</a:t>
                </a:r>
                <a:r>
                  <a:rPr lang="ko-KR" altLang="en-US" sz="1400" b="1" dirty="0"/>
                  <a:t> </a:t>
                </a:r>
                <a:r>
                  <a:rPr lang="en-US" altLang="ko-KR" sz="1400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b="1" i="1"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ko-KR" sz="1400" b="1" dirty="0"/>
                  <a:t>)</a:t>
                </a:r>
                <a:r>
                  <a:rPr lang="ko-KR" altLang="en-US" sz="1400" b="1" dirty="0"/>
                  <a:t>을 통한 </a:t>
                </a:r>
                <a:r>
                  <a:rPr lang="en-US" altLang="ko-KR" sz="1400" b="1" dirty="0"/>
                  <a:t>1</a:t>
                </a:r>
                <a:r>
                  <a:rPr lang="ko-KR" altLang="en-US" sz="1400" b="1" dirty="0"/>
                  <a:t>차 지연 모델링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DDA9AAB-6339-D1F3-73D9-553563165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276" y="4662638"/>
                <a:ext cx="2187476" cy="523220"/>
              </a:xfrm>
              <a:prstGeom prst="rect">
                <a:avLst/>
              </a:prstGeom>
              <a:blipFill>
                <a:blip r:embed="rId9"/>
                <a:stretch>
                  <a:fillRect t="-2326" b="-104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184727D6-4732-B633-F01A-36607EFF1FE1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7962531" y="3749058"/>
            <a:ext cx="1563053" cy="50969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6A83FBB-21FD-697D-C64D-527B69204DB2}"/>
              </a:ext>
            </a:extLst>
          </p:cNvPr>
          <p:cNvGrpSpPr/>
          <p:nvPr/>
        </p:nvGrpSpPr>
        <p:grpSpPr>
          <a:xfrm>
            <a:off x="8471652" y="988096"/>
            <a:ext cx="3218520" cy="1968372"/>
            <a:chOff x="7924203" y="1038636"/>
            <a:chExt cx="3766263" cy="2219617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701506CB-0907-413F-E7D0-DCAE74C1E4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924203" y="1038636"/>
              <a:ext cx="3766263" cy="22196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5086491-4E6F-41AB-5BC7-C6FC211E1601}"/>
                </a:ext>
              </a:extLst>
            </p:cNvPr>
            <p:cNvSpPr/>
            <p:nvPr/>
          </p:nvSpPr>
          <p:spPr>
            <a:xfrm>
              <a:off x="8530826" y="1070324"/>
              <a:ext cx="401202" cy="206933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D7D33270-5526-FBB1-A85D-79A48D4BD2A0}"/>
                </a:ext>
              </a:extLst>
            </p:cNvPr>
            <p:cNvSpPr/>
            <p:nvPr/>
          </p:nvSpPr>
          <p:spPr>
            <a:xfrm>
              <a:off x="8024797" y="1675062"/>
              <a:ext cx="291610" cy="4793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3FD3F40-9BF0-ADC6-0CF7-094E1082DDF4}"/>
                </a:ext>
              </a:extLst>
            </p:cNvPr>
            <p:cNvSpPr/>
            <p:nvPr/>
          </p:nvSpPr>
          <p:spPr>
            <a:xfrm>
              <a:off x="10250467" y="1070324"/>
              <a:ext cx="436464" cy="3689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65F06A3-12EA-B9F3-7435-13B0AB759012}"/>
                </a:ext>
              </a:extLst>
            </p:cNvPr>
            <p:cNvSpPr/>
            <p:nvPr/>
          </p:nvSpPr>
          <p:spPr>
            <a:xfrm>
              <a:off x="10250467" y="1530264"/>
              <a:ext cx="436464" cy="685969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532848C-3C89-3E7C-9301-948CB7A45D88}"/>
                </a:ext>
              </a:extLst>
            </p:cNvPr>
            <p:cNvSpPr/>
            <p:nvPr/>
          </p:nvSpPr>
          <p:spPr>
            <a:xfrm>
              <a:off x="11284976" y="1787162"/>
              <a:ext cx="303466" cy="13331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0D52922-B058-E975-E148-7FB7516E98C3}"/>
                </a:ext>
              </a:extLst>
            </p:cNvPr>
            <p:cNvSpPr/>
            <p:nvPr/>
          </p:nvSpPr>
          <p:spPr>
            <a:xfrm>
              <a:off x="10267620" y="2405697"/>
              <a:ext cx="401201" cy="685969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34B26777-41A9-2FA7-2374-0768018141EF}"/>
                </a:ext>
              </a:extLst>
            </p:cNvPr>
            <p:cNvSpPr/>
            <p:nvPr/>
          </p:nvSpPr>
          <p:spPr>
            <a:xfrm>
              <a:off x="9120295" y="2738077"/>
              <a:ext cx="687039" cy="3822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AC30F8C-C94C-C5A6-5AC0-15C86ECCAAC5}"/>
              </a:ext>
            </a:extLst>
          </p:cNvPr>
          <p:cNvSpPr/>
          <p:nvPr/>
        </p:nvSpPr>
        <p:spPr>
          <a:xfrm>
            <a:off x="694254" y="1198917"/>
            <a:ext cx="1515005" cy="13428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요구 구동 토크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요구 회생제동 토크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모터 회전 수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배터리 전압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10C286B5-D702-DDC5-633F-1B22AEB2B504}"/>
              </a:ext>
            </a:extLst>
          </p:cNvPr>
          <p:cNvSpPr/>
          <p:nvPr/>
        </p:nvSpPr>
        <p:spPr>
          <a:xfrm>
            <a:off x="1029659" y="1050804"/>
            <a:ext cx="800100" cy="3282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ysClr val="windowText" lastClr="000000"/>
                </a:solidFill>
              </a:rPr>
              <a:t>입력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CD63CBE-59C3-913A-2838-BB1415336F75}"/>
              </a:ext>
            </a:extLst>
          </p:cNvPr>
          <p:cNvSpPr/>
          <p:nvPr/>
        </p:nvSpPr>
        <p:spPr>
          <a:xfrm>
            <a:off x="2402583" y="1201942"/>
            <a:ext cx="1515005" cy="13428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구동 토크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회생제동 토크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마찰제동 토크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요구 배터리 전류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B4022353-7036-0E83-55D8-FF1DF9E711AF}"/>
              </a:ext>
            </a:extLst>
          </p:cNvPr>
          <p:cNvSpPr/>
          <p:nvPr/>
        </p:nvSpPr>
        <p:spPr>
          <a:xfrm>
            <a:off x="2737988" y="1058932"/>
            <a:ext cx="800100" cy="3282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2060232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kern="1200" baseline="0" dirty="0">
                <a:latin typeface="+mn-lt"/>
                <a:ea typeface="+mn-ea"/>
                <a:cs typeface="+mn-cs"/>
              </a:rPr>
              <a:t>3.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수식 기반 시스템 모델링 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- </a:t>
            </a:r>
            <a:r>
              <a:rPr lang="ko-KR" altLang="en-US" dirty="0">
                <a:latin typeface="+mn-lt"/>
                <a:ea typeface="+mn-ea"/>
                <a:cs typeface="+mn-cs"/>
              </a:rPr>
              <a:t>배터리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4" y="1143344"/>
            <a:ext cx="11272702" cy="5481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88A3B5-AC99-12A7-C391-E8E97CE952FD}"/>
              </a:ext>
            </a:extLst>
          </p:cNvPr>
          <p:cNvSpPr/>
          <p:nvPr/>
        </p:nvSpPr>
        <p:spPr>
          <a:xfrm>
            <a:off x="1070210" y="1482772"/>
            <a:ext cx="1515005" cy="22058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요구 배터리 전류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812EF7F-B55F-9805-C223-F9CD815027BC}"/>
              </a:ext>
            </a:extLst>
          </p:cNvPr>
          <p:cNvSpPr/>
          <p:nvPr/>
        </p:nvSpPr>
        <p:spPr>
          <a:xfrm>
            <a:off x="1366560" y="1313548"/>
            <a:ext cx="922305" cy="3282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ysClr val="windowText" lastClr="000000"/>
                </a:solidFill>
              </a:rPr>
              <a:t>입력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FEA974-8237-A0DB-D043-86BFF9457764}"/>
              </a:ext>
            </a:extLst>
          </p:cNvPr>
          <p:cNvSpPr/>
          <p:nvPr/>
        </p:nvSpPr>
        <p:spPr>
          <a:xfrm>
            <a:off x="2652995" y="1482773"/>
            <a:ext cx="1515005" cy="2218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배터리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OCV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맵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배터리 에너지 용량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배터리 내부 저항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배터리 셀 개수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ysClr val="windowText" lastClr="000000"/>
                </a:solidFill>
              </a:rPr>
              <a:t>SOC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초기값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ysClr val="windowText" lastClr="000000"/>
                </a:solidFill>
              </a:rPr>
              <a:t>SOC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최대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/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최소값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ysClr val="windowText" lastClr="000000"/>
                </a:solidFill>
              </a:rPr>
              <a:t>Voltage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초기값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F1AB709-A970-A590-7B38-0EC0BFC61B69}"/>
              </a:ext>
            </a:extLst>
          </p:cNvPr>
          <p:cNvSpPr/>
          <p:nvPr/>
        </p:nvSpPr>
        <p:spPr>
          <a:xfrm>
            <a:off x="2949345" y="1318651"/>
            <a:ext cx="922305" cy="3282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ysClr val="windowText" lastClr="000000"/>
                </a:solidFill>
              </a:rPr>
              <a:t>파라미터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4DD8778-AE88-7B50-4890-A6454BD3ABF3}"/>
              </a:ext>
            </a:extLst>
          </p:cNvPr>
          <p:cNvSpPr/>
          <p:nvPr/>
        </p:nvSpPr>
        <p:spPr>
          <a:xfrm>
            <a:off x="4245038" y="1482772"/>
            <a:ext cx="1515005" cy="2218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배터리 전압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배터리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SOC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1CB0BC1-77BB-53CC-72C1-690A66BDDC4D}"/>
              </a:ext>
            </a:extLst>
          </p:cNvPr>
          <p:cNvSpPr/>
          <p:nvPr/>
        </p:nvSpPr>
        <p:spPr>
          <a:xfrm>
            <a:off x="4541388" y="1318651"/>
            <a:ext cx="922305" cy="3282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출력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9F61C1-B5A9-DE70-BCE9-ACB4016B7D58}"/>
              </a:ext>
            </a:extLst>
          </p:cNvPr>
          <p:cNvSpPr/>
          <p:nvPr/>
        </p:nvSpPr>
        <p:spPr>
          <a:xfrm>
            <a:off x="6328718" y="1579881"/>
            <a:ext cx="5145614" cy="479365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09BE4B-022A-AC9F-09A5-D790E93FFF9A}"/>
                  </a:ext>
                </a:extLst>
              </p:cNvPr>
              <p:cNvSpPr txBox="1"/>
              <p:nvPr/>
            </p:nvSpPr>
            <p:spPr>
              <a:xfrm>
                <a:off x="674386" y="5881934"/>
                <a:ext cx="5463499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𝑜𝑐</m:t>
                          </m:r>
                        </m:sub>
                      </m:sSub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𝐼</m:t>
                      </m:r>
                      <m:sSub>
                        <m:sSub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500" i="1">
                              <a:latin typeface="Cambria Math" panose="02040503050406030204" pitchFamily="18" charset="0"/>
                            </a:rPr>
                            <m:t>𝑖𝑛𝑡</m:t>
                          </m:r>
                        </m:sub>
                      </m:sSub>
                    </m:oMath>
                  </m:oMathPara>
                </a14:m>
                <a:endParaRPr lang="ko-KR" altLang="en-US" sz="15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09BE4B-022A-AC9F-09A5-D790E93FF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86" y="5881934"/>
                <a:ext cx="5463499" cy="323165"/>
              </a:xfrm>
              <a:prstGeom prst="rect">
                <a:avLst/>
              </a:prstGeom>
              <a:blipFill>
                <a:blip r:embed="rId4"/>
                <a:stretch>
                  <a:fillRect b="-132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B23A97-CD5C-3965-C039-838A41714A5E}"/>
                  </a:ext>
                </a:extLst>
              </p:cNvPr>
              <p:cNvSpPr txBox="1"/>
              <p:nvPr/>
            </p:nvSpPr>
            <p:spPr>
              <a:xfrm>
                <a:off x="6559799" y="2024677"/>
                <a:ext cx="4677162" cy="4079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500" b="1" dirty="0">
                    <a:latin typeface="Cambria Math" panose="02040503050406030204" pitchFamily="18" charset="0"/>
                  </a:rPr>
                  <a:t>1) </a:t>
                </a:r>
                <a:r>
                  <a:rPr lang="ko-KR" altLang="en-US" sz="1500" b="1" dirty="0">
                    <a:latin typeface="Cambria Math" panose="02040503050406030204" pitchFamily="18" charset="0"/>
                  </a:rPr>
                  <a:t>파워 값 계산</a:t>
                </a:r>
                <a:endParaRPr lang="en-US" altLang="ko-KR" sz="1500" b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5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500" b="0" i="0" smtClean="0">
                              <a:latin typeface="Cambria Math" panose="02040503050406030204" pitchFamily="18" charset="0"/>
                            </a:rPr>
                            <m:t>bat</m:t>
                          </m:r>
                        </m:sub>
                      </m:sSub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)[</m:t>
                      </m:r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15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5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5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500" b="1" dirty="0">
                    <a:latin typeface="+mj-ea"/>
                    <a:ea typeface="+mj-ea"/>
                  </a:rPr>
                  <a:t>2)</a:t>
                </a:r>
                <a:r>
                  <a:rPr lang="ko-KR" altLang="en-US" sz="1500" b="1" dirty="0">
                    <a:latin typeface="+mj-ea"/>
                    <a:ea typeface="+mj-ea"/>
                  </a:rPr>
                  <a:t> 총 에너지 용량 변환</a:t>
                </a:r>
                <a:endParaRPr lang="en-US" altLang="ko-KR" sz="1500" b="1" dirty="0"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5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5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total</m:t>
                          </m:r>
                        </m:sub>
                      </m:sSub>
                      <m:r>
                        <a:rPr lang="en-US" altLang="ko-KR" sz="15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J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]=</m:t>
                      </m:r>
                      <m:sSub>
                        <m:sSubPr>
                          <m:ctrlPr>
                            <a:rPr lang="en-US" altLang="ko-KR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5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5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bat</m:t>
                          </m:r>
                        </m:sub>
                      </m:sSub>
                      <m:r>
                        <a:rPr lang="en-US" altLang="ko-KR" sz="15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kWh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]×3,600,000[</m:t>
                      </m:r>
                      <m:r>
                        <m:rPr>
                          <m:sty m:val="p"/>
                        </m:rPr>
                        <a:rPr lang="en-US" altLang="ko-KR" sz="15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J</m:t>
                      </m:r>
                      <m:r>
                        <a:rPr lang="en-US" altLang="ko-KR" sz="15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altLang="ko-KR" sz="15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kW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sz="150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500" b="0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1500" b="1" dirty="0"/>
                  <a:t>3) </a:t>
                </a:r>
                <a:r>
                  <a:rPr lang="ko-KR" altLang="en-US" sz="1500" b="1" dirty="0"/>
                  <a:t>최종 </a:t>
                </a:r>
                <a:r>
                  <a:rPr lang="en-US" altLang="ko-KR" sz="1500" b="1" dirty="0"/>
                  <a:t>SOC(State of Charge) </a:t>
                </a:r>
                <a:r>
                  <a:rPr lang="ko-KR" altLang="en-US" sz="1500" b="1" dirty="0"/>
                  <a:t>계산</a:t>
                </a:r>
                <a:endParaRPr lang="en-US" altLang="ko-KR" sz="1500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500" i="0" smtClean="0">
                          <a:latin typeface="Cambria Math" panose="02040503050406030204" pitchFamily="18" charset="0"/>
                        </a:rPr>
                        <m:t>SOC</m:t>
                      </m:r>
                      <m:d>
                        <m:d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150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altLang="ko-KR" sz="150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1500" i="0" smtClean="0">
                          <a:latin typeface="Cambria Math" panose="02040503050406030204" pitchFamily="18" charset="0"/>
                        </a:rPr>
                        <m:t>SO</m:t>
                      </m:r>
                      <m:sSub>
                        <m:sSub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50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500" i="0" smtClean="0">
                              <a:latin typeface="Cambria Math" panose="02040503050406030204" pitchFamily="18" charset="0"/>
                            </a:rPr>
                            <m:t>init</m:t>
                          </m:r>
                        </m:sub>
                      </m:sSub>
                      <m:r>
                        <a:rPr lang="en-US" altLang="ko-KR" sz="1500" i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altLang="ko-KR" sz="15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altLang="ko-KR" sz="150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d>
                                <m:dPr>
                                  <m:ctrlPr>
                                    <a:rPr lang="en-US" altLang="ko-KR" sz="1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50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ko-KR" sz="1500" i="0" smtClean="0">
                                  <a:latin typeface="Cambria Math" panose="02040503050406030204" pitchFamily="18" charset="0"/>
                                </a:rPr>
                                <m:t>dt</m:t>
                              </m:r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altLang="ko-KR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50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500" i="0" smtClean="0">
                                  <a:latin typeface="Cambria Math" panose="02040503050406030204" pitchFamily="18" charset="0"/>
                                </a:rPr>
                                <m:t>bat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15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500" i="0" smtClean="0">
                          <a:latin typeface="Cambria Math" panose="02040503050406030204" pitchFamily="18" charset="0"/>
                        </a:rPr>
                        <m:t>SOC</m:t>
                      </m:r>
                      <m:d>
                        <m:d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150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altLang="ko-KR" sz="150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1500" i="0" smtClean="0">
                          <a:latin typeface="Cambria Math" panose="02040503050406030204" pitchFamily="18" charset="0"/>
                        </a:rPr>
                        <m:t>SO</m:t>
                      </m:r>
                      <m:sSub>
                        <m:sSub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50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500" i="0" smtClean="0">
                              <a:latin typeface="Cambria Math" panose="02040503050406030204" pitchFamily="18" charset="0"/>
                            </a:rPr>
                            <m:t>init</m:t>
                          </m:r>
                        </m:sub>
                      </m:sSub>
                      <m:r>
                        <a:rPr lang="en-US" altLang="ko-KR" sz="1500" i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altLang="ko-KR" sz="15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altLang="ko-KR" sz="150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d>
                                <m:dPr>
                                  <m:ctrlPr>
                                    <a:rPr lang="en-US" altLang="ko-KR" sz="1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50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ko-KR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500" i="0" smtClean="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500" i="0" smtClean="0">
                                      <a:latin typeface="Cambria Math" panose="02040503050406030204" pitchFamily="18" charset="0"/>
                                    </a:rPr>
                                    <m:t>oc</m:t>
                                  </m:r>
                                </m:sub>
                              </m:sSub>
                              <m:r>
                                <a:rPr lang="en-US" altLang="ko-KR" sz="150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50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altLang="ko-KR" sz="1500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500" i="0" smtClean="0">
                                  <a:latin typeface="Cambria Math" panose="02040503050406030204" pitchFamily="18" charset="0"/>
                                </a:rPr>
                                <m:t>dt</m:t>
                              </m:r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altLang="ko-KR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500" i="0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500" i="0" smtClean="0">
                                  <a:latin typeface="Cambria Math" panose="02040503050406030204" pitchFamily="18" charset="0"/>
                                </a:rPr>
                                <m:t>bat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sz="15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B23A97-CD5C-3965-C039-838A41714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799" y="2024677"/>
                <a:ext cx="4677162" cy="4079963"/>
              </a:xfrm>
              <a:prstGeom prst="rect">
                <a:avLst/>
              </a:prstGeom>
              <a:blipFill>
                <a:blip r:embed="rId5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C06014-451F-19C1-A39D-BBACF7FF0614}"/>
              </a:ext>
            </a:extLst>
          </p:cNvPr>
          <p:cNvSpPr/>
          <p:nvPr/>
        </p:nvSpPr>
        <p:spPr>
          <a:xfrm>
            <a:off x="7869680" y="1345838"/>
            <a:ext cx="2057400" cy="4680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</a:rPr>
              <a:t>SOC </a:t>
            </a:r>
            <a:r>
              <a:rPr lang="ko-KR" altLang="en-US" sz="1500" b="1" dirty="0">
                <a:solidFill>
                  <a:schemeClr val="tx1"/>
                </a:solidFill>
              </a:rPr>
              <a:t>계산 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CFD74A5-D753-F60E-C079-010EEFF15459}"/>
              </a:ext>
            </a:extLst>
          </p:cNvPr>
          <p:cNvSpPr/>
          <p:nvPr/>
        </p:nvSpPr>
        <p:spPr>
          <a:xfrm>
            <a:off x="794383" y="4013883"/>
            <a:ext cx="5182645" cy="235965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9F1356B-7221-5C42-4F02-593521AF7BC4}"/>
              </a:ext>
            </a:extLst>
          </p:cNvPr>
          <p:cNvSpPr/>
          <p:nvPr/>
        </p:nvSpPr>
        <p:spPr>
          <a:xfrm>
            <a:off x="2357005" y="3803899"/>
            <a:ext cx="2057400" cy="4680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내부 저항 모델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2EFDDF-2325-6CDE-AF10-52CCF9E34961}"/>
                  </a:ext>
                </a:extLst>
              </p:cNvPr>
              <p:cNvSpPr txBox="1"/>
              <p:nvPr/>
            </p:nvSpPr>
            <p:spPr>
              <a:xfrm>
                <a:off x="880261" y="4266610"/>
                <a:ext cx="2975636" cy="14342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1" i="0" smtClean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altLang="ko-KR" sz="1500" b="1" i="0" smtClean="0">
                            <a:latin typeface="Cambria Math" panose="02040503050406030204" pitchFamily="18" charset="0"/>
                          </a:rPr>
                          <m:t>𝐢𝐧</m:t>
                        </m:r>
                        <m:r>
                          <a:rPr lang="en-US" altLang="ko-KR" sz="1500" b="1" i="0"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</m:sSub>
                    <m:r>
                      <a:rPr lang="en-US" altLang="ko-KR" sz="1500" b="1" i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500" b="1" dirty="0">
                    <a:latin typeface="Cambria Math" panose="02040503050406030204" pitchFamily="18" charset="0"/>
                  </a:rPr>
                  <a:t>등가회로 모델 사용 </a:t>
                </a:r>
                <a:endParaRPr lang="en-US" altLang="ko-KR" sz="1500" b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500" b="1" dirty="0">
                    <a:latin typeface="Cambria Math" panose="02040503050406030204" pitchFamily="18" charset="0"/>
                  </a:rPr>
                  <a:t>: </a:t>
                </a:r>
                <a:r>
                  <a:rPr lang="ko-KR" altLang="en-US" sz="1500" b="1" dirty="0">
                    <a:latin typeface="Cambria Math" panose="02040503050406030204" pitchFamily="18" charset="0"/>
                  </a:rPr>
                  <a:t>배터리를  개방회로 전압</a:t>
                </a:r>
                <a:r>
                  <a:rPr lang="en-US" altLang="ko-KR" sz="1500" b="1" dirty="0"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US" altLang="ko-KR" sz="1500" b="1" i="0">
                            <a:latin typeface="Cambria Math" panose="02040503050406030204" pitchFamily="18" charset="0"/>
                          </a:rPr>
                          <m:t>𝐨𝐜</m:t>
                        </m:r>
                      </m:sub>
                    </m:sSub>
                  </m:oMath>
                </a14:m>
                <a:r>
                  <a:rPr lang="en-US" altLang="ko-KR" sz="1500" b="1" dirty="0">
                    <a:latin typeface="Cambria Math" panose="02040503050406030204" pitchFamily="18" charset="0"/>
                  </a:rPr>
                  <a:t>)</a:t>
                </a:r>
                <a:r>
                  <a:rPr lang="ko-KR" altLang="en-US" sz="1500" b="1" dirty="0">
                    <a:latin typeface="Cambria Math" panose="02040503050406030204" pitchFamily="18" charset="0"/>
                  </a:rPr>
                  <a:t>과</a:t>
                </a:r>
                <a:endParaRPr lang="en-US" altLang="ko-KR" sz="1500" b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500" b="1" dirty="0">
                    <a:latin typeface="Cambria Math" panose="02040503050406030204" pitchFamily="18" charset="0"/>
                  </a:rPr>
                  <a:t>   </a:t>
                </a:r>
                <a:r>
                  <a:rPr lang="ko-KR" altLang="en-US" sz="1500" b="1" dirty="0">
                    <a:latin typeface="Cambria Math" panose="02040503050406030204" pitchFamily="18" charset="0"/>
                  </a:rPr>
                  <a:t>내부저항</a:t>
                </a:r>
                <a:r>
                  <a:rPr lang="en-US" altLang="ko-KR" sz="1500" b="1" dirty="0"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altLang="ko-KR" sz="1500" b="1" i="0">
                            <a:latin typeface="Cambria Math" panose="02040503050406030204" pitchFamily="18" charset="0"/>
                          </a:rPr>
                          <m:t>𝐢𝐧𝐭</m:t>
                        </m:r>
                      </m:sub>
                    </m:sSub>
                    <m:r>
                      <a:rPr lang="en-US" altLang="ko-KR" sz="1500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500" b="1" dirty="0">
                    <a:latin typeface="Cambria Math" panose="02040503050406030204" pitchFamily="18" charset="0"/>
                  </a:rPr>
                  <a:t>의 직렬</a:t>
                </a:r>
                <a:r>
                  <a:rPr lang="en-US" altLang="ko-KR" sz="1500" b="1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1500" b="1" dirty="0">
                    <a:latin typeface="Cambria Math" panose="02040503050406030204" pitchFamily="18" charset="0"/>
                  </a:rPr>
                  <a:t>연결로</a:t>
                </a:r>
                <a:endParaRPr lang="en-US" altLang="ko-KR" sz="1500" b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500" b="1" dirty="0">
                    <a:latin typeface="Cambria Math" panose="02040503050406030204" pitchFamily="18" charset="0"/>
                  </a:rPr>
                  <a:t>  </a:t>
                </a:r>
                <a:r>
                  <a:rPr lang="ko-KR" altLang="en-US" sz="1500" b="1" dirty="0">
                    <a:latin typeface="Cambria Math" panose="02040503050406030204" pitchFamily="18" charset="0"/>
                  </a:rPr>
                  <a:t> 단순화 한 모델 사용</a:t>
                </a:r>
                <a:endParaRPr lang="en-US" altLang="ko-KR" sz="1500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2EFDDF-2325-6CDE-AF10-52CCF9E34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261" y="4266610"/>
                <a:ext cx="2975636" cy="1434239"/>
              </a:xfrm>
              <a:prstGeom prst="rect">
                <a:avLst/>
              </a:prstGeom>
              <a:blipFill>
                <a:blip r:embed="rId6"/>
                <a:stretch>
                  <a:fillRect l="-818" b="-34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그림 23">
            <a:extLst>
              <a:ext uri="{FF2B5EF4-FFF2-40B4-BE49-F238E27FC236}">
                <a16:creationId xmlns:a16="http://schemas.microsoft.com/office/drawing/2014/main" id="{85BAEFA6-13C1-E7EE-C30C-808E4019F1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6977" y="4352939"/>
            <a:ext cx="1586101" cy="14306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2C63160-80C6-E13D-CB58-FF0B41032D6B}"/>
                  </a:ext>
                </a:extLst>
              </p:cNvPr>
              <p:cNvSpPr txBox="1"/>
              <p:nvPr/>
            </p:nvSpPr>
            <p:spPr>
              <a:xfrm>
                <a:off x="4707254" y="4123897"/>
                <a:ext cx="44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𝑖𝑛𝑡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2C63160-80C6-E13D-CB58-FF0B41032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254" y="4123897"/>
                <a:ext cx="44196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4D9B85-A546-542D-7CF3-25FA29115FA0}"/>
                  </a:ext>
                </a:extLst>
              </p:cNvPr>
              <p:cNvSpPr txBox="1"/>
              <p:nvPr/>
            </p:nvSpPr>
            <p:spPr>
              <a:xfrm>
                <a:off x="3720795" y="4886230"/>
                <a:ext cx="44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𝑜𝑐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4D9B85-A546-542D-7CF3-25FA29115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795" y="4886230"/>
                <a:ext cx="441960" cy="276999"/>
              </a:xfrm>
              <a:prstGeom prst="rect">
                <a:avLst/>
              </a:prstGeom>
              <a:blipFill>
                <a:blip r:embed="rId9"/>
                <a:stretch>
                  <a:fillRect r="-23288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EA13D10-975C-418F-B725-9811E6A07FA3}"/>
                  </a:ext>
                </a:extLst>
              </p:cNvPr>
              <p:cNvSpPr txBox="1"/>
              <p:nvPr/>
            </p:nvSpPr>
            <p:spPr>
              <a:xfrm>
                <a:off x="5277461" y="4929774"/>
                <a:ext cx="44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EA13D10-975C-418F-B725-9811E6A07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461" y="4929774"/>
                <a:ext cx="441960" cy="276999"/>
              </a:xfrm>
              <a:prstGeom prst="rect">
                <a:avLst/>
              </a:prstGeom>
              <a:blipFill>
                <a:blip r:embed="rId10"/>
                <a:stretch>
                  <a:fillRect r="-11111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6A6D195-F35D-4542-B337-C421267CAC9C}"/>
                  </a:ext>
                </a:extLst>
              </p:cNvPr>
              <p:cNvSpPr txBox="1"/>
              <p:nvPr/>
            </p:nvSpPr>
            <p:spPr>
              <a:xfrm>
                <a:off x="5311547" y="4240434"/>
                <a:ext cx="44196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6A6D195-F35D-4542-B337-C421267CA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547" y="4240434"/>
                <a:ext cx="441960" cy="2462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8CEEE35-5178-EC54-EE7C-7DC1236F136F}"/>
                  </a:ext>
                </a:extLst>
              </p:cNvPr>
              <p:cNvSpPr txBox="1"/>
              <p:nvPr/>
            </p:nvSpPr>
            <p:spPr>
              <a:xfrm>
                <a:off x="5311547" y="5592673"/>
                <a:ext cx="44196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8CEEE35-5178-EC54-EE7C-7DC1236F1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547" y="5592673"/>
                <a:ext cx="441960" cy="2462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타원 31">
            <a:extLst>
              <a:ext uri="{FF2B5EF4-FFF2-40B4-BE49-F238E27FC236}">
                <a16:creationId xmlns:a16="http://schemas.microsoft.com/office/drawing/2014/main" id="{48AD52CF-AB64-1AD1-FE3D-091343A41D88}"/>
              </a:ext>
            </a:extLst>
          </p:cNvPr>
          <p:cNvSpPr/>
          <p:nvPr/>
        </p:nvSpPr>
        <p:spPr>
          <a:xfrm>
            <a:off x="5505527" y="5614593"/>
            <a:ext cx="54000" cy="5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4F1DC80-224A-A050-64AB-1E31080826EE}"/>
              </a:ext>
            </a:extLst>
          </p:cNvPr>
          <p:cNvSpPr/>
          <p:nvPr/>
        </p:nvSpPr>
        <p:spPr>
          <a:xfrm>
            <a:off x="5505527" y="4450184"/>
            <a:ext cx="54000" cy="5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F740E32-E305-D860-01F5-10CA316DCA4D}"/>
              </a:ext>
            </a:extLst>
          </p:cNvPr>
          <p:cNvCxnSpPr/>
          <p:nvPr/>
        </p:nvCxnSpPr>
        <p:spPr>
          <a:xfrm>
            <a:off x="4733924" y="4625340"/>
            <a:ext cx="4766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BB0A1BC-2822-4978-1139-1BFA506C4B22}"/>
                  </a:ext>
                </a:extLst>
              </p:cNvPr>
              <p:cNvSpPr txBox="1"/>
              <p:nvPr/>
            </p:nvSpPr>
            <p:spPr>
              <a:xfrm>
                <a:off x="4723486" y="4628147"/>
                <a:ext cx="44196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BB0A1BC-2822-4978-1139-1BFA506C4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486" y="4628147"/>
                <a:ext cx="441960" cy="246221"/>
              </a:xfrm>
              <a:prstGeom prst="rect">
                <a:avLst/>
              </a:prstGeom>
              <a:blipFill>
                <a:blip r:embed="rId13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248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75943A75-6999-FA58-A9C5-C533B08FB571}"/>
              </a:ext>
            </a:extLst>
          </p:cNvPr>
          <p:cNvSpPr/>
          <p:nvPr/>
        </p:nvSpPr>
        <p:spPr>
          <a:xfrm>
            <a:off x="581248" y="956078"/>
            <a:ext cx="3411631" cy="1464313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F70029-8897-F1DB-6EFF-AF983C4F1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67" y="3429000"/>
            <a:ext cx="9299333" cy="31404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kern="1200" baseline="0" dirty="0">
                <a:latin typeface="+mn-lt"/>
                <a:ea typeface="+mn-ea"/>
                <a:cs typeface="+mn-cs"/>
              </a:rPr>
              <a:t>3.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수식 기반 시스템 모델링 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-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배터리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4" y="914400"/>
            <a:ext cx="11272702" cy="5709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788DC1-782B-D121-F053-E6A5A88FB568}"/>
                  </a:ext>
                </a:extLst>
              </p:cNvPr>
              <p:cNvSpPr txBox="1"/>
              <p:nvPr/>
            </p:nvSpPr>
            <p:spPr>
              <a:xfrm>
                <a:off x="8776911" y="5304917"/>
                <a:ext cx="2284854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𝑂𝐶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𝐼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𝑖𝑛𝑡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788DC1-782B-D121-F053-E6A5A88FB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911" y="5304917"/>
                <a:ext cx="2284854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86D5E4-3498-71B6-3FD0-0B136E47832C}"/>
                  </a:ext>
                </a:extLst>
              </p:cNvPr>
              <p:cNvSpPr txBox="1"/>
              <p:nvPr/>
            </p:nvSpPr>
            <p:spPr>
              <a:xfrm>
                <a:off x="3453237" y="2711111"/>
                <a:ext cx="4300780" cy="71788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𝑆𝑂𝐶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𝑆𝑂𝐶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𝑖𝑛𝑖𝑡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𝑂𝐶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𝑏𝑎𝑡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86D5E4-3498-71B6-3FD0-0B136E478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237" y="2711111"/>
                <a:ext cx="4300780" cy="7178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그룹 12">
            <a:extLst>
              <a:ext uri="{FF2B5EF4-FFF2-40B4-BE49-F238E27FC236}">
                <a16:creationId xmlns:a16="http://schemas.microsoft.com/office/drawing/2014/main" id="{EC99CB79-BF26-BA8F-F03B-1ACCF9653C6D}"/>
              </a:ext>
            </a:extLst>
          </p:cNvPr>
          <p:cNvGrpSpPr/>
          <p:nvPr/>
        </p:nvGrpSpPr>
        <p:grpSpPr>
          <a:xfrm>
            <a:off x="8442960" y="1033827"/>
            <a:ext cx="3206866" cy="1810973"/>
            <a:chOff x="7924203" y="1038636"/>
            <a:chExt cx="3766263" cy="221961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CD30B7EE-21CA-657D-C18A-7D36F44EE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24203" y="1038636"/>
              <a:ext cx="3766263" cy="22196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C199141-F64C-C729-28B4-83958BC817E8}"/>
                </a:ext>
              </a:extLst>
            </p:cNvPr>
            <p:cNvSpPr/>
            <p:nvPr/>
          </p:nvSpPr>
          <p:spPr>
            <a:xfrm>
              <a:off x="8530826" y="1070324"/>
              <a:ext cx="401202" cy="206933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7D463E3-835A-38DE-0AB9-E54270930C1B}"/>
                </a:ext>
              </a:extLst>
            </p:cNvPr>
            <p:cNvSpPr/>
            <p:nvPr/>
          </p:nvSpPr>
          <p:spPr>
            <a:xfrm>
              <a:off x="8024797" y="1675062"/>
              <a:ext cx="291610" cy="4793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8DB7352-1A1E-0811-0F71-08C5C9155B8B}"/>
                </a:ext>
              </a:extLst>
            </p:cNvPr>
            <p:cNvSpPr/>
            <p:nvPr/>
          </p:nvSpPr>
          <p:spPr>
            <a:xfrm>
              <a:off x="10250467" y="1070324"/>
              <a:ext cx="436464" cy="368942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1421B53-24BB-62A0-05D6-100C501D6037}"/>
                </a:ext>
              </a:extLst>
            </p:cNvPr>
            <p:cNvSpPr/>
            <p:nvPr/>
          </p:nvSpPr>
          <p:spPr>
            <a:xfrm>
              <a:off x="10250467" y="1530264"/>
              <a:ext cx="436464" cy="6859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37D0F77-3CFB-36DA-2BA7-2BED3FFE1250}"/>
                </a:ext>
              </a:extLst>
            </p:cNvPr>
            <p:cNvSpPr/>
            <p:nvPr/>
          </p:nvSpPr>
          <p:spPr>
            <a:xfrm>
              <a:off x="11284976" y="1787162"/>
              <a:ext cx="303466" cy="13331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17FD936-1554-BAF2-E19B-9939387D4D01}"/>
                </a:ext>
              </a:extLst>
            </p:cNvPr>
            <p:cNvSpPr/>
            <p:nvPr/>
          </p:nvSpPr>
          <p:spPr>
            <a:xfrm>
              <a:off x="10267620" y="2405697"/>
              <a:ext cx="401201" cy="6859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DE55058-42CF-3C3C-61E7-4308F30276F4}"/>
                </a:ext>
              </a:extLst>
            </p:cNvPr>
            <p:cNvSpPr/>
            <p:nvPr/>
          </p:nvSpPr>
          <p:spPr>
            <a:xfrm>
              <a:off x="9120295" y="2738077"/>
              <a:ext cx="687039" cy="3822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4987643-A616-9B12-EB00-DACDC883459E}"/>
              </a:ext>
            </a:extLst>
          </p:cNvPr>
          <p:cNvSpPr/>
          <p:nvPr/>
        </p:nvSpPr>
        <p:spPr>
          <a:xfrm>
            <a:off x="657467" y="1241439"/>
            <a:ext cx="1515005" cy="10277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요구 배터리 전류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1AC729E-2786-74AE-B310-6E9503952359}"/>
              </a:ext>
            </a:extLst>
          </p:cNvPr>
          <p:cNvSpPr/>
          <p:nvPr/>
        </p:nvSpPr>
        <p:spPr>
          <a:xfrm>
            <a:off x="992872" y="1077317"/>
            <a:ext cx="800100" cy="3282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ysClr val="windowText" lastClr="000000"/>
                </a:solidFill>
              </a:rPr>
              <a:t>입력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184AB29-281C-DB9F-234F-A4FDF4E02A5D}"/>
              </a:ext>
            </a:extLst>
          </p:cNvPr>
          <p:cNvSpPr/>
          <p:nvPr/>
        </p:nvSpPr>
        <p:spPr>
          <a:xfrm>
            <a:off x="2375956" y="1236336"/>
            <a:ext cx="1515005" cy="10277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ysClr val="windowText" lastClr="000000"/>
                </a:solidFill>
              </a:rPr>
              <a:t>배터리 전압</a:t>
            </a:r>
            <a:br>
              <a:rPr lang="en-US" altLang="ko-KR" sz="1200" dirty="0">
                <a:solidFill>
                  <a:sysClr val="windowText" lastClr="000000"/>
                </a:solidFill>
              </a:rPr>
            </a:br>
            <a:r>
              <a:rPr lang="ko-KR" altLang="en-US" sz="1200" dirty="0">
                <a:solidFill>
                  <a:sysClr val="windowText" lastClr="000000"/>
                </a:solidFill>
              </a:rPr>
              <a:t>배터리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SOC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F31ED63-C756-6845-FF37-D5449EF6FDB6}"/>
              </a:ext>
            </a:extLst>
          </p:cNvPr>
          <p:cNvSpPr/>
          <p:nvPr/>
        </p:nvSpPr>
        <p:spPr>
          <a:xfrm>
            <a:off x="2711361" y="1077317"/>
            <a:ext cx="800100" cy="3282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325661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kern="1200" baseline="0" dirty="0">
                <a:latin typeface="+mn-lt"/>
                <a:ea typeface="+mn-ea"/>
                <a:cs typeface="+mn-cs"/>
              </a:rPr>
              <a:t>4. VCU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제어 로직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4" y="1143345"/>
            <a:ext cx="5721466" cy="55011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12D979-E2FD-BD78-4552-5E733091E744}"/>
              </a:ext>
            </a:extLst>
          </p:cNvPr>
          <p:cNvSpPr/>
          <p:nvPr/>
        </p:nvSpPr>
        <p:spPr>
          <a:xfrm>
            <a:off x="2299062" y="958682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제어 구조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79BF630-ED42-04E5-0671-73950A51FC5D}"/>
              </a:ext>
            </a:extLst>
          </p:cNvPr>
          <p:cNvSpPr/>
          <p:nvPr/>
        </p:nvSpPr>
        <p:spPr>
          <a:xfrm>
            <a:off x="6375401" y="1143345"/>
            <a:ext cx="5383982" cy="5508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FCF45E-6767-D7AF-BD17-1EE36C8492CC}"/>
              </a:ext>
            </a:extLst>
          </p:cNvPr>
          <p:cNvSpPr/>
          <p:nvPr/>
        </p:nvSpPr>
        <p:spPr>
          <a:xfrm>
            <a:off x="8011331" y="916332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VCU </a:t>
            </a:r>
            <a:r>
              <a:rPr lang="ko-KR" altLang="en-US" b="1" dirty="0"/>
              <a:t>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3CBA8C-9B2C-DD4F-B06B-DBF90E7AFB7E}"/>
              </a:ext>
            </a:extLst>
          </p:cNvPr>
          <p:cNvSpPr/>
          <p:nvPr/>
        </p:nvSpPr>
        <p:spPr>
          <a:xfrm>
            <a:off x="7111689" y="2012958"/>
            <a:ext cx="4030725" cy="71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 Step 1. Mode &amp; Gear</a:t>
            </a:r>
            <a:r>
              <a:rPr lang="ko-KR" altLang="en-US" dirty="0">
                <a:solidFill>
                  <a:schemeClr val="tx1"/>
                </a:solidFill>
              </a:rPr>
              <a:t> 선택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C674A6A-CD18-AD3E-EA5D-57992D7733B1}"/>
              </a:ext>
            </a:extLst>
          </p:cNvPr>
          <p:cNvSpPr/>
          <p:nvPr/>
        </p:nvSpPr>
        <p:spPr>
          <a:xfrm>
            <a:off x="7111689" y="4365560"/>
            <a:ext cx="4030725" cy="71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Step 3. Torque </a:t>
            </a:r>
            <a:r>
              <a:rPr lang="ko-KR" altLang="en-US" dirty="0">
                <a:solidFill>
                  <a:schemeClr val="tx1"/>
                </a:solidFill>
              </a:rPr>
              <a:t>분배 및 제한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57F7DB-6809-8C1E-AA01-0FCE0CBBA106}"/>
              </a:ext>
            </a:extLst>
          </p:cNvPr>
          <p:cNvSpPr/>
          <p:nvPr/>
        </p:nvSpPr>
        <p:spPr>
          <a:xfrm>
            <a:off x="7111689" y="3179832"/>
            <a:ext cx="4030725" cy="71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Step 2. Torque </a:t>
            </a:r>
            <a:r>
              <a:rPr lang="ko-KR" altLang="en-US" dirty="0">
                <a:solidFill>
                  <a:schemeClr val="tx1"/>
                </a:solidFill>
              </a:rPr>
              <a:t>계산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DE07BC5-5BE1-84F5-802C-D809C0460A58}"/>
              </a:ext>
            </a:extLst>
          </p:cNvPr>
          <p:cNvSpPr/>
          <p:nvPr/>
        </p:nvSpPr>
        <p:spPr>
          <a:xfrm>
            <a:off x="7111689" y="5551288"/>
            <a:ext cx="4030725" cy="71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Step 4. </a:t>
            </a:r>
            <a:r>
              <a:rPr lang="ko-KR" altLang="en-US" dirty="0">
                <a:solidFill>
                  <a:schemeClr val="tx1"/>
                </a:solidFill>
              </a:rPr>
              <a:t>엔진 발전 제어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C6BAAF5-DC3F-BEB1-0310-946A99EF0EC8}"/>
              </a:ext>
            </a:extLst>
          </p:cNvPr>
          <p:cNvSpPr/>
          <p:nvPr/>
        </p:nvSpPr>
        <p:spPr>
          <a:xfrm>
            <a:off x="2795270" y="1970382"/>
            <a:ext cx="2986747" cy="16225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모드 선택</a:t>
            </a:r>
            <a:endParaRPr lang="en-US" altLang="ko-KR" sz="15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500" b="1" dirty="0">
                <a:solidFill>
                  <a:schemeClr val="tx1"/>
                </a:solidFill>
              </a:rPr>
              <a:t>(4WD/2WD/Generation)</a:t>
            </a:r>
          </a:p>
          <a:p>
            <a:pPr algn="ctr"/>
            <a:endParaRPr lang="en-US" altLang="ko-KR" sz="15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500" b="1" dirty="0">
                <a:solidFill>
                  <a:schemeClr val="tx1"/>
                </a:solidFill>
              </a:rPr>
              <a:t>SOC</a:t>
            </a:r>
            <a:r>
              <a:rPr lang="ko-KR" altLang="en-US" sz="1500" b="1" dirty="0">
                <a:solidFill>
                  <a:schemeClr val="tx1"/>
                </a:solidFill>
              </a:rPr>
              <a:t> 기반 전환</a:t>
            </a:r>
            <a:endParaRPr lang="en-US" altLang="ko-KR" sz="15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 </a:t>
            </a:r>
            <a:endParaRPr lang="en-US" altLang="ko-KR" sz="15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변속 결정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A497F7B-E488-1D9B-DAB3-96FC301CF298}"/>
              </a:ext>
            </a:extLst>
          </p:cNvPr>
          <p:cNvSpPr/>
          <p:nvPr/>
        </p:nvSpPr>
        <p:spPr>
          <a:xfrm>
            <a:off x="1049586" y="1970382"/>
            <a:ext cx="1637727" cy="16225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</a:rPr>
              <a:t>High Level</a:t>
            </a:r>
            <a:endParaRPr lang="ko-KR" altLang="en-US" sz="1500" b="1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8097FF1-AEDC-E447-0C7E-B9F12C3418CD}"/>
              </a:ext>
            </a:extLst>
          </p:cNvPr>
          <p:cNvSpPr/>
          <p:nvPr/>
        </p:nvSpPr>
        <p:spPr>
          <a:xfrm>
            <a:off x="2808144" y="3697241"/>
            <a:ext cx="2986747" cy="12690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</a:rPr>
              <a:t> </a:t>
            </a:r>
            <a:r>
              <a:rPr lang="ko-KR" altLang="en-US" sz="1500" b="1" dirty="0">
                <a:solidFill>
                  <a:schemeClr val="tx1"/>
                </a:solidFill>
              </a:rPr>
              <a:t>토크 계산 및 분배</a:t>
            </a:r>
            <a:endParaRPr lang="en-US" altLang="ko-KR" sz="15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500" b="1" dirty="0">
                <a:solidFill>
                  <a:schemeClr val="tx1"/>
                </a:solidFill>
              </a:rPr>
              <a:t>(</a:t>
            </a:r>
            <a:r>
              <a:rPr lang="ko-KR" altLang="en-US" sz="1500" b="1" dirty="0">
                <a:solidFill>
                  <a:schemeClr val="tx1"/>
                </a:solidFill>
              </a:rPr>
              <a:t>전륜</a:t>
            </a:r>
            <a:r>
              <a:rPr lang="en-US" altLang="ko-KR" sz="1500" b="1" dirty="0">
                <a:solidFill>
                  <a:schemeClr val="tx1"/>
                </a:solidFill>
              </a:rPr>
              <a:t>/</a:t>
            </a:r>
            <a:r>
              <a:rPr lang="ko-KR" altLang="en-US" sz="1500" b="1" dirty="0">
                <a:solidFill>
                  <a:schemeClr val="tx1"/>
                </a:solidFill>
              </a:rPr>
              <a:t>후륜 토크 분배</a:t>
            </a:r>
            <a:r>
              <a:rPr lang="en-US" altLang="ko-KR" sz="1500" b="1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회생제동 토크 계산</a:t>
            </a:r>
            <a:r>
              <a:rPr lang="en-US" altLang="ko-KR" sz="1500" b="1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5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엔진 명령 생성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66CC7FF-3F4E-1ACB-3A03-D14891D4992A}"/>
              </a:ext>
            </a:extLst>
          </p:cNvPr>
          <p:cNvSpPr/>
          <p:nvPr/>
        </p:nvSpPr>
        <p:spPr>
          <a:xfrm>
            <a:off x="1062461" y="3708585"/>
            <a:ext cx="1637727" cy="12690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</a:rPr>
              <a:t>Mid Level</a:t>
            </a:r>
            <a:endParaRPr lang="ko-KR" altLang="en-US" sz="1500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FDF65-183F-E806-5A81-37253107ED93}"/>
              </a:ext>
            </a:extLst>
          </p:cNvPr>
          <p:cNvSpPr/>
          <p:nvPr/>
        </p:nvSpPr>
        <p:spPr>
          <a:xfrm>
            <a:off x="2808144" y="5121394"/>
            <a:ext cx="2986747" cy="10034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개별 컴포넌트 제어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C30B2F3-6673-629D-0057-D628CB2326D5}"/>
              </a:ext>
            </a:extLst>
          </p:cNvPr>
          <p:cNvSpPr/>
          <p:nvPr/>
        </p:nvSpPr>
        <p:spPr>
          <a:xfrm>
            <a:off x="1062461" y="5132738"/>
            <a:ext cx="1637727" cy="10034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</a:rPr>
              <a:t>Low Level</a:t>
            </a:r>
            <a:endParaRPr lang="ko-KR" altLang="en-US" sz="1500" b="1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834125B-B184-8B0D-0D8D-C683417AD431}"/>
              </a:ext>
            </a:extLst>
          </p:cNvPr>
          <p:cNvSpPr/>
          <p:nvPr/>
        </p:nvSpPr>
        <p:spPr>
          <a:xfrm>
            <a:off x="1031298" y="1947959"/>
            <a:ext cx="4790382" cy="307647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A5F567D1-56CC-8F59-EB29-6C90983A7D6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720441" y="1651029"/>
            <a:ext cx="217476" cy="311882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F32D111-0573-1266-33C1-421A497AFF19}"/>
              </a:ext>
            </a:extLst>
          </p:cNvPr>
          <p:cNvSpPr txBox="1"/>
          <p:nvPr/>
        </p:nvSpPr>
        <p:spPr>
          <a:xfrm>
            <a:off x="1957237" y="1528319"/>
            <a:ext cx="3824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VCU (Vehicle Controller Unit)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8820F94-B0C3-0A74-2F83-D3494A03E7CD}"/>
              </a:ext>
            </a:extLst>
          </p:cNvPr>
          <p:cNvSpPr/>
          <p:nvPr/>
        </p:nvSpPr>
        <p:spPr>
          <a:xfrm>
            <a:off x="1031298" y="5077239"/>
            <a:ext cx="4808670" cy="1107681"/>
          </a:xfrm>
          <a:prstGeom prst="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832C0513-30E5-8C6C-4365-38E0BCDED9B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75266" y="6182890"/>
            <a:ext cx="242296" cy="246351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6614739-C4C1-6ACE-0541-22690F5290E4}"/>
              </a:ext>
            </a:extLst>
          </p:cNvPr>
          <p:cNvSpPr txBox="1"/>
          <p:nvPr/>
        </p:nvSpPr>
        <p:spPr>
          <a:xfrm>
            <a:off x="1964435" y="6262488"/>
            <a:ext cx="185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로컬 제어기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1322AA0-53F3-878A-D77F-EAD078A8C630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9127052" y="2724158"/>
            <a:ext cx="0" cy="455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B95B79F3-304D-D965-0E43-BD36EED85ED2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9127052" y="3891032"/>
            <a:ext cx="0" cy="4745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B86C6505-3FC3-D53A-0FC2-53A786546C64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9127052" y="5076760"/>
            <a:ext cx="0" cy="4745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CD9D9D39-084F-FD19-80C4-7609E3368232}"/>
              </a:ext>
            </a:extLst>
          </p:cNvPr>
          <p:cNvCxnSpPr>
            <a:endCxn id="3" idx="0"/>
          </p:cNvCxnSpPr>
          <p:nvPr/>
        </p:nvCxnSpPr>
        <p:spPr>
          <a:xfrm>
            <a:off x="9127052" y="1528319"/>
            <a:ext cx="0" cy="484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D97E141-F200-C949-960C-B261724D06AA}"/>
              </a:ext>
            </a:extLst>
          </p:cNvPr>
          <p:cNvSpPr txBox="1"/>
          <p:nvPr/>
        </p:nvSpPr>
        <p:spPr>
          <a:xfrm>
            <a:off x="6453472" y="1566791"/>
            <a:ext cx="311571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입력신호</a:t>
            </a:r>
            <a:r>
              <a:rPr lang="en-US" altLang="ko-KR" sz="1300" dirty="0"/>
              <a:t> : Ap, Bp, SOC, </a:t>
            </a:r>
            <a:r>
              <a:rPr lang="ko-KR" altLang="en-US" sz="1300" dirty="0"/>
              <a:t>차량속도</a:t>
            </a:r>
          </a:p>
        </p:txBody>
      </p:sp>
    </p:spTree>
    <p:extLst>
      <p:ext uri="{BB962C8B-B14F-4D97-AF65-F5344CB8AC3E}">
        <p14:creationId xmlns:p14="http://schemas.microsoft.com/office/powerpoint/2010/main" val="1861975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kern="1200" baseline="0" dirty="0">
                <a:latin typeface="+mn-lt"/>
                <a:ea typeface="+mn-ea"/>
                <a:cs typeface="+mn-cs"/>
              </a:rPr>
              <a:t>4. VCU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제어 로직 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– Step</a:t>
            </a:r>
            <a:r>
              <a:rPr lang="en-US" altLang="ko-KR" dirty="0"/>
              <a:t> 1. Mode &amp; Gear</a:t>
            </a:r>
            <a:r>
              <a:rPr lang="ko-KR" altLang="en-US" dirty="0"/>
              <a:t> 선택</a:t>
            </a:r>
            <a:r>
              <a:rPr lang="en-US" altLang="ko-KR" dirty="0"/>
              <a:t>(Rule Based)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4" y="1143345"/>
            <a:ext cx="5296270" cy="55011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12D979-E2FD-BD78-4552-5E733091E744}"/>
              </a:ext>
            </a:extLst>
          </p:cNvPr>
          <p:cNvSpPr/>
          <p:nvPr/>
        </p:nvSpPr>
        <p:spPr>
          <a:xfrm>
            <a:off x="2088943" y="916133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Mode </a:t>
            </a:r>
            <a:r>
              <a:rPr lang="ko-KR" altLang="en-US" b="1" dirty="0"/>
              <a:t>선택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79BF630-ED42-04E5-0671-73950A51FC5D}"/>
              </a:ext>
            </a:extLst>
          </p:cNvPr>
          <p:cNvSpPr/>
          <p:nvPr/>
        </p:nvSpPr>
        <p:spPr>
          <a:xfrm>
            <a:off x="5962443" y="1143345"/>
            <a:ext cx="5796939" cy="30968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FCF45E-6767-D7AF-BD17-1EE36C8492CC}"/>
              </a:ext>
            </a:extLst>
          </p:cNvPr>
          <p:cNvSpPr/>
          <p:nvPr/>
        </p:nvSpPr>
        <p:spPr>
          <a:xfrm>
            <a:off x="7401249" y="916332"/>
            <a:ext cx="2736986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Gear </a:t>
            </a:r>
            <a:r>
              <a:rPr lang="ko-KR" altLang="en-US" b="1" dirty="0"/>
              <a:t>선택</a:t>
            </a:r>
            <a:r>
              <a:rPr lang="en-US" altLang="ko-KR" b="1" dirty="0"/>
              <a:t>(Rule</a:t>
            </a:r>
            <a:r>
              <a:rPr lang="ko-KR" altLang="en-US" b="1" dirty="0"/>
              <a:t> </a:t>
            </a:r>
            <a:r>
              <a:rPr lang="en-US" altLang="ko-KR" b="1" dirty="0"/>
              <a:t>based)</a:t>
            </a:r>
            <a:endParaRPr lang="ko-KR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33132C-5CAD-C450-DAC1-3B9922CC5946}"/>
              </a:ext>
            </a:extLst>
          </p:cNvPr>
          <p:cNvSpPr txBox="1"/>
          <p:nvPr/>
        </p:nvSpPr>
        <p:spPr>
          <a:xfrm>
            <a:off x="9891613" y="1991960"/>
            <a:ext cx="20324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 Rule based </a:t>
            </a:r>
            <a:r>
              <a:rPr lang="ko-KR" altLang="en-US" sz="1200" dirty="0"/>
              <a:t>변속 조건 </a:t>
            </a:r>
            <a:r>
              <a:rPr lang="en-US" altLang="ko-KR" sz="1200" dirty="0"/>
              <a:t>: </a:t>
            </a:r>
          </a:p>
          <a:p>
            <a:endParaRPr lang="en-US" altLang="ko-KR" sz="1200" dirty="0"/>
          </a:p>
          <a:p>
            <a:r>
              <a:rPr lang="en-US" altLang="ko-KR" sz="1200" dirty="0"/>
              <a:t>1</a:t>
            </a:r>
            <a:r>
              <a:rPr lang="ko-KR" altLang="en-US" sz="1200" dirty="0"/>
              <a:t>단 </a:t>
            </a:r>
            <a:r>
              <a:rPr lang="en-US" altLang="ko-KR" sz="1200" dirty="0"/>
              <a:t>-&gt; 2</a:t>
            </a:r>
            <a:r>
              <a:rPr lang="ko-KR" altLang="en-US" sz="1200" dirty="0"/>
              <a:t>단 </a:t>
            </a:r>
            <a:r>
              <a:rPr lang="en-US" altLang="ko-KR" sz="1200" dirty="0"/>
              <a:t>(Upshift) : </a:t>
            </a:r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차량 속도 </a:t>
            </a:r>
            <a:r>
              <a:rPr lang="en-US" altLang="ko-KR" sz="1200" dirty="0"/>
              <a:t>&gt; 35 km/h</a:t>
            </a:r>
          </a:p>
          <a:p>
            <a:endParaRPr lang="en-US" altLang="ko-KR" sz="1200" dirty="0"/>
          </a:p>
          <a:p>
            <a:r>
              <a:rPr lang="en-US" altLang="ko-KR" sz="1200" dirty="0"/>
              <a:t>2</a:t>
            </a:r>
            <a:r>
              <a:rPr lang="ko-KR" altLang="en-US" sz="1200" dirty="0"/>
              <a:t>단 </a:t>
            </a:r>
            <a:r>
              <a:rPr lang="en-US" altLang="ko-KR" sz="1200" dirty="0"/>
              <a:t>-&gt; 1</a:t>
            </a:r>
            <a:r>
              <a:rPr lang="ko-KR" altLang="en-US" sz="1200" dirty="0"/>
              <a:t>단 </a:t>
            </a:r>
            <a:r>
              <a:rPr lang="en-US" altLang="ko-KR" sz="1200" dirty="0"/>
              <a:t>(Downshift) : </a:t>
            </a:r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차량 속도 </a:t>
            </a:r>
            <a:r>
              <a:rPr lang="en-US" altLang="ko-KR" sz="1200" dirty="0"/>
              <a:t>&lt; 30 km/h</a:t>
            </a:r>
          </a:p>
          <a:p>
            <a:endParaRPr lang="en-US" altLang="ko-KR" sz="1200" dirty="0"/>
          </a:p>
          <a:p>
            <a:r>
              <a:rPr lang="ko-KR" altLang="en-US" sz="1200" dirty="0"/>
              <a:t>변속 시간 </a:t>
            </a:r>
            <a:r>
              <a:rPr lang="en-US" altLang="ko-KR" sz="1200" dirty="0"/>
              <a:t>: 0.1</a:t>
            </a:r>
            <a:r>
              <a:rPr lang="ko-KR" altLang="en-US" sz="1200" dirty="0"/>
              <a:t>초 적용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EA3798DD-E3D9-F2FB-689C-DCD28475B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453090"/>
              </p:ext>
            </p:extLst>
          </p:nvPr>
        </p:nvGraphicFramePr>
        <p:xfrm>
          <a:off x="666173" y="4991488"/>
          <a:ext cx="4966991" cy="1600200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954777">
                  <a:extLst>
                    <a:ext uri="{9D8B030D-6E8A-4147-A177-3AD203B41FA5}">
                      <a16:colId xmlns:a16="http://schemas.microsoft.com/office/drawing/2014/main" val="4231719801"/>
                    </a:ext>
                  </a:extLst>
                </a:gridCol>
                <a:gridCol w="3012214">
                  <a:extLst>
                    <a:ext uri="{9D8B030D-6E8A-4147-A177-3AD203B41FA5}">
                      <a16:colId xmlns:a16="http://schemas.microsoft.com/office/drawing/2014/main" val="2050577554"/>
                    </a:ext>
                  </a:extLst>
                </a:gridCol>
              </a:tblGrid>
              <a:tr h="3149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/>
                        <a:t>모드 전환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/>
                        <a:t>전환 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644933"/>
                  </a:ext>
                </a:extLst>
              </a:tr>
              <a:tr h="3149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2WD-&gt; 4WD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SOC &gt; 30% &amp; Ap &gt; 0.5</a:t>
                      </a:r>
                      <a:endParaRPr lang="ko-KR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344862"/>
                  </a:ext>
                </a:extLst>
              </a:tr>
              <a:tr h="3149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4WD-&gt;2WD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SOC &gt; 30% &amp; Ap &lt; 0.5</a:t>
                      </a:r>
                      <a:endParaRPr lang="ko-KR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506338"/>
                  </a:ext>
                </a:extLst>
              </a:tr>
              <a:tr h="3149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2WD-&gt;Gen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SOC &lt; 30%</a:t>
                      </a:r>
                      <a:endParaRPr lang="ko-KR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409091"/>
                  </a:ext>
                </a:extLst>
              </a:tr>
              <a:tr h="3149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Gen-&gt;2WD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SOC &gt; 40%</a:t>
                      </a:r>
                      <a:endParaRPr lang="ko-KR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479716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AAE1D4F4-668E-67F9-2D2A-65EC855A57B7}"/>
              </a:ext>
            </a:extLst>
          </p:cNvPr>
          <p:cNvGrpSpPr/>
          <p:nvPr/>
        </p:nvGrpSpPr>
        <p:grpSpPr>
          <a:xfrm>
            <a:off x="1243492" y="1429123"/>
            <a:ext cx="3812354" cy="3452906"/>
            <a:chOff x="1392589" y="1450793"/>
            <a:chExt cx="3812354" cy="3452906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ACDF5526-57FF-B058-D5D5-EC8A1EE6E67F}"/>
                </a:ext>
              </a:extLst>
            </p:cNvPr>
            <p:cNvSpPr/>
            <p:nvPr/>
          </p:nvSpPr>
          <p:spPr>
            <a:xfrm>
              <a:off x="2578766" y="1450793"/>
              <a:ext cx="1440000" cy="144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4WD</a:t>
              </a:r>
            </a:p>
            <a:p>
              <a:pPr algn="ctr"/>
              <a:r>
                <a:rPr lang="en-US" altLang="ko-KR" dirty="0"/>
                <a:t>(</a:t>
              </a:r>
              <a:r>
                <a:rPr lang="ko-KR" altLang="en-US" dirty="0"/>
                <a:t>전륜</a:t>
              </a:r>
              <a:r>
                <a:rPr lang="en-US" altLang="ko-KR" dirty="0"/>
                <a:t>,</a:t>
              </a:r>
            </a:p>
            <a:p>
              <a:pPr algn="ctr"/>
              <a:r>
                <a:rPr lang="ko-KR" altLang="en-US" dirty="0"/>
                <a:t>후륜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76019B51-4579-23B3-48EE-53FD61BF830A}"/>
                </a:ext>
              </a:extLst>
            </p:cNvPr>
            <p:cNvSpPr/>
            <p:nvPr/>
          </p:nvSpPr>
          <p:spPr>
            <a:xfrm>
              <a:off x="1392589" y="3463699"/>
              <a:ext cx="1440000" cy="144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2WD</a:t>
              </a:r>
            </a:p>
            <a:p>
              <a:pPr algn="ctr"/>
              <a:r>
                <a:rPr lang="en-US" altLang="ko-KR" dirty="0"/>
                <a:t>(</a:t>
              </a:r>
              <a:r>
                <a:rPr lang="ko-KR" altLang="en-US" dirty="0"/>
                <a:t>후륜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CABBE39F-92DB-EC52-FDFA-A6A4746DAA98}"/>
                </a:ext>
              </a:extLst>
            </p:cNvPr>
            <p:cNvSpPr/>
            <p:nvPr/>
          </p:nvSpPr>
          <p:spPr>
            <a:xfrm>
              <a:off x="3764943" y="3463699"/>
              <a:ext cx="1440000" cy="144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Gener</a:t>
              </a:r>
            </a:p>
            <a:p>
              <a:pPr algn="ctr"/>
              <a:r>
                <a:rPr lang="en-US" altLang="ko-KR" dirty="0" err="1"/>
                <a:t>ator</a:t>
              </a:r>
              <a:endParaRPr lang="en-US" altLang="ko-KR" dirty="0"/>
            </a:p>
            <a:p>
              <a:pPr algn="ctr"/>
              <a:r>
                <a:rPr lang="en-US" altLang="ko-KR" dirty="0"/>
                <a:t>(</a:t>
              </a:r>
              <a:r>
                <a:rPr lang="ko-KR" altLang="en-US" dirty="0"/>
                <a:t>발전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A9E4488F-6381-7894-A080-9C2A4B099E73}"/>
                </a:ext>
              </a:extLst>
            </p:cNvPr>
            <p:cNvCxnSpPr>
              <a:cxnSpLocks/>
            </p:cNvCxnSpPr>
            <p:nvPr/>
          </p:nvCxnSpPr>
          <p:spPr>
            <a:xfrm>
              <a:off x="2832589" y="4014994"/>
              <a:ext cx="932354" cy="0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8DFB0F3D-37C4-C55A-2679-3F0300C99C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2589" y="4261882"/>
              <a:ext cx="93235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9D5108EA-122A-4B1D-5C3C-309F4995FB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93051" y="2729715"/>
              <a:ext cx="539538" cy="776182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F62DC6AA-1326-95C1-BA11-68DC5815C93C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489459" y="2843884"/>
              <a:ext cx="539538" cy="776182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6148A8A-2F9C-1EDC-8183-B91DE1598327}"/>
                </a:ext>
              </a:extLst>
            </p:cNvPr>
            <p:cNvSpPr txBox="1"/>
            <p:nvPr/>
          </p:nvSpPr>
          <p:spPr>
            <a:xfrm>
              <a:off x="2780606" y="4353099"/>
              <a:ext cx="1036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SOC &gt; 40%</a:t>
              </a:r>
              <a:endParaRPr lang="ko-KR" altLang="en-US" sz="1200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86B5423-1059-D6AD-07B2-A453CC9410A1}"/>
                </a:ext>
              </a:extLst>
            </p:cNvPr>
            <p:cNvSpPr txBox="1"/>
            <p:nvPr/>
          </p:nvSpPr>
          <p:spPr>
            <a:xfrm>
              <a:off x="2602823" y="3186700"/>
              <a:ext cx="852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고부하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331EDA8-49CE-5F51-D339-207894A308DB}"/>
                </a:ext>
              </a:extLst>
            </p:cNvPr>
            <p:cNvSpPr txBox="1"/>
            <p:nvPr/>
          </p:nvSpPr>
          <p:spPr>
            <a:xfrm>
              <a:off x="1822276" y="2791773"/>
              <a:ext cx="852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 err="1"/>
                <a:t>저부하</a:t>
              </a:r>
              <a:endParaRPr lang="ko-KR" altLang="en-US" sz="12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F675E94-49CB-AE08-8F50-EA4F3927E71C}"/>
                </a:ext>
              </a:extLst>
            </p:cNvPr>
            <p:cNvSpPr txBox="1"/>
            <p:nvPr/>
          </p:nvSpPr>
          <p:spPr>
            <a:xfrm>
              <a:off x="2780606" y="3684572"/>
              <a:ext cx="1036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SOC &lt; 30%</a:t>
              </a:r>
              <a:endParaRPr lang="ko-KR" altLang="en-US" sz="1200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85A71D6-40A3-8756-4D7C-60DF3988FA7F}"/>
              </a:ext>
            </a:extLst>
          </p:cNvPr>
          <p:cNvSpPr txBox="1"/>
          <p:nvPr/>
        </p:nvSpPr>
        <p:spPr>
          <a:xfrm>
            <a:off x="6201798" y="5286085"/>
            <a:ext cx="5272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기어 선택 </a:t>
            </a:r>
            <a:r>
              <a:rPr lang="en-US" altLang="ko-KR" dirty="0"/>
              <a:t>(1</a:t>
            </a:r>
            <a:r>
              <a:rPr lang="ko-KR" altLang="en-US" dirty="0"/>
              <a:t>단</a:t>
            </a:r>
            <a:r>
              <a:rPr lang="en-US" altLang="ko-KR" dirty="0"/>
              <a:t>, 2</a:t>
            </a:r>
            <a:r>
              <a:rPr lang="ko-KR" altLang="en-US" dirty="0"/>
              <a:t>단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action 1, 2</a:t>
            </a:r>
            <a:r>
              <a:rPr lang="ko-KR" altLang="en-US" dirty="0"/>
              <a:t>로 설정하여</a:t>
            </a:r>
            <a:endParaRPr lang="en-US" altLang="ko-KR" dirty="0"/>
          </a:p>
          <a:p>
            <a:pPr algn="ctr"/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en-US" altLang="ko-KR" dirty="0"/>
              <a:t>DQN</a:t>
            </a:r>
            <a:r>
              <a:rPr lang="ko-KR" altLang="en-US" dirty="0"/>
              <a:t> 알고리즘으로 학습을 진행</a:t>
            </a:r>
            <a:endParaRPr lang="en-US" altLang="ko-KR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65CD5BE-96A5-70C4-CAC2-A87986A9D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418" y="1475590"/>
            <a:ext cx="3890195" cy="263324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E400E66-3B10-BB1A-18DA-81BB8F304B33}"/>
              </a:ext>
            </a:extLst>
          </p:cNvPr>
          <p:cNvSpPr/>
          <p:nvPr/>
        </p:nvSpPr>
        <p:spPr>
          <a:xfrm>
            <a:off x="6001418" y="4695885"/>
            <a:ext cx="5796939" cy="19486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B87DB5-9B53-C477-28D9-245A8F9E3BE2}"/>
              </a:ext>
            </a:extLst>
          </p:cNvPr>
          <p:cNvSpPr/>
          <p:nvPr/>
        </p:nvSpPr>
        <p:spPr>
          <a:xfrm>
            <a:off x="7401249" y="4467224"/>
            <a:ext cx="2736986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Gear </a:t>
            </a:r>
            <a:r>
              <a:rPr lang="ko-KR" altLang="en-US" b="1" dirty="0"/>
              <a:t>선택</a:t>
            </a:r>
            <a:r>
              <a:rPr lang="en-US" altLang="ko-KR" b="1" dirty="0"/>
              <a:t>(</a:t>
            </a:r>
            <a:r>
              <a:rPr lang="ko-KR" altLang="en-US" b="1" dirty="0"/>
              <a:t>강화학습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A8FA9A5-971C-94C5-938F-96CC497B73EB}"/>
              </a:ext>
            </a:extLst>
          </p:cNvPr>
          <p:cNvSpPr/>
          <p:nvPr/>
        </p:nvSpPr>
        <p:spPr>
          <a:xfrm>
            <a:off x="7969374" y="2258060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4CD317B-0660-EDEE-8B44-854AFD0E495D}"/>
              </a:ext>
            </a:extLst>
          </p:cNvPr>
          <p:cNvCxnSpPr>
            <a:cxnSpLocks/>
            <a:endCxn id="9" idx="7"/>
          </p:cNvCxnSpPr>
          <p:nvPr/>
        </p:nvCxnSpPr>
        <p:spPr>
          <a:xfrm flipH="1">
            <a:off x="8061558" y="1893225"/>
            <a:ext cx="503322" cy="3806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837F927-8E9C-7181-B175-3EB8DDE02C8C}"/>
              </a:ext>
            </a:extLst>
          </p:cNvPr>
          <p:cNvSpPr txBox="1"/>
          <p:nvPr/>
        </p:nvSpPr>
        <p:spPr>
          <a:xfrm>
            <a:off x="8541142" y="1715561"/>
            <a:ext cx="1033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solidFill>
                  <a:srgbClr val="FF0000"/>
                </a:solidFill>
              </a:rPr>
              <a:t>효율교차점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972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kern="1200" baseline="0" dirty="0">
                <a:latin typeface="+mn-lt"/>
                <a:ea typeface="+mn-ea"/>
                <a:cs typeface="+mn-cs"/>
              </a:rPr>
              <a:t>4. VCU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제어 로직 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– Step 2,3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토크 계산 및 분배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4" y="3594320"/>
            <a:ext cx="11267332" cy="3038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C6F8FB-7C86-521B-4623-929578084725}"/>
              </a:ext>
            </a:extLst>
          </p:cNvPr>
          <p:cNvSpPr txBox="1"/>
          <p:nvPr/>
        </p:nvSpPr>
        <p:spPr>
          <a:xfrm>
            <a:off x="9601823" y="1755931"/>
            <a:ext cx="1810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요구 구동 토크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요구 제동 토크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98175D9-BCE4-2DA0-FCCD-B12EBDEBA39F}"/>
              </a:ext>
            </a:extLst>
          </p:cNvPr>
          <p:cNvSpPr/>
          <p:nvPr/>
        </p:nvSpPr>
        <p:spPr>
          <a:xfrm>
            <a:off x="1092639" y="3246407"/>
            <a:ext cx="2121449" cy="68573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토크 분배 및 제한</a:t>
            </a:r>
            <a:r>
              <a:rPr lang="en-US" altLang="ko-KR" b="1" dirty="0"/>
              <a:t>(Step 3)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032BFA-7C37-FFED-6C55-87A07F64E127}"/>
              </a:ext>
            </a:extLst>
          </p:cNvPr>
          <p:cNvSpPr txBox="1"/>
          <p:nvPr/>
        </p:nvSpPr>
        <p:spPr>
          <a:xfrm>
            <a:off x="763899" y="4004572"/>
            <a:ext cx="3548404" cy="14773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500" b="1" dirty="0"/>
              <a:t>4WD Mode</a:t>
            </a:r>
          </a:p>
          <a:p>
            <a:endParaRPr lang="en-US" altLang="ko-KR" sz="1500" dirty="0"/>
          </a:p>
          <a:p>
            <a:r>
              <a:rPr lang="ko-KR" altLang="en-US" sz="1500" dirty="0"/>
              <a:t>전륜</a:t>
            </a:r>
            <a:r>
              <a:rPr lang="en-US" altLang="ko-KR" sz="1500" dirty="0"/>
              <a:t>:</a:t>
            </a:r>
            <a:r>
              <a:rPr lang="ko-KR" altLang="en-US" sz="1500" dirty="0"/>
              <a:t> </a:t>
            </a:r>
            <a:r>
              <a:rPr lang="ko-KR" altLang="en-US" sz="1500" dirty="0">
                <a:ln>
                  <a:solidFill>
                    <a:sysClr val="windowText" lastClr="000000"/>
                  </a:solidFill>
                </a:ln>
              </a:rPr>
              <a:t>████████</a:t>
            </a:r>
            <a:r>
              <a:rPr lang="ko-KR" altLang="en-US" sz="15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████████████</a:t>
            </a:r>
            <a:r>
              <a:rPr lang="ko-KR" altLang="en-US" sz="1500" dirty="0"/>
              <a:t> </a:t>
            </a:r>
            <a:r>
              <a:rPr lang="en-US" altLang="ko-KR" sz="1500" dirty="0"/>
              <a:t>40% </a:t>
            </a:r>
          </a:p>
          <a:p>
            <a:r>
              <a:rPr lang="ko-KR" altLang="en-US" sz="1500" dirty="0"/>
              <a:t>후륜</a:t>
            </a:r>
            <a:r>
              <a:rPr lang="en-US" altLang="ko-KR" sz="1500" dirty="0"/>
              <a:t>:</a:t>
            </a:r>
            <a:r>
              <a:rPr lang="ko-KR" altLang="en-US" sz="1500" dirty="0"/>
              <a:t> </a:t>
            </a:r>
            <a:r>
              <a:rPr lang="ko-KR" altLang="en-US" sz="1500" dirty="0">
                <a:ln>
                  <a:solidFill>
                    <a:sysClr val="windowText" lastClr="000000"/>
                  </a:solidFill>
                </a:ln>
              </a:rPr>
              <a:t>████████████</a:t>
            </a:r>
            <a:r>
              <a:rPr lang="ko-KR" altLang="en-US" sz="15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████████</a:t>
            </a:r>
            <a:r>
              <a:rPr lang="ko-KR" altLang="en-US" sz="1500" dirty="0"/>
              <a:t> </a:t>
            </a:r>
            <a:r>
              <a:rPr lang="en-US" altLang="ko-KR" sz="1500" dirty="0"/>
              <a:t>60%</a:t>
            </a:r>
          </a:p>
          <a:p>
            <a:endParaRPr lang="en-US" altLang="ko-KR" sz="1500" dirty="0"/>
          </a:p>
          <a:p>
            <a:r>
              <a:rPr lang="en-US" altLang="ko-KR" sz="1500" dirty="0"/>
              <a:t>- </a:t>
            </a:r>
            <a:r>
              <a:rPr lang="ko-KR" altLang="en-US" sz="1500" dirty="0"/>
              <a:t>고부하 상황</a:t>
            </a:r>
            <a:r>
              <a:rPr lang="en-US" altLang="ko-KR" sz="1500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5BBB67-88E4-E359-A647-C52DC1D13286}"/>
              </a:ext>
            </a:extLst>
          </p:cNvPr>
          <p:cNvSpPr txBox="1"/>
          <p:nvPr/>
        </p:nvSpPr>
        <p:spPr>
          <a:xfrm>
            <a:off x="4358724" y="4004572"/>
            <a:ext cx="36820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/>
              <a:t>2WD Mode</a:t>
            </a:r>
          </a:p>
          <a:p>
            <a:endParaRPr lang="en-US" altLang="ko-KR" sz="1500" dirty="0"/>
          </a:p>
          <a:p>
            <a:r>
              <a:rPr lang="ko-KR" altLang="en-US" sz="1500" dirty="0"/>
              <a:t>전륜</a:t>
            </a:r>
            <a:r>
              <a:rPr lang="en-US" altLang="ko-KR" sz="1500" dirty="0"/>
              <a:t>:</a:t>
            </a:r>
            <a:r>
              <a:rPr lang="ko-KR" altLang="en-US" sz="1500" dirty="0"/>
              <a:t> </a:t>
            </a:r>
            <a:r>
              <a:rPr lang="ko-KR" altLang="en-US" sz="15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████████████████████</a:t>
            </a:r>
            <a:r>
              <a:rPr lang="ko-KR" altLang="en-US" sz="1500" dirty="0"/>
              <a:t> </a:t>
            </a:r>
            <a:r>
              <a:rPr lang="en-US" altLang="ko-KR" sz="1500" dirty="0"/>
              <a:t>0%</a:t>
            </a:r>
          </a:p>
          <a:p>
            <a:r>
              <a:rPr lang="ko-KR" altLang="en-US" sz="1500" dirty="0"/>
              <a:t>후륜</a:t>
            </a:r>
            <a:r>
              <a:rPr lang="en-US" altLang="ko-KR" sz="1500" dirty="0"/>
              <a:t>:</a:t>
            </a:r>
            <a:r>
              <a:rPr lang="ko-KR" altLang="en-US" sz="1500" dirty="0"/>
              <a:t> ████████████████████ </a:t>
            </a:r>
            <a:r>
              <a:rPr lang="en-US" altLang="ko-KR" sz="1500" dirty="0"/>
              <a:t>100%</a:t>
            </a:r>
          </a:p>
          <a:p>
            <a:endParaRPr lang="en-US" altLang="ko-KR" sz="1500" dirty="0"/>
          </a:p>
          <a:p>
            <a:r>
              <a:rPr lang="en-US" altLang="ko-KR" sz="1500" dirty="0"/>
              <a:t>- </a:t>
            </a:r>
            <a:r>
              <a:rPr lang="ko-KR" altLang="en-US" sz="1500" dirty="0"/>
              <a:t>일반 주행</a:t>
            </a:r>
            <a:r>
              <a:rPr lang="en-US" altLang="ko-KR" sz="1500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C73699-7F99-D82C-E472-6B99C07E4161}"/>
              </a:ext>
            </a:extLst>
          </p:cNvPr>
          <p:cNvSpPr txBox="1"/>
          <p:nvPr/>
        </p:nvSpPr>
        <p:spPr>
          <a:xfrm>
            <a:off x="7941756" y="4004572"/>
            <a:ext cx="37993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/>
              <a:t>Generator Mode</a:t>
            </a:r>
          </a:p>
          <a:p>
            <a:endParaRPr lang="en-US" altLang="ko-KR" sz="1500" dirty="0"/>
          </a:p>
          <a:p>
            <a:r>
              <a:rPr lang="ko-KR" altLang="en-US" sz="1500" dirty="0"/>
              <a:t>전륜</a:t>
            </a:r>
            <a:r>
              <a:rPr lang="en-US" altLang="ko-KR" sz="1500" dirty="0"/>
              <a:t>:</a:t>
            </a:r>
            <a:r>
              <a:rPr lang="ko-KR" altLang="en-US" sz="1500" dirty="0"/>
              <a:t> </a:t>
            </a:r>
            <a:r>
              <a:rPr lang="ko-KR" altLang="en-US" sz="15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████████████████████ </a:t>
            </a:r>
            <a:r>
              <a:rPr lang="en-US" altLang="ko-KR" sz="1500" dirty="0"/>
              <a:t>0% (</a:t>
            </a:r>
            <a:r>
              <a:rPr lang="ko-KR" altLang="en-US" sz="1500" dirty="0"/>
              <a:t>발전</a:t>
            </a:r>
            <a:r>
              <a:rPr lang="en-US" altLang="ko-KR" sz="1500" dirty="0"/>
              <a:t>) </a:t>
            </a:r>
          </a:p>
          <a:p>
            <a:r>
              <a:rPr lang="ko-KR" altLang="en-US" sz="1500" dirty="0"/>
              <a:t>후륜</a:t>
            </a:r>
            <a:r>
              <a:rPr lang="en-US" altLang="ko-KR" sz="1500" dirty="0"/>
              <a:t>:</a:t>
            </a:r>
            <a:r>
              <a:rPr lang="ko-KR" altLang="en-US" sz="1500" dirty="0"/>
              <a:t> ████████████████████ </a:t>
            </a:r>
            <a:r>
              <a:rPr lang="en-US" altLang="ko-KR" sz="1500" dirty="0"/>
              <a:t>100%</a:t>
            </a:r>
          </a:p>
          <a:p>
            <a:endParaRPr lang="en-US" altLang="ko-KR" sz="1500" dirty="0"/>
          </a:p>
          <a:p>
            <a:r>
              <a:rPr lang="en-US" altLang="ko-KR" sz="1500" dirty="0"/>
              <a:t>- SOC &lt; 30%</a:t>
            </a:r>
            <a:r>
              <a:rPr lang="ko-KR" altLang="en-US" sz="1500" dirty="0"/>
              <a:t>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870B69-152C-5C35-42D6-36D70DCD8554}"/>
                  </a:ext>
                </a:extLst>
              </p:cNvPr>
              <p:cNvSpPr txBox="1"/>
              <p:nvPr/>
            </p:nvSpPr>
            <p:spPr>
              <a:xfrm>
                <a:off x="1300636" y="1425128"/>
                <a:ext cx="1144646" cy="1292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𝐴𝑃</m:t>
                      </m:r>
                    </m:oMath>
                  </m:oMathPara>
                </a14:m>
                <a:endParaRPr lang="en-US" altLang="ko-KR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𝐵𝑃</m:t>
                      </m:r>
                    </m:oMath>
                  </m:oMathPara>
                </a14:m>
                <a:endParaRPr lang="en-US" altLang="ko-KR" dirty="0"/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기</m:t>
                    </m:r>
                  </m:oMath>
                </a14:m>
                <a:r>
                  <a:rPr lang="ko-KR" altLang="en-US" dirty="0"/>
                  <a:t>어비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870B69-152C-5C35-42D6-36D70DCD8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636" y="1425128"/>
                <a:ext cx="1144646" cy="1292149"/>
              </a:xfrm>
              <a:prstGeom prst="rect">
                <a:avLst/>
              </a:prstGeom>
              <a:blipFill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직사각형 43">
            <a:extLst>
              <a:ext uri="{FF2B5EF4-FFF2-40B4-BE49-F238E27FC236}">
                <a16:creationId xmlns:a16="http://schemas.microsoft.com/office/drawing/2014/main" id="{314F5AA9-C2B8-1376-02B3-888971C95ED3}"/>
              </a:ext>
            </a:extLst>
          </p:cNvPr>
          <p:cNvSpPr/>
          <p:nvPr/>
        </p:nvSpPr>
        <p:spPr>
          <a:xfrm>
            <a:off x="5294510" y="1409894"/>
            <a:ext cx="1810512" cy="8077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요구 토크 계산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9D70475-C94E-63F6-F1B1-2A2FAE3B3ED9}"/>
              </a:ext>
            </a:extLst>
          </p:cNvPr>
          <p:cNvSpPr/>
          <p:nvPr/>
        </p:nvSpPr>
        <p:spPr>
          <a:xfrm>
            <a:off x="516514" y="1118793"/>
            <a:ext cx="11267332" cy="19141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12D979-E2FD-BD78-4552-5E733091E744}"/>
              </a:ext>
            </a:extLst>
          </p:cNvPr>
          <p:cNvSpPr/>
          <p:nvPr/>
        </p:nvSpPr>
        <p:spPr>
          <a:xfrm>
            <a:off x="1113122" y="905377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토크 계산</a:t>
            </a:r>
            <a:r>
              <a:rPr lang="en-US" altLang="ko-KR" b="1" dirty="0"/>
              <a:t> (Step 2)</a:t>
            </a:r>
            <a:endParaRPr lang="ko-KR" altLang="en-US" b="1" dirty="0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35FC4502-F847-C819-E098-F793DA75AFBE}"/>
              </a:ext>
            </a:extLst>
          </p:cNvPr>
          <p:cNvSpPr/>
          <p:nvPr/>
        </p:nvSpPr>
        <p:spPr>
          <a:xfrm>
            <a:off x="2850039" y="1937430"/>
            <a:ext cx="673528" cy="49675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2A892A87-DFD9-3B0E-FBEA-96ACBEC38AB2}"/>
              </a:ext>
            </a:extLst>
          </p:cNvPr>
          <p:cNvSpPr/>
          <p:nvPr/>
        </p:nvSpPr>
        <p:spPr>
          <a:xfrm>
            <a:off x="8604482" y="1903045"/>
            <a:ext cx="673528" cy="49675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B92303D-A034-62D7-BD92-B62167EFBEA4}"/>
              </a:ext>
            </a:extLst>
          </p:cNvPr>
          <p:cNvSpPr/>
          <p:nvPr/>
        </p:nvSpPr>
        <p:spPr>
          <a:xfrm>
            <a:off x="841075" y="5764847"/>
            <a:ext cx="1799205" cy="639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토크 분배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D53D986-93EC-EC29-13C7-505EF6746E95}"/>
              </a:ext>
            </a:extLst>
          </p:cNvPr>
          <p:cNvSpPr/>
          <p:nvPr/>
        </p:nvSpPr>
        <p:spPr>
          <a:xfrm>
            <a:off x="3025984" y="5764847"/>
            <a:ext cx="1799205" cy="639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토크 제한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55FB468-80A7-ADE2-7180-43C69326D149}"/>
              </a:ext>
            </a:extLst>
          </p:cNvPr>
          <p:cNvSpPr/>
          <p:nvPr/>
        </p:nvSpPr>
        <p:spPr>
          <a:xfrm>
            <a:off x="5210893" y="5764847"/>
            <a:ext cx="1799205" cy="639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최종 지령</a:t>
            </a:r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5A3E2BA6-54F5-F9C5-CBA3-2E3B67321F48}"/>
              </a:ext>
            </a:extLst>
          </p:cNvPr>
          <p:cNvCxnSpPr/>
          <p:nvPr/>
        </p:nvCxnSpPr>
        <p:spPr>
          <a:xfrm>
            <a:off x="763899" y="5628640"/>
            <a:ext cx="105517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69517AC-EC0F-BA8A-3032-42DC5505A6F1}"/>
              </a:ext>
            </a:extLst>
          </p:cNvPr>
          <p:cNvCxnSpPr>
            <a:stCxn id="22" idx="3"/>
            <a:endCxn id="23" idx="1"/>
          </p:cNvCxnSpPr>
          <p:nvPr/>
        </p:nvCxnSpPr>
        <p:spPr>
          <a:xfrm>
            <a:off x="2640280" y="6084508"/>
            <a:ext cx="38570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5918203-6986-5719-B26D-7C4111439D5E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>
            <a:off x="4825189" y="6084508"/>
            <a:ext cx="38570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4750C70-2EBD-1D5A-8BB7-0C70E92790A5}"/>
              </a:ext>
            </a:extLst>
          </p:cNvPr>
          <p:cNvSpPr txBox="1"/>
          <p:nvPr/>
        </p:nvSpPr>
        <p:spPr>
          <a:xfrm>
            <a:off x="6849714" y="5777759"/>
            <a:ext cx="5036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모터의 물리적 최대 토크</a:t>
            </a:r>
            <a:r>
              <a:rPr lang="en-US" altLang="ko-KR" dirty="0">
                <a:solidFill>
                  <a:schemeClr val="tx1"/>
                </a:solidFill>
              </a:rPr>
              <a:t>(T-N Curve)</a:t>
            </a:r>
            <a:r>
              <a:rPr lang="ko-KR" altLang="en-US" dirty="0">
                <a:solidFill>
                  <a:schemeClr val="tx1"/>
                </a:solidFill>
              </a:rPr>
              <a:t>에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따른 </a:t>
            </a:r>
            <a:r>
              <a:rPr lang="ko-KR" altLang="en-US" dirty="0"/>
              <a:t>최종 지령 토크 제한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79581F-E056-A50C-0F30-788E3376F84D}"/>
              </a:ext>
            </a:extLst>
          </p:cNvPr>
          <p:cNvSpPr txBox="1"/>
          <p:nvPr/>
        </p:nvSpPr>
        <p:spPr>
          <a:xfrm>
            <a:off x="3512771" y="2324304"/>
            <a:ext cx="524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운전자의 가속의지</a:t>
            </a:r>
            <a:r>
              <a:rPr lang="en-US" altLang="ko-KR" dirty="0">
                <a:solidFill>
                  <a:schemeClr val="tx1"/>
                </a:solidFill>
              </a:rPr>
              <a:t>(Ap) </a:t>
            </a:r>
            <a:r>
              <a:rPr lang="ko-KR" altLang="en-US" dirty="0">
                <a:solidFill>
                  <a:schemeClr val="tx1"/>
                </a:solidFill>
              </a:rPr>
              <a:t>및 제동의지</a:t>
            </a:r>
            <a:r>
              <a:rPr lang="en-US" altLang="ko-KR" dirty="0">
                <a:solidFill>
                  <a:schemeClr val="tx1"/>
                </a:solidFill>
              </a:rPr>
              <a:t>(Bp)</a:t>
            </a:r>
            <a:r>
              <a:rPr lang="ko-KR" altLang="en-US" dirty="0">
                <a:solidFill>
                  <a:schemeClr val="tx1"/>
                </a:solidFill>
              </a:rPr>
              <a:t>에 따라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선형적으로 요구 토크 산출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304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kern="1200" baseline="0" dirty="0">
                <a:latin typeface="+mn-lt"/>
                <a:ea typeface="+mn-ea"/>
                <a:cs typeface="+mn-cs"/>
              </a:rPr>
              <a:t>4. VCU </a:t>
            </a:r>
            <a:r>
              <a:rPr lang="ko-KR" altLang="en-US" kern="1200" baseline="0" dirty="0">
                <a:latin typeface="+mn-lt"/>
                <a:ea typeface="+mn-ea"/>
                <a:cs typeface="+mn-cs"/>
              </a:rPr>
              <a:t>제어 로직 </a:t>
            </a:r>
            <a:r>
              <a:rPr lang="en-US" altLang="ko-KR" kern="1200" baseline="0" dirty="0">
                <a:latin typeface="+mn-lt"/>
                <a:ea typeface="+mn-ea"/>
                <a:cs typeface="+mn-cs"/>
              </a:rPr>
              <a:t>– </a:t>
            </a:r>
            <a:r>
              <a:rPr lang="en-US" altLang="ko-KR" dirty="0"/>
              <a:t>Step 4. </a:t>
            </a:r>
            <a:r>
              <a:rPr lang="ko-KR" altLang="en-US" dirty="0"/>
              <a:t>엔진 발전 제어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3" y="1010730"/>
            <a:ext cx="11245817" cy="56338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C09F826-8099-7A55-2F6F-B02F4F6C9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53" y="2096841"/>
            <a:ext cx="5763872" cy="3629578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7796AC5-47F0-7429-FAF1-870550AA7F01}"/>
              </a:ext>
            </a:extLst>
          </p:cNvPr>
          <p:cNvCxnSpPr>
            <a:cxnSpLocks/>
          </p:cNvCxnSpPr>
          <p:nvPr/>
        </p:nvCxnSpPr>
        <p:spPr>
          <a:xfrm flipH="1" flipV="1">
            <a:off x="2448560" y="3302000"/>
            <a:ext cx="590806" cy="25452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B79BB7-9EAF-A647-CBA6-AAAD16A03D51}"/>
              </a:ext>
            </a:extLst>
          </p:cNvPr>
          <p:cNvSpPr txBox="1"/>
          <p:nvPr/>
        </p:nvSpPr>
        <p:spPr>
          <a:xfrm>
            <a:off x="2032512" y="5847270"/>
            <a:ext cx="19527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dirty="0"/>
              <a:t>Sweet Spot</a:t>
            </a:r>
            <a:br>
              <a:rPr lang="en-US" altLang="ko-KR" sz="1500" b="1" dirty="0"/>
            </a:br>
            <a:r>
              <a:rPr lang="en-US" altLang="ko-KR" sz="1500" b="1" dirty="0"/>
              <a:t>(2200rpm, 180Nm)</a:t>
            </a:r>
            <a:endParaRPr lang="ko-KR" altLang="en-US" sz="15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C77099-5653-A7E1-4BE0-1CB416C51ABD}"/>
              </a:ext>
            </a:extLst>
          </p:cNvPr>
          <p:cNvSpPr txBox="1"/>
          <p:nvPr/>
        </p:nvSpPr>
        <p:spPr>
          <a:xfrm>
            <a:off x="6924715" y="1964178"/>
            <a:ext cx="412496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Target SOC : 30~40%</a:t>
            </a:r>
          </a:p>
          <a:p>
            <a:endParaRPr lang="en-US" altLang="ko-KR" sz="1500" dirty="0"/>
          </a:p>
          <a:p>
            <a:r>
              <a:rPr lang="en-US" altLang="ko-KR" sz="1500" dirty="0"/>
              <a:t>If) SOC &lt; 30%</a:t>
            </a:r>
          </a:p>
          <a:p>
            <a:r>
              <a:rPr lang="en-US" altLang="ko-KR" sz="1500" dirty="0"/>
              <a:t> -&gt; </a:t>
            </a:r>
            <a:r>
              <a:rPr lang="ko-KR" altLang="en-US" sz="1500" dirty="0"/>
              <a:t>엔진 가동 </a:t>
            </a:r>
            <a:r>
              <a:rPr lang="en-US" altLang="ko-KR" sz="1500" dirty="0"/>
              <a:t>(ON)</a:t>
            </a:r>
          </a:p>
          <a:p>
            <a:endParaRPr lang="en-US" altLang="ko-KR" sz="1500" dirty="0"/>
          </a:p>
          <a:p>
            <a:r>
              <a:rPr lang="en-US" altLang="ko-KR" sz="1500" dirty="0"/>
              <a:t>If) SOC &gt; 40%</a:t>
            </a:r>
          </a:p>
          <a:p>
            <a:r>
              <a:rPr lang="en-US" altLang="ko-KR" sz="1500" dirty="0"/>
              <a:t> -&gt; </a:t>
            </a:r>
            <a:r>
              <a:rPr lang="ko-KR" altLang="en-US" sz="1500" dirty="0"/>
              <a:t>엔진 정지 </a:t>
            </a:r>
            <a:r>
              <a:rPr lang="en-US" altLang="ko-KR" sz="1500" dirty="0"/>
              <a:t>(OFF)</a:t>
            </a:r>
            <a:endParaRPr lang="ko-KR" altLang="en-US" sz="15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67386A-4168-FEFC-7DF0-3E1A34083F5E}"/>
              </a:ext>
            </a:extLst>
          </p:cNvPr>
          <p:cNvSpPr/>
          <p:nvPr/>
        </p:nvSpPr>
        <p:spPr>
          <a:xfrm>
            <a:off x="6520045" y="4778543"/>
            <a:ext cx="5043102" cy="155785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F23356-9AA2-56DA-ED9F-33B3E90D5C7D}"/>
              </a:ext>
            </a:extLst>
          </p:cNvPr>
          <p:cNvSpPr txBox="1"/>
          <p:nvPr/>
        </p:nvSpPr>
        <p:spPr>
          <a:xfrm>
            <a:off x="6705169" y="5239599"/>
            <a:ext cx="467716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Cambria Math" panose="02040503050406030204" pitchFamily="18" charset="0"/>
              </a:rPr>
              <a:t>항상 </a:t>
            </a:r>
            <a:r>
              <a:rPr lang="en-US" altLang="ko-KR" sz="1500" b="1" dirty="0">
                <a:latin typeface="Cambria Math" panose="02040503050406030204" pitchFamily="18" charset="0"/>
              </a:rPr>
              <a:t>Sweet Spot(</a:t>
            </a:r>
            <a:r>
              <a:rPr lang="ko-KR" altLang="en-US" sz="1500" b="1" dirty="0">
                <a:latin typeface="Cambria Math" panose="02040503050406030204" pitchFamily="18" charset="0"/>
              </a:rPr>
              <a:t>고효율 구간</a:t>
            </a:r>
            <a:r>
              <a:rPr lang="en-US" altLang="ko-KR" sz="1500" b="1" dirty="0">
                <a:latin typeface="Cambria Math" panose="02040503050406030204" pitchFamily="18" charset="0"/>
              </a:rPr>
              <a:t>)</a:t>
            </a:r>
            <a:r>
              <a:rPr lang="ko-KR" altLang="en-US" sz="1500" b="1" dirty="0">
                <a:latin typeface="Cambria Math" panose="02040503050406030204" pitchFamily="18" charset="0"/>
              </a:rPr>
              <a:t>에서만 작동하도록 명령</a:t>
            </a:r>
            <a:endParaRPr lang="en-US" altLang="ko-KR" sz="1500" b="1" dirty="0">
              <a:latin typeface="Cambria Math" panose="02040503050406030204" pitchFamily="18" charset="0"/>
            </a:endParaRPr>
          </a:p>
          <a:p>
            <a:endParaRPr lang="en-US" altLang="ko-KR" sz="1500" dirty="0">
              <a:latin typeface="Cambria Math" panose="02040503050406030204" pitchFamily="18" charset="0"/>
            </a:endParaRPr>
          </a:p>
          <a:p>
            <a:r>
              <a:rPr lang="en-US" altLang="ko-KR" sz="1500" dirty="0">
                <a:latin typeface="Cambria Math" panose="02040503050406030204" pitchFamily="18" charset="0"/>
              </a:rPr>
              <a:t> -&gt; </a:t>
            </a:r>
            <a:r>
              <a:rPr lang="ko-KR" altLang="en-US" sz="1500" dirty="0">
                <a:latin typeface="Cambria Math" panose="02040503050406030204" pitchFamily="18" charset="0"/>
              </a:rPr>
              <a:t>엔진 속도 </a:t>
            </a:r>
            <a:r>
              <a:rPr lang="en-US" altLang="ko-KR" sz="1500" dirty="0">
                <a:latin typeface="Cambria Math" panose="02040503050406030204" pitchFamily="18" charset="0"/>
              </a:rPr>
              <a:t>: 2200 rpm, </a:t>
            </a:r>
            <a:r>
              <a:rPr lang="ko-KR" altLang="en-US" sz="1500" dirty="0">
                <a:latin typeface="Cambria Math" panose="02040503050406030204" pitchFamily="18" charset="0"/>
              </a:rPr>
              <a:t>엔진 토크 </a:t>
            </a:r>
            <a:r>
              <a:rPr lang="en-US" altLang="ko-KR" sz="1500" dirty="0">
                <a:latin typeface="Cambria Math" panose="02040503050406030204" pitchFamily="18" charset="0"/>
              </a:rPr>
              <a:t>: 180Nm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119CFE5-AC8F-E218-8E3E-28A14760F828}"/>
              </a:ext>
            </a:extLst>
          </p:cNvPr>
          <p:cNvSpPr/>
          <p:nvPr/>
        </p:nvSpPr>
        <p:spPr>
          <a:xfrm>
            <a:off x="7958495" y="4544500"/>
            <a:ext cx="2057400" cy="4680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엔진 속도</a:t>
            </a:r>
            <a:r>
              <a:rPr lang="en-US" altLang="ko-KR" sz="1500" b="1" dirty="0">
                <a:solidFill>
                  <a:schemeClr val="tx1"/>
                </a:solidFill>
              </a:rPr>
              <a:t>, </a:t>
            </a:r>
            <a:r>
              <a:rPr lang="ko-KR" altLang="en-US" sz="1500" b="1" dirty="0">
                <a:solidFill>
                  <a:schemeClr val="tx1"/>
                </a:solidFill>
              </a:rPr>
              <a:t>토크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7BF5E83-E483-D3D7-3660-7AD8AA330B44}"/>
              </a:ext>
            </a:extLst>
          </p:cNvPr>
          <p:cNvSpPr/>
          <p:nvPr/>
        </p:nvSpPr>
        <p:spPr>
          <a:xfrm>
            <a:off x="6520045" y="1584412"/>
            <a:ext cx="5043102" cy="240491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3C42755-D24D-2CAE-9365-7C2E9D98989F}"/>
              </a:ext>
            </a:extLst>
          </p:cNvPr>
          <p:cNvSpPr/>
          <p:nvPr/>
        </p:nvSpPr>
        <p:spPr>
          <a:xfrm>
            <a:off x="7958495" y="1350369"/>
            <a:ext cx="2057400" cy="4680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엔진 작동</a:t>
            </a:r>
          </a:p>
        </p:txBody>
      </p:sp>
    </p:spTree>
    <p:extLst>
      <p:ext uri="{BB962C8B-B14F-4D97-AF65-F5344CB8AC3E}">
        <p14:creationId xmlns:p14="http://schemas.microsoft.com/office/powerpoint/2010/main" val="25954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kern="1200" baseline="0" dirty="0">
                <a:latin typeface="+mn-lt"/>
                <a:ea typeface="+mn-ea"/>
                <a:cs typeface="+mn-cs"/>
              </a:rPr>
              <a:t>4. </a:t>
            </a:r>
            <a:r>
              <a:rPr lang="en-US" altLang="ko-KR" dirty="0">
                <a:latin typeface="+mn-lt"/>
                <a:ea typeface="+mn-ea"/>
                <a:cs typeface="+mn-cs"/>
              </a:rPr>
              <a:t>VCU</a:t>
            </a:r>
            <a:r>
              <a:rPr lang="ko-KR" altLang="en-US" dirty="0">
                <a:latin typeface="+mn-lt"/>
                <a:ea typeface="+mn-ea"/>
                <a:cs typeface="+mn-cs"/>
              </a:rPr>
              <a:t> 제어 로직 </a:t>
            </a:r>
            <a:r>
              <a:rPr lang="en-US" altLang="ko-KR" dirty="0">
                <a:latin typeface="+mn-lt"/>
                <a:ea typeface="+mn-ea"/>
                <a:cs typeface="+mn-cs"/>
              </a:rPr>
              <a:t>- Simulink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5D59C50-ABCA-6B95-A204-101702A9A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24" y="932809"/>
            <a:ext cx="8914740" cy="5691545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A6ED8C61-83C6-08B1-482D-B12B4AC0E605}"/>
              </a:ext>
            </a:extLst>
          </p:cNvPr>
          <p:cNvGrpSpPr/>
          <p:nvPr/>
        </p:nvGrpSpPr>
        <p:grpSpPr>
          <a:xfrm>
            <a:off x="8973244" y="932809"/>
            <a:ext cx="2814812" cy="1739271"/>
            <a:chOff x="7924203" y="1038636"/>
            <a:chExt cx="3766263" cy="221961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9973AA2-18B3-E9C9-2AA6-6E6ED57D1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24203" y="1038636"/>
              <a:ext cx="3766263" cy="22196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5C23D3B-0692-5466-804B-F598BD6CBA25}"/>
                </a:ext>
              </a:extLst>
            </p:cNvPr>
            <p:cNvSpPr/>
            <p:nvPr/>
          </p:nvSpPr>
          <p:spPr>
            <a:xfrm>
              <a:off x="8530826" y="1070324"/>
              <a:ext cx="401202" cy="2069338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C6D601E-512E-24A9-2299-F04FC34B6CCF}"/>
                </a:ext>
              </a:extLst>
            </p:cNvPr>
            <p:cNvSpPr/>
            <p:nvPr/>
          </p:nvSpPr>
          <p:spPr>
            <a:xfrm>
              <a:off x="8024797" y="1675062"/>
              <a:ext cx="291610" cy="4793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730B602-EC7C-B48B-1C3D-18F94276FDE4}"/>
                </a:ext>
              </a:extLst>
            </p:cNvPr>
            <p:cNvSpPr/>
            <p:nvPr/>
          </p:nvSpPr>
          <p:spPr>
            <a:xfrm>
              <a:off x="10250467" y="1070324"/>
              <a:ext cx="436464" cy="3689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FDBB6F3-7E67-90D1-2925-448EFA72049A}"/>
                </a:ext>
              </a:extLst>
            </p:cNvPr>
            <p:cNvSpPr/>
            <p:nvPr/>
          </p:nvSpPr>
          <p:spPr>
            <a:xfrm>
              <a:off x="10250467" y="1530264"/>
              <a:ext cx="436464" cy="6859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45DC62C-B410-3462-B1AC-7722DBAAA9F1}"/>
                </a:ext>
              </a:extLst>
            </p:cNvPr>
            <p:cNvSpPr/>
            <p:nvPr/>
          </p:nvSpPr>
          <p:spPr>
            <a:xfrm>
              <a:off x="11284976" y="1787162"/>
              <a:ext cx="303466" cy="13331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4430365-D72E-BFE6-028B-FB96734918B9}"/>
                </a:ext>
              </a:extLst>
            </p:cNvPr>
            <p:cNvSpPr/>
            <p:nvPr/>
          </p:nvSpPr>
          <p:spPr>
            <a:xfrm>
              <a:off x="10267620" y="2405697"/>
              <a:ext cx="401201" cy="6859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2A0AB79-269D-D4A7-EF84-60B8A52B0778}"/>
                </a:ext>
              </a:extLst>
            </p:cNvPr>
            <p:cNvSpPr/>
            <p:nvPr/>
          </p:nvSpPr>
          <p:spPr>
            <a:xfrm>
              <a:off x="9120295" y="2738077"/>
              <a:ext cx="687039" cy="3822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9603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kern="1200" baseline="0" dirty="0">
                <a:latin typeface="+mn-lt"/>
                <a:ea typeface="+mn-ea"/>
                <a:cs typeface="+mn-cs"/>
              </a:rPr>
              <a:t>5. </a:t>
            </a:r>
            <a:r>
              <a:rPr lang="ko-KR" altLang="en-US" dirty="0"/>
              <a:t>시뮬레이션 및 결과 </a:t>
            </a:r>
            <a:r>
              <a:rPr lang="en-US" altLang="ko-KR" dirty="0"/>
              <a:t>- </a:t>
            </a:r>
            <a:r>
              <a:rPr lang="ko-KR" altLang="en-US" dirty="0">
                <a:latin typeface="+mn-lt"/>
                <a:ea typeface="+mn-ea"/>
                <a:cs typeface="+mn-cs"/>
              </a:rPr>
              <a:t>동작 확인 검증</a:t>
            </a:r>
            <a:r>
              <a:rPr lang="en-US" altLang="ko-KR" dirty="0">
                <a:latin typeface="+mn-lt"/>
                <a:ea typeface="+mn-ea"/>
                <a:cs typeface="+mn-cs"/>
              </a:rPr>
              <a:t>(Rule Based)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4" y="1143344"/>
            <a:ext cx="11202786" cy="54595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1F2127C-A28C-DFA6-EC0C-CF31E747E061}"/>
              </a:ext>
            </a:extLst>
          </p:cNvPr>
          <p:cNvSpPr/>
          <p:nvPr/>
        </p:nvSpPr>
        <p:spPr>
          <a:xfrm>
            <a:off x="4927207" y="898929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속도 추종 확인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9E409F-CA6C-FE26-0798-3C2DEDED82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847" y="1626891"/>
            <a:ext cx="5330485" cy="29338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7B181B-CED3-1350-266E-4F295A513C0D}"/>
              </a:ext>
            </a:extLst>
          </p:cNvPr>
          <p:cNvSpPr txBox="1"/>
          <p:nvPr/>
        </p:nvSpPr>
        <p:spPr>
          <a:xfrm>
            <a:off x="1022366" y="5350539"/>
            <a:ext cx="10090658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시뮬레이션 상에서 차량의 목표 속도와 실제 속도가 거의 차이 없이 잘 주행하는 것을 확인함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오차 </a:t>
            </a:r>
            <a:r>
              <a:rPr lang="en-US" altLang="ko-KR" dirty="0"/>
              <a:t>(RMS Error) : 0.02987 (0.03km/h </a:t>
            </a:r>
            <a:r>
              <a:rPr lang="ko-KR" altLang="en-US" dirty="0"/>
              <a:t>이하의 높은 정확도</a:t>
            </a:r>
            <a:r>
              <a:rPr lang="en-US" altLang="ko-KR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635D49-ABE6-3A9A-41A5-0E3B29C4C4FA}"/>
              </a:ext>
            </a:extLst>
          </p:cNvPr>
          <p:cNvSpPr txBox="1"/>
          <p:nvPr/>
        </p:nvSpPr>
        <p:spPr>
          <a:xfrm>
            <a:off x="1186763" y="4704173"/>
            <a:ext cx="3881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[</a:t>
            </a:r>
            <a:r>
              <a:rPr lang="ko-KR" altLang="en-US" b="1" dirty="0"/>
              <a:t>목표 속도 그래프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1DE90F-9B65-8DC8-AA5F-B040C2D15D95}"/>
              </a:ext>
            </a:extLst>
          </p:cNvPr>
          <p:cNvSpPr txBox="1"/>
          <p:nvPr/>
        </p:nvSpPr>
        <p:spPr>
          <a:xfrm>
            <a:off x="6934356" y="4736792"/>
            <a:ext cx="3881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[</a:t>
            </a:r>
            <a:r>
              <a:rPr lang="ko-KR" altLang="en-US" b="1" dirty="0"/>
              <a:t>차량 속도 그래프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9CF1E51-8611-FECA-6C14-B7DB14A98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58" y="1626891"/>
            <a:ext cx="5406637" cy="293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05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kern="1200" baseline="0" dirty="0">
                <a:latin typeface="+mn-lt"/>
                <a:ea typeface="+mn-ea"/>
                <a:cs typeface="+mn-cs"/>
              </a:rPr>
              <a:t>5. </a:t>
            </a:r>
            <a:r>
              <a:rPr lang="ko-KR" altLang="en-US" dirty="0"/>
              <a:t>시뮬레이션 및 결과 </a:t>
            </a:r>
            <a:r>
              <a:rPr lang="en-US" altLang="ko-KR" dirty="0"/>
              <a:t>- </a:t>
            </a:r>
            <a:r>
              <a:rPr lang="ko-KR" altLang="en-US" dirty="0"/>
              <a:t>동작 확인 검증</a:t>
            </a:r>
            <a:r>
              <a:rPr lang="en-US" altLang="ko-KR" dirty="0"/>
              <a:t>(Rule-based)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4" y="1143344"/>
            <a:ext cx="11202786" cy="54595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12D979-E2FD-BD78-4552-5E733091E744}"/>
              </a:ext>
            </a:extLst>
          </p:cNvPr>
          <p:cNvSpPr/>
          <p:nvPr/>
        </p:nvSpPr>
        <p:spPr>
          <a:xfrm>
            <a:off x="5035275" y="916331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엔진 동작 확인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5BFF68C-4837-B25D-82F4-2E8A61E07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19" y="1509245"/>
            <a:ext cx="7161819" cy="49547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1E76AD-0B2E-A602-EEB5-5708801C5DC8}"/>
              </a:ext>
            </a:extLst>
          </p:cNvPr>
          <p:cNvSpPr txBox="1"/>
          <p:nvPr/>
        </p:nvSpPr>
        <p:spPr>
          <a:xfrm>
            <a:off x="7907323" y="1776243"/>
            <a:ext cx="3661158" cy="4193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SOC </a:t>
            </a:r>
            <a:r>
              <a:rPr lang="ko-KR" altLang="en-US" dirty="0"/>
              <a:t>기반 엔진 제어 검증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- SOC&lt;30% -&gt; </a:t>
            </a:r>
            <a:r>
              <a:rPr lang="ko-KR" altLang="en-US" dirty="0"/>
              <a:t>엔진 </a:t>
            </a:r>
            <a:r>
              <a:rPr lang="en-US" altLang="ko-KR" dirty="0"/>
              <a:t>ON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- SOC&gt;40%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엔진 </a:t>
            </a:r>
            <a:r>
              <a:rPr lang="en-US" altLang="ko-KR" dirty="0"/>
              <a:t>OFF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- </a:t>
            </a:r>
            <a:r>
              <a:rPr lang="ko-KR" altLang="en-US" dirty="0" err="1"/>
              <a:t>히스테리시스</a:t>
            </a:r>
            <a:r>
              <a:rPr lang="ko-KR" altLang="en-US" dirty="0"/>
              <a:t> </a:t>
            </a:r>
            <a:r>
              <a:rPr lang="en-US" altLang="ko-KR" dirty="0"/>
              <a:t>10%</a:t>
            </a:r>
            <a:r>
              <a:rPr lang="ko-KR" altLang="en-US" dirty="0"/>
              <a:t>로 빈번한     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 ON/OFF </a:t>
            </a:r>
            <a:r>
              <a:rPr lang="ko-KR" altLang="en-US" dirty="0"/>
              <a:t>방지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최적 </a:t>
            </a:r>
            <a:r>
              <a:rPr lang="ko-KR" altLang="en-US" dirty="0" err="1"/>
              <a:t>효율점</a:t>
            </a:r>
            <a:r>
              <a:rPr lang="ko-KR" altLang="en-US" dirty="0"/>
              <a:t> 운전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- </a:t>
            </a:r>
            <a:r>
              <a:rPr lang="ko-KR" altLang="en-US" dirty="0"/>
              <a:t>엔진 </a:t>
            </a:r>
            <a:r>
              <a:rPr lang="ko-KR" altLang="en-US" dirty="0" err="1"/>
              <a:t>작동시</a:t>
            </a:r>
            <a:r>
              <a:rPr lang="ko-KR" altLang="en-US" dirty="0"/>
              <a:t> 항상 </a:t>
            </a:r>
            <a:r>
              <a:rPr lang="en-US" altLang="ko-KR" dirty="0"/>
              <a:t>Sweet Spot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- 2200rpm, 180Nm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(</a:t>
            </a:r>
            <a:r>
              <a:rPr lang="ko-KR" altLang="en-US" dirty="0"/>
              <a:t>최고 효율 구간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91947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1217-DCA3-EA7F-215F-0EE41366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EAFD-DF00-0362-D467-D9AB8AE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kern="1200" baseline="0" dirty="0">
                <a:latin typeface="+mn-lt"/>
                <a:ea typeface="+mn-ea"/>
                <a:cs typeface="+mn-cs"/>
              </a:rPr>
              <a:t>5. </a:t>
            </a:r>
            <a:r>
              <a:rPr lang="ko-KR" altLang="en-US" dirty="0"/>
              <a:t>시뮬레이션 및 결과 </a:t>
            </a:r>
            <a:r>
              <a:rPr lang="en-US" altLang="ko-KR" dirty="0"/>
              <a:t>- </a:t>
            </a:r>
            <a:r>
              <a:rPr lang="ko-KR" altLang="en-US" dirty="0"/>
              <a:t>동작 확인 검증</a:t>
            </a:r>
            <a:r>
              <a:rPr lang="en-US" altLang="ko-KR" dirty="0"/>
              <a:t>(Rule Based)</a:t>
            </a:r>
            <a:endParaRPr lang="ko-KR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F8FCE9-BA13-9185-11B9-35C4003FF788}"/>
              </a:ext>
            </a:extLst>
          </p:cNvPr>
          <p:cNvSpPr/>
          <p:nvPr/>
        </p:nvSpPr>
        <p:spPr>
          <a:xfrm>
            <a:off x="501534" y="1143344"/>
            <a:ext cx="11202786" cy="54595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12D979-E2FD-BD78-4552-5E733091E744}"/>
              </a:ext>
            </a:extLst>
          </p:cNvPr>
          <p:cNvSpPr/>
          <p:nvPr/>
        </p:nvSpPr>
        <p:spPr>
          <a:xfrm>
            <a:off x="5035275" y="916331"/>
            <a:ext cx="2121449" cy="454026"/>
          </a:xfrm>
          <a:prstGeom prst="rect">
            <a:avLst/>
          </a:prstGeom>
          <a:solidFill>
            <a:srgbClr val="E6E7E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기어 변속 확인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3BAFB9A-46DB-8157-5406-BB0BF656B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92" y="1615024"/>
            <a:ext cx="5907121" cy="45162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9E9DCC-2D33-040B-1F9B-312A2901E138}"/>
              </a:ext>
            </a:extLst>
          </p:cNvPr>
          <p:cNvSpPr txBox="1"/>
          <p:nvPr/>
        </p:nvSpPr>
        <p:spPr>
          <a:xfrm>
            <a:off x="6431965" y="1826030"/>
            <a:ext cx="5272355" cy="4193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정해진 변속 규칙에 따라 사이클 주행 시 변속</a:t>
            </a:r>
            <a:endParaRPr lang="en-US" altLang="ko-KR" b="1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변속 조건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- 35km/h </a:t>
            </a:r>
            <a:r>
              <a:rPr lang="ko-KR" altLang="en-US" dirty="0"/>
              <a:t>초과 </a:t>
            </a:r>
            <a:r>
              <a:rPr lang="en-US" altLang="ko-KR" dirty="0"/>
              <a:t>→ 1</a:t>
            </a:r>
            <a:r>
              <a:rPr lang="ko-KR" altLang="en-US" dirty="0"/>
              <a:t>단에서 </a:t>
            </a:r>
            <a:r>
              <a:rPr lang="en-US" altLang="ko-KR" dirty="0"/>
              <a:t>2</a:t>
            </a:r>
            <a:r>
              <a:rPr lang="ko-KR" altLang="en-US" dirty="0"/>
              <a:t>단으로 </a:t>
            </a:r>
            <a:r>
              <a:rPr lang="en-US" altLang="ko-KR" dirty="0"/>
              <a:t>(Upshift)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- 30km/h </a:t>
            </a:r>
            <a:r>
              <a:rPr lang="ko-KR" altLang="en-US" dirty="0"/>
              <a:t>미만 </a:t>
            </a:r>
            <a:r>
              <a:rPr lang="en-US" altLang="ko-KR" dirty="0"/>
              <a:t>→ 2</a:t>
            </a:r>
            <a:r>
              <a:rPr lang="ko-KR" altLang="en-US" dirty="0"/>
              <a:t>단에서 </a:t>
            </a:r>
            <a:r>
              <a:rPr lang="en-US" altLang="ko-KR" dirty="0"/>
              <a:t>1</a:t>
            </a:r>
            <a:r>
              <a:rPr lang="ko-KR" altLang="en-US" dirty="0"/>
              <a:t>단으로 </a:t>
            </a:r>
            <a:r>
              <a:rPr lang="en-US" altLang="ko-KR" dirty="0"/>
              <a:t>(Downshift)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- </a:t>
            </a:r>
            <a:r>
              <a:rPr lang="ko-KR" altLang="en-US" dirty="0" err="1"/>
              <a:t>히스테리시스</a:t>
            </a:r>
            <a:r>
              <a:rPr lang="ko-KR" altLang="en-US" dirty="0"/>
              <a:t> </a:t>
            </a:r>
            <a:r>
              <a:rPr lang="en-US" altLang="ko-KR" dirty="0"/>
              <a:t>5km/h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변속 동작 확인</a:t>
            </a:r>
            <a:r>
              <a:rPr lang="en-US" altLang="ko-KR" dirty="0"/>
              <a:t>(Rule Based)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- WLTC Class 3 </a:t>
            </a:r>
            <a:r>
              <a:rPr lang="ko-KR" altLang="en-US" dirty="0"/>
              <a:t>사이클 주행 중 총 </a:t>
            </a:r>
            <a:r>
              <a:rPr lang="en-US" altLang="ko-KR" dirty="0"/>
              <a:t>34</a:t>
            </a:r>
            <a:r>
              <a:rPr lang="ko-KR" altLang="en-US" dirty="0"/>
              <a:t>회 변속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변속시간 </a:t>
            </a:r>
            <a:r>
              <a:rPr lang="en-US" altLang="ko-KR" dirty="0"/>
              <a:t>: 0.1</a:t>
            </a:r>
            <a:r>
              <a:rPr lang="ko-KR" altLang="en-US" dirty="0"/>
              <a:t>초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17113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32204</TotalTime>
  <Words>1874</Words>
  <Application>Microsoft Office PowerPoint</Application>
  <PresentationFormat>와이드스크린</PresentationFormat>
  <Paragraphs>499</Paragraphs>
  <Slides>25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굴림</vt:lpstr>
      <vt:lpstr>맑은 고딕</vt:lpstr>
      <vt:lpstr>Arial</vt:lpstr>
      <vt:lpstr>Cambria Math</vt:lpstr>
      <vt:lpstr>Wingdings</vt:lpstr>
      <vt:lpstr>Office 테마</vt:lpstr>
      <vt:lpstr>PowerPoint 프레젠테이션</vt:lpstr>
      <vt:lpstr>목차</vt:lpstr>
      <vt:lpstr>1. 이론적 배경</vt:lpstr>
      <vt:lpstr>2. EREV 시스템 아키텍쳐 – 참고 차량 및 주요 제원</vt:lpstr>
      <vt:lpstr>2. EREV 시스템 아키텍쳐 – 시스템 구성</vt:lpstr>
      <vt:lpstr>2. EREV 시스템 아키텍쳐 – 컴포넌트 구성</vt:lpstr>
      <vt:lpstr>2. EREV 시스템 아키텍쳐 – Simulink</vt:lpstr>
      <vt:lpstr>3. 수식 기반 시스템 모델링</vt:lpstr>
      <vt:lpstr>3. 수식 기반 시스템 모델링 - 차량</vt:lpstr>
      <vt:lpstr>3. 수식 기반 시스템 모델링 - 차량</vt:lpstr>
      <vt:lpstr>3. 수식 기반 시스템 모델링 - 차량</vt:lpstr>
      <vt:lpstr>3. 수식 기반 시스템 모델링 - 엔진</vt:lpstr>
      <vt:lpstr>3. 수식 기반 시스템 모델링 - 엔진</vt:lpstr>
      <vt:lpstr>3. 수식 기반 시스템 모델링 - 모터</vt:lpstr>
      <vt:lpstr>3. 수식 기반 시스템 모델링 - 모터</vt:lpstr>
      <vt:lpstr>3. 수식 기반 시스템 모델링 - 배터리</vt:lpstr>
      <vt:lpstr>3. 수식 기반 시스템 모델링 - 배터리</vt:lpstr>
      <vt:lpstr>4. VCU 제어 로직</vt:lpstr>
      <vt:lpstr>4. VCU 제어 로직 – Step 1. Mode &amp; Gear 선택(Rule Based)</vt:lpstr>
      <vt:lpstr>4. VCU 제어 로직 – Step 2,3 토크 계산 및 분배</vt:lpstr>
      <vt:lpstr>4. VCU 제어 로직 – Step 4. 엔진 발전 제어</vt:lpstr>
      <vt:lpstr>4. VCU 제어 로직 - Simulink</vt:lpstr>
      <vt:lpstr>5. 시뮬레이션 및 결과 - 동작 확인 검증(Rule Based)</vt:lpstr>
      <vt:lpstr>5. 시뮬레이션 및 결과 - 동작 확인 검증(Rule-based)</vt:lpstr>
      <vt:lpstr>5. 시뮬레이션 및 결과 - 동작 확인 검증(Rule Based)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준현 박</dc:creator>
  <cp:lastModifiedBy>Junhyeon Park</cp:lastModifiedBy>
  <cp:revision>80</cp:revision>
  <dcterms:created xsi:type="dcterms:W3CDTF">2024-11-30T17:12:35Z</dcterms:created>
  <dcterms:modified xsi:type="dcterms:W3CDTF">2025-12-07T09:47:17Z</dcterms:modified>
</cp:coreProperties>
</file>