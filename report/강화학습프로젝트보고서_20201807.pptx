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4606" r:id="rId2"/>
    <p:sldId id="4779" r:id="rId3"/>
    <p:sldId id="4833" r:id="rId4"/>
    <p:sldId id="4834" r:id="rId5"/>
    <p:sldId id="4835" r:id="rId6"/>
    <p:sldId id="4837" r:id="rId7"/>
    <p:sldId id="4841" r:id="rId8"/>
    <p:sldId id="4842" r:id="rId9"/>
    <p:sldId id="4839" r:id="rId10"/>
    <p:sldId id="4851" r:id="rId11"/>
    <p:sldId id="4836" r:id="rId12"/>
    <p:sldId id="4848" r:id="rId13"/>
    <p:sldId id="4849" r:id="rId14"/>
    <p:sldId id="4852" r:id="rId15"/>
    <p:sldId id="4850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38C"/>
    <a:srgbClr val="FFFFFF"/>
    <a:srgbClr val="003C89"/>
    <a:srgbClr val="EEE7EA"/>
    <a:srgbClr val="05478F"/>
    <a:srgbClr val="333399"/>
    <a:srgbClr val="E6E7E8"/>
    <a:srgbClr val="0640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79" autoAdjust="0"/>
    <p:restoredTop sz="88113" autoAdjust="0"/>
  </p:normalViewPr>
  <p:slideViewPr>
    <p:cSldViewPr snapToGrid="0">
      <p:cViewPr varScale="1">
        <p:scale>
          <a:sx n="72" d="100"/>
          <a:sy n="72" d="100"/>
        </p:scale>
        <p:origin x="133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A4632B-C031-44B4-B685-FBD32320F710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C3A80C-F16D-420C-B88F-6D4153759F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74576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4764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50974" indent="-288836" defTabSz="954764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55344" indent="-231069" defTabSz="954764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17482" indent="-231069" defTabSz="954764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79620" indent="-231069" defTabSz="954764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41758" indent="-231069" defTabSz="954764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3003895" indent="-231069" defTabSz="954764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66033" indent="-231069" defTabSz="954764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928171" indent="-231069" defTabSz="954764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A72C662A-EF20-4E03-AE24-955360E0AC9C}" type="slidenum">
              <a:rPr lang="en-US" altLang="ko-KR" sz="1200">
                <a:solidFill>
                  <a:prstClr val="black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1</a:t>
            </a:fld>
            <a:endParaRPr lang="en-US" altLang="ko-KR" sz="1200">
              <a:solidFill>
                <a:prstClr val="black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075" y="746125"/>
            <a:ext cx="6640513" cy="3735388"/>
          </a:xfrm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ko-KR" dirty="0"/>
              <a:t>*</a:t>
            </a:r>
            <a:r>
              <a:rPr lang="ko-KR" altLang="en-US" dirty="0"/>
              <a:t>수정할 점</a:t>
            </a:r>
            <a:endParaRPr lang="en-US" altLang="ko-KR" dirty="0"/>
          </a:p>
          <a:p>
            <a:pPr marL="228600" indent="-228600" eaLnBrk="1" hangingPunct="1">
              <a:buAutoNum type="arabicPeriod"/>
            </a:pPr>
            <a:r>
              <a:rPr lang="en-US" altLang="ko-KR" dirty="0"/>
              <a:t>6p, </a:t>
            </a:r>
            <a:r>
              <a:rPr lang="ko-KR" altLang="en-US" dirty="0" err="1"/>
              <a:t>기어비</a:t>
            </a:r>
            <a:r>
              <a:rPr lang="ko-KR" altLang="en-US" dirty="0"/>
              <a:t> </a:t>
            </a:r>
            <a:r>
              <a:rPr lang="en-US" altLang="ko-KR" dirty="0"/>
              <a:t>7:1, 12:1</a:t>
            </a:r>
            <a:r>
              <a:rPr lang="ko-KR" altLang="en-US" dirty="0"/>
              <a:t>로 수정</a:t>
            </a:r>
            <a:endParaRPr lang="en-US" altLang="ko-KR" dirty="0"/>
          </a:p>
          <a:p>
            <a:pPr marL="228600" indent="-228600" eaLnBrk="1" hangingPunct="1">
              <a:buAutoNum type="arabicPeriod"/>
            </a:pPr>
            <a:r>
              <a:rPr lang="en-US" altLang="ko-KR" dirty="0"/>
              <a:t>17p</a:t>
            </a:r>
            <a:r>
              <a:rPr lang="ko-KR" altLang="en-US" dirty="0"/>
              <a:t> 배터리 수식 수정</a:t>
            </a:r>
            <a:endParaRPr lang="en-US" altLang="ko-KR" dirty="0"/>
          </a:p>
          <a:p>
            <a:pPr marL="0" indent="0" eaLnBrk="1" hangingPunct="1">
              <a:buNone/>
            </a:pPr>
            <a:r>
              <a:rPr lang="en-US" altLang="ko-KR" dirty="0"/>
              <a:t>-----------------------------------</a:t>
            </a:r>
            <a:br>
              <a:rPr lang="en-US" altLang="ko-KR" dirty="0"/>
            </a:br>
            <a:r>
              <a:rPr lang="en-US" altLang="ko-KR" dirty="0"/>
              <a:t>3. </a:t>
            </a:r>
            <a:r>
              <a:rPr lang="ko-KR" altLang="en-US" dirty="0"/>
              <a:t>총 </a:t>
            </a:r>
            <a:r>
              <a:rPr lang="en-US" altLang="ko-KR" dirty="0"/>
              <a:t>1</a:t>
            </a:r>
            <a:r>
              <a:rPr lang="ko-KR" altLang="en-US" dirty="0"/>
              <a:t>시간 </a:t>
            </a:r>
            <a:r>
              <a:rPr lang="en-US" altLang="ko-KR" dirty="0"/>
              <a:t>15</a:t>
            </a:r>
            <a:r>
              <a:rPr lang="ko-KR" altLang="en-US" dirty="0"/>
              <a:t>분 정도 발표</a:t>
            </a:r>
            <a:r>
              <a:rPr lang="en-US" altLang="ko-KR" dirty="0"/>
              <a:t>, 10</a:t>
            </a:r>
            <a:r>
              <a:rPr lang="ko-KR" altLang="en-US" dirty="0"/>
              <a:t>분 </a:t>
            </a:r>
            <a:r>
              <a:rPr lang="en-US" altLang="ko-KR" dirty="0"/>
              <a:t>Q&amp;A </a:t>
            </a:r>
            <a:r>
              <a:rPr lang="ko-KR" altLang="en-US" dirty="0"/>
              <a:t>발화 압축이 필요함</a:t>
            </a:r>
            <a:r>
              <a:rPr lang="en-US" altLang="ko-KR" dirty="0"/>
              <a:t>!</a:t>
            </a:r>
            <a:br>
              <a:rPr lang="en-US" altLang="ko-KR" dirty="0"/>
            </a:br>
            <a:r>
              <a:rPr lang="en-US" altLang="ko-KR" dirty="0"/>
              <a:t>4. </a:t>
            </a:r>
            <a:r>
              <a:rPr lang="ko-KR" altLang="en-US" dirty="0"/>
              <a:t>이전에 어떤 말을 했는지에 대한 내용이 없다</a:t>
            </a:r>
            <a:r>
              <a:rPr lang="en-US" altLang="ko-KR" dirty="0"/>
              <a:t>! </a:t>
            </a:r>
            <a:r>
              <a:rPr lang="ko-KR" altLang="en-US" dirty="0"/>
              <a:t>이 부분을 보완하거나 구두로 보완해야 할 것 같아요</a:t>
            </a:r>
            <a:r>
              <a:rPr lang="en-US" altLang="ko-KR" dirty="0"/>
              <a:t>!</a:t>
            </a:r>
            <a:br>
              <a:rPr lang="en-US" altLang="ko-KR" dirty="0"/>
            </a:br>
            <a:r>
              <a:rPr lang="en-US" altLang="ko-KR" dirty="0"/>
              <a:t>5. </a:t>
            </a:r>
            <a:r>
              <a:rPr lang="ko-KR" altLang="en-US" dirty="0"/>
              <a:t>질문 하거나 시뮬레이션 할 수 있게 </a:t>
            </a:r>
            <a:r>
              <a:rPr lang="ko-KR" altLang="en-US" dirty="0" err="1"/>
              <a:t>준비하는게</a:t>
            </a:r>
            <a:r>
              <a:rPr lang="ko-KR" altLang="en-US" dirty="0"/>
              <a:t> 필요할 </a:t>
            </a:r>
            <a:r>
              <a:rPr lang="ko-KR" altLang="en-US" dirty="0" err="1"/>
              <a:t>거같아요</a:t>
            </a:r>
            <a:r>
              <a:rPr lang="en-US" altLang="ko-KR" dirty="0"/>
              <a:t>!</a:t>
            </a:r>
            <a:br>
              <a:rPr lang="en-US" altLang="ko-KR" dirty="0"/>
            </a:br>
            <a:r>
              <a:rPr lang="en-US" altLang="ko-KR" dirty="0"/>
              <a:t>6. (</a:t>
            </a:r>
            <a:r>
              <a:rPr lang="ko-KR" altLang="en-US" dirty="0" err="1"/>
              <a:t>책임님이라면</a:t>
            </a:r>
            <a:r>
              <a:rPr lang="en-US" altLang="ko-KR" dirty="0"/>
              <a:t>) </a:t>
            </a:r>
            <a:r>
              <a:rPr lang="ko-KR" altLang="en-US" dirty="0"/>
              <a:t>모델링 부분 차량 </a:t>
            </a:r>
            <a:r>
              <a:rPr lang="en-US" altLang="ko-KR" dirty="0"/>
              <a:t>– </a:t>
            </a:r>
            <a:r>
              <a:rPr lang="ko-KR" altLang="en-US" dirty="0"/>
              <a:t>상세 수식 어디에서 무엇이 나오는지를 잘 이해가 </a:t>
            </a:r>
            <a:r>
              <a:rPr lang="ko-KR" altLang="en-US" dirty="0" err="1"/>
              <a:t>안되니깐</a:t>
            </a:r>
            <a:r>
              <a:rPr lang="en-US" altLang="ko-KR" dirty="0"/>
              <a:t>… </a:t>
            </a:r>
            <a:br>
              <a:rPr lang="en-US" altLang="ko-KR" dirty="0"/>
            </a:br>
            <a:r>
              <a:rPr lang="en-US" altLang="ko-KR" dirty="0"/>
              <a:t> </a:t>
            </a:r>
            <a:r>
              <a:rPr lang="ko-KR" altLang="en-US" dirty="0"/>
              <a:t>어떤 얘기를 하고 있는지 </a:t>
            </a:r>
            <a:br>
              <a:rPr lang="en-US" altLang="ko-KR" dirty="0"/>
            </a:br>
            <a:r>
              <a:rPr lang="en-US" altLang="ko-KR" dirty="0"/>
              <a:t>7. Low Level High Level… </a:t>
            </a:r>
            <a:r>
              <a:rPr lang="ko-KR" altLang="en-US" dirty="0"/>
              <a:t>의 </a:t>
            </a:r>
            <a:r>
              <a:rPr lang="en-US" altLang="ko-KR" dirty="0"/>
              <a:t>Level, Level1234</a:t>
            </a:r>
            <a:r>
              <a:rPr lang="ko-KR" altLang="en-US" dirty="0"/>
              <a:t>는 사실상 스텝</a:t>
            </a:r>
            <a:r>
              <a:rPr lang="en-US" altLang="ko-KR" dirty="0"/>
              <a:t>(</a:t>
            </a:r>
            <a:r>
              <a:rPr lang="ko-KR" altLang="en-US" dirty="0"/>
              <a:t>순서</a:t>
            </a:r>
            <a:r>
              <a:rPr lang="en-US" altLang="ko-KR" dirty="0"/>
              <a:t>)</a:t>
            </a:r>
            <a:r>
              <a:rPr lang="ko-KR" altLang="en-US" dirty="0" err="1"/>
              <a:t>이지않나</a:t>
            </a:r>
            <a:r>
              <a:rPr lang="en-US" altLang="ko-KR" dirty="0"/>
              <a:t>????</a:t>
            </a:r>
            <a:br>
              <a:rPr lang="en-US" altLang="ko-KR" dirty="0"/>
            </a:br>
            <a:r>
              <a:rPr lang="en-US" altLang="ko-KR" dirty="0"/>
              <a:t>8. </a:t>
            </a:r>
            <a:r>
              <a:rPr lang="ko-KR" altLang="en-US" dirty="0"/>
              <a:t>변속되는 </a:t>
            </a:r>
            <a:r>
              <a:rPr lang="en-US" altLang="ko-KR" dirty="0"/>
              <a:t>meeting </a:t>
            </a:r>
            <a:r>
              <a:rPr lang="ko-KR" altLang="en-US" dirty="0"/>
              <a:t>스피드 </a:t>
            </a:r>
            <a:endParaRPr lang="en-US" altLang="ko-KR" dirty="0"/>
          </a:p>
          <a:p>
            <a:pPr marL="0" indent="0" eaLnBrk="1" hangingPunct="1">
              <a:buNone/>
            </a:pPr>
            <a:r>
              <a:rPr lang="en-US" altLang="ko-KR" dirty="0"/>
              <a:t>9. 40% -&gt; </a:t>
            </a:r>
            <a:r>
              <a:rPr lang="ko-KR" altLang="en-US" dirty="0"/>
              <a:t>빈공간을 두고 </a:t>
            </a:r>
            <a:r>
              <a:rPr lang="en-US" altLang="ko-KR" dirty="0"/>
              <a:t>40%</a:t>
            </a:r>
            <a:r>
              <a:rPr lang="ko-KR" altLang="en-US" dirty="0"/>
              <a:t>를 </a:t>
            </a:r>
            <a:r>
              <a:rPr lang="ko-KR" altLang="en-US" dirty="0" err="1"/>
              <a:t>채우는게</a:t>
            </a:r>
            <a:r>
              <a:rPr lang="ko-KR" altLang="en-US" dirty="0"/>
              <a:t> </a:t>
            </a:r>
            <a:r>
              <a:rPr lang="ko-KR" altLang="en-US" dirty="0" err="1"/>
              <a:t>보기좋아요</a:t>
            </a:r>
            <a:br>
              <a:rPr lang="en-US" altLang="ko-KR" dirty="0"/>
            </a:br>
            <a:r>
              <a:rPr lang="en-US" altLang="ko-KR" dirty="0"/>
              <a:t>10.</a:t>
            </a:r>
            <a:r>
              <a:rPr lang="ko-KR" altLang="en-US" dirty="0"/>
              <a:t> 시뮬레이션 결과 및 동작</a:t>
            </a:r>
            <a:r>
              <a:rPr lang="en-US" altLang="ko-KR" dirty="0"/>
              <a:t>-&gt; </a:t>
            </a:r>
            <a:r>
              <a:rPr lang="ko-KR" altLang="en-US" dirty="0"/>
              <a:t>노란색이 타겟</a:t>
            </a:r>
            <a:r>
              <a:rPr lang="en-US" altLang="ko-KR" dirty="0"/>
              <a:t>, </a:t>
            </a:r>
            <a:r>
              <a:rPr lang="ko-KR" altLang="en-US" dirty="0"/>
              <a:t>파란색이 추종  </a:t>
            </a:r>
            <a:r>
              <a:rPr lang="en-US" altLang="ko-KR" dirty="0"/>
              <a:t>RMS Error</a:t>
            </a:r>
            <a:r>
              <a:rPr lang="ko-KR" altLang="en-US" dirty="0"/>
              <a:t>이</a:t>
            </a:r>
            <a:r>
              <a:rPr lang="en-US" altLang="ko-KR" dirty="0"/>
              <a:t>0.02 </a:t>
            </a:r>
            <a:br>
              <a:rPr lang="en-US" altLang="ko-KR" dirty="0"/>
            </a:br>
            <a:r>
              <a:rPr lang="en-US" altLang="ko-KR" dirty="0"/>
              <a:t>11. </a:t>
            </a:r>
            <a:r>
              <a:rPr lang="ko-KR" altLang="en-US" dirty="0"/>
              <a:t>엔진 동작 확인  그래프 옆에 문구로 </a:t>
            </a:r>
            <a:r>
              <a:rPr lang="en-US" altLang="ko-KR" dirty="0"/>
              <a:t>Highlight</a:t>
            </a:r>
            <a:r>
              <a:rPr lang="ko-KR" altLang="en-US" dirty="0"/>
              <a:t>되어있어야 뭘 볼지 </a:t>
            </a:r>
            <a:r>
              <a:rPr lang="ko-KR" altLang="en-US" dirty="0" err="1"/>
              <a:t>알수있음</a:t>
            </a:r>
            <a:r>
              <a:rPr lang="en-US" altLang="ko-KR" dirty="0"/>
              <a:t>.</a:t>
            </a:r>
          </a:p>
          <a:p>
            <a:pPr marL="0" indent="0" eaLnBrk="1" hangingPunct="1">
              <a:buNone/>
            </a:pPr>
            <a:r>
              <a:rPr lang="en-US" altLang="ko-KR" dirty="0"/>
              <a:t>12. </a:t>
            </a:r>
            <a:r>
              <a:rPr lang="ko-KR" altLang="en-US" dirty="0"/>
              <a:t>변속 동작도 </a:t>
            </a:r>
            <a:r>
              <a:rPr lang="en-US" altLang="ko-KR" dirty="0"/>
              <a:t>comment</a:t>
            </a:r>
          </a:p>
          <a:p>
            <a:pPr marL="0" indent="0" eaLnBrk="1" hangingPunct="1">
              <a:buNone/>
            </a:pPr>
            <a:r>
              <a:rPr lang="en-US" altLang="ko-KR" dirty="0"/>
              <a:t>13. </a:t>
            </a:r>
            <a:r>
              <a:rPr lang="ko-KR" altLang="en-US" dirty="0"/>
              <a:t>마지막 장표 개선</a:t>
            </a:r>
            <a:r>
              <a:rPr lang="en-US" altLang="ko-KR" dirty="0"/>
              <a:t>.. </a:t>
            </a:r>
            <a:r>
              <a:rPr lang="ko-KR" altLang="en-US" dirty="0"/>
              <a:t>눈에 들어오지 않음</a:t>
            </a:r>
            <a:r>
              <a:rPr lang="en-US" altLang="ko-KR" dirty="0"/>
              <a:t>. </a:t>
            </a:r>
            <a:r>
              <a:rPr lang="ko-KR" altLang="en-US" dirty="0"/>
              <a:t>개선 및 발표를 명확하게</a:t>
            </a:r>
            <a:r>
              <a:rPr lang="en-US" altLang="ko-KR" dirty="0"/>
              <a:t>… </a:t>
            </a:r>
            <a:r>
              <a:rPr lang="ko-KR" altLang="en-US" dirty="0"/>
              <a:t>해야 할 것</a:t>
            </a:r>
            <a:br>
              <a:rPr lang="en-US" altLang="ko-KR" dirty="0"/>
            </a:br>
            <a:r>
              <a:rPr lang="en-US" altLang="ko-KR" dirty="0"/>
              <a:t>2</a:t>
            </a:r>
            <a:r>
              <a:rPr lang="ko-KR" altLang="en-US" dirty="0"/>
              <a:t>단 고정의 문제점</a:t>
            </a:r>
            <a:r>
              <a:rPr lang="en-US" altLang="ko-KR" dirty="0"/>
              <a:t>…. </a:t>
            </a:r>
            <a:r>
              <a:rPr lang="ko-KR" altLang="en-US" dirty="0"/>
              <a:t>도 언급을 </a:t>
            </a:r>
            <a:r>
              <a:rPr lang="en-US" altLang="ko-KR" dirty="0"/>
              <a:t>(</a:t>
            </a:r>
            <a:r>
              <a:rPr lang="ko-KR" altLang="en-US" dirty="0"/>
              <a:t>적진 않더라도</a:t>
            </a:r>
            <a:r>
              <a:rPr lang="en-US" altLang="ko-KR" dirty="0"/>
              <a:t>)</a:t>
            </a:r>
            <a:r>
              <a:rPr lang="ko-KR" altLang="en-US" dirty="0"/>
              <a:t> 설명을 </a:t>
            </a:r>
            <a:r>
              <a:rPr lang="ko-KR" altLang="en-US" dirty="0" err="1"/>
              <a:t>하는게</a:t>
            </a:r>
            <a:r>
              <a:rPr lang="ko-KR" altLang="en-US" dirty="0"/>
              <a:t> </a:t>
            </a:r>
            <a:r>
              <a:rPr lang="ko-KR" altLang="en-US" dirty="0" err="1"/>
              <a:t>좋아보이네요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4</a:t>
            </a:r>
            <a:r>
              <a:rPr lang="ko-KR" altLang="en-US" dirty="0"/>
              <a:t>가지 </a:t>
            </a:r>
            <a:r>
              <a:rPr lang="en-US" altLang="ko-KR" dirty="0"/>
              <a:t>step</a:t>
            </a:r>
            <a:r>
              <a:rPr lang="ko-KR" altLang="en-US" dirty="0"/>
              <a:t>으로 제어로 변경</a:t>
            </a:r>
            <a:r>
              <a:rPr lang="en-US" altLang="ko-KR" dirty="0"/>
              <a:t>.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향후 개선방향은 말은 지우고</a:t>
            </a:r>
            <a:r>
              <a:rPr lang="en-US" altLang="ko-KR" dirty="0"/>
              <a:t>… </a:t>
            </a:r>
            <a:r>
              <a:rPr lang="ko-KR" altLang="en-US" dirty="0"/>
              <a:t>더 생각해볼 점</a:t>
            </a:r>
            <a:r>
              <a:rPr lang="en-US" altLang="ko-KR" dirty="0"/>
              <a:t>…. </a:t>
            </a:r>
            <a:r>
              <a:rPr lang="ko-KR" altLang="en-US" dirty="0"/>
              <a:t>정도로 수정하는 게 </a:t>
            </a:r>
            <a:r>
              <a:rPr lang="ko-KR" altLang="en-US" dirty="0" err="1"/>
              <a:t>좋아보입니다</a:t>
            </a:r>
            <a:r>
              <a:rPr lang="en-US" altLang="ko-KR" dirty="0"/>
              <a:t>..</a:t>
            </a:r>
            <a:br>
              <a:rPr lang="en-US" altLang="ko-KR" dirty="0"/>
            </a:br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25288836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C3A80C-F16D-420C-B88F-6D4153759F16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28961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4BF29-DA08-FDB8-86D4-12A690AD2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71E5EFE-8C82-D2B0-56CA-D65D8D5679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C35A4C6-3B0B-318E-C942-0C5C53D50A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이전 발표 </a:t>
            </a:r>
            <a:r>
              <a:rPr lang="en-US" altLang="ko-KR" dirty="0"/>
              <a:t>PPT</a:t>
            </a:r>
            <a:r>
              <a:rPr lang="ko-KR" altLang="en-US" dirty="0"/>
              <a:t>처럼 그림 그려 넣기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B00BFA-3A3E-E078-28B8-59CE4ADC45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C3A80C-F16D-420C-B88F-6D4153759F16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61254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4BF29-DA08-FDB8-86D4-12A690AD2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71E5EFE-8C82-D2B0-56CA-D65D8D5679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C35A4C6-3B0B-318E-C942-0C5C53D50A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이전 발표 </a:t>
            </a:r>
            <a:r>
              <a:rPr lang="en-US" altLang="ko-KR" dirty="0"/>
              <a:t>PPT</a:t>
            </a:r>
            <a:r>
              <a:rPr lang="ko-KR" altLang="en-US" dirty="0"/>
              <a:t>처럼 그림 그려 넣기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B00BFA-3A3E-E078-28B8-59CE4ADC45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C3A80C-F16D-420C-B88F-6D4153759F16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51838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950C9-C219-8F81-21B7-E1FB55C41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964AEE8-AF98-3259-E31A-66FC993635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8EF2ED8-2D2D-61B6-D573-63F872F030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57A9E6-3251-A6EB-51E4-72904A2D89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C3A80C-F16D-420C-B88F-6D4153759F16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85662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4BF29-DA08-FDB8-86D4-12A690AD2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71E5EFE-8C82-D2B0-56CA-D65D8D5679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C35A4C6-3B0B-318E-C942-0C5C53D50A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이전 발표 </a:t>
            </a:r>
            <a:r>
              <a:rPr lang="en-US" altLang="ko-KR" dirty="0"/>
              <a:t>PPT</a:t>
            </a:r>
            <a:r>
              <a:rPr lang="ko-KR" altLang="en-US" dirty="0"/>
              <a:t>처럼 그림 그려 넣기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B00BFA-3A3E-E078-28B8-59CE4ADC45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C3A80C-F16D-420C-B88F-6D4153759F16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9067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950C9-C219-8F81-21B7-E1FB55C41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964AEE8-AF98-3259-E31A-66FC993635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8EF2ED8-2D2D-61B6-D573-63F872F030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57A9E6-3251-A6EB-51E4-72904A2D89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C3A80C-F16D-420C-B88F-6D4153759F16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73858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4BF29-DA08-FDB8-86D4-12A690AD2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71E5EFE-8C82-D2B0-56CA-D65D8D5679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C35A4C6-3B0B-318E-C942-0C5C53D50A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이전 발표 </a:t>
            </a:r>
            <a:r>
              <a:rPr lang="en-US" altLang="ko-KR" dirty="0"/>
              <a:t>PPT</a:t>
            </a:r>
            <a:r>
              <a:rPr lang="ko-KR" altLang="en-US" dirty="0"/>
              <a:t>처럼 그림 그려 넣기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B00BFA-3A3E-E078-28B8-59CE4ADC45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C3A80C-F16D-420C-B88F-6D4153759F16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15179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950C9-C219-8F81-21B7-E1FB55C41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964AEE8-AF98-3259-E31A-66FC993635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8EF2ED8-2D2D-61B6-D573-63F872F030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57A9E6-3251-A6EB-51E4-72904A2D89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C3A80C-F16D-420C-B88F-6D4153759F16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17697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950C9-C219-8F81-21B7-E1FB55C41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964AEE8-AF98-3259-E31A-66FC993635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8EF2ED8-2D2D-61B6-D573-63F872F030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57A9E6-3251-A6EB-51E4-72904A2D89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C3A80C-F16D-420C-B88F-6D4153759F16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52090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950C9-C219-8F81-21B7-E1FB55C41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964AEE8-AF98-3259-E31A-66FC993635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8EF2ED8-2D2D-61B6-D573-63F872F030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57A9E6-3251-A6EB-51E4-72904A2D89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C3A80C-F16D-420C-B88F-6D4153759F16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72790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950C9-C219-8F81-21B7-E1FB55C41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964AEE8-AF98-3259-E31A-66FC993635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8EF2ED8-2D2D-61B6-D573-63F872F030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57A9E6-3251-A6EB-51E4-72904A2D89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C3A80C-F16D-420C-B88F-6D4153759F16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45125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950C9-C219-8F81-21B7-E1FB55C41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964AEE8-AF98-3259-E31A-66FC993635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8EF2ED8-2D2D-61B6-D573-63F872F030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57A9E6-3251-A6EB-51E4-72904A2D89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C3A80C-F16D-420C-B88F-6D4153759F16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59806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950C9-C219-8F81-21B7-E1FB55C41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964AEE8-AF98-3259-E31A-66FC993635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8EF2ED8-2D2D-61B6-D573-63F872F030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57A9E6-3251-A6EB-51E4-72904A2D89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C3A80C-F16D-420C-B88F-6D4153759F16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11821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950C9-C219-8F81-21B7-E1FB55C41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964AEE8-AF98-3259-E31A-66FC993635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8EF2ED8-2D2D-61B6-D573-63F872F030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57A9E6-3251-A6EB-51E4-72904A2D89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C3A80C-F16D-420C-B88F-6D4153759F16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9303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12CC2D-D552-0E85-2D40-8400797440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C03AD67-1AA0-54BB-02AA-132FCC6893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180332-D0FC-B87A-D750-BD2EAAD0C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AD320-4C65-4643-994B-2F951F51B129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C4CEC4-7CA9-BCDA-C1D0-026436C28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1DA3C5-9A06-FBEE-1665-70D4423BB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8E473-4F8D-4F9D-83D8-20E9D5DC04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1307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F4C5B6-7569-F1D8-D73C-8676E4D35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846FCD-7765-33AD-8B06-3DA686DBD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966C99-C2C4-0A97-8F7A-577F769E9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AD320-4C65-4643-994B-2F951F51B129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575FC03-6BD8-6D07-9B9E-CFF0D7927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B405A6-661C-8D31-C3A2-E93E72394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8E473-4F8D-4F9D-83D8-20E9D5DC04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4754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ED623E-70B3-8C2A-0C8F-45CCAC4CF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556FE59-9A9E-99F8-2360-BA366028E4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09D7A1-90D6-814C-1111-81C3EC3D5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AD320-4C65-4643-994B-2F951F51B129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297C13-6499-389A-1BD7-6BE431B66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1A56A37-5453-AA4E-7A19-EA3A6A63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8E473-4F8D-4F9D-83D8-20E9D5DC04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8030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E407AA-0B84-EB43-241D-B259E4CF7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04E775-254F-D770-972E-F27BC85E5B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8269EEE-E35C-7096-EA44-32F9A74803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15799E2-C649-F306-13B0-1695ED2CE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AD320-4C65-4643-994B-2F951F51B129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AF3889D-59B9-A2F2-57BA-6C05D549B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D2422A6-C283-81D7-9420-2A9081CC0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8E473-4F8D-4F9D-83D8-20E9D5DC04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0799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24E508-148D-C186-ECA8-F65AE5E49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B8A9897-B00E-4D09-0308-65D3462DB9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8F7214C-E373-EDBB-B88C-E07B020D38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7492957-858E-6A30-C177-37765D79D1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6FD0178-313F-BAFA-9DA5-5F42FC36E8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539E5FE-2D96-FB4E-5CCC-24328F2C0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AD320-4C65-4643-994B-2F951F51B129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4856ACC-C14E-6274-E42B-311E671DC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1B6791-B290-35D6-E057-6D4AECDEC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8E473-4F8D-4F9D-83D8-20E9D5DC04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5472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E6EE94-7C7B-27E6-CAD6-D4AF02A4D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D337644-4182-F536-4966-EE1C99CE9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AD320-4C65-4643-994B-2F951F51B129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154CA77-B4FC-24A5-7B11-C594032EB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F99378B-59F1-AED3-BEFA-3DD9E17C1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8E473-4F8D-4F9D-83D8-20E9D5DC04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2553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CC9201E-2706-1350-76F2-4BBAA4115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AD320-4C65-4643-994B-2F951F51B129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ED027A5-5B81-FEBD-1BE2-BD869A5AA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49AB5CE-F0FF-0C71-622D-C1ACD8161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8E473-4F8D-4F9D-83D8-20E9D5DC04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1878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0FA033-5533-314E-56AD-E29262853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C7CAA4E-95B4-8801-EA89-F5516B0DE6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0893089-E711-8B9D-D93D-839A79A239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64ACD01-3EE0-6283-6BD7-808D1AD74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AD320-4C65-4643-994B-2F951F51B129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395147-38D5-AEAE-3E8B-DC7A72814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D4CAB94-AC40-2935-642D-2F4695A68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8E473-4F8D-4F9D-83D8-20E9D5DC04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1422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3C57A7-6BCA-E0F2-9302-B9157329B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5E7897C-B444-06C3-838F-5B70DFCDC8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B7FC730-C5FF-BC00-AC3F-0ED4D1802C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855D328-B0E8-1755-D25D-B95DF055F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AD320-4C65-4643-994B-2F951F51B129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DBCAB7-F1EF-EDBC-ECC7-70BC87CF4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47C10E2-A869-CF0B-5919-95274C055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8E473-4F8D-4F9D-83D8-20E9D5DC04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2101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E51815-6511-0804-1376-C2D9E9CFA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0013DCE-F7CC-6DD7-89FE-1C465167D0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579E73-6DDC-B601-0E33-D06B5BBDB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AD320-4C65-4643-994B-2F951F51B129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AD30CD-2AA4-CB85-B0E8-9844A177B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CE9F6C4-1BFD-438F-526F-EEA59538B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8E473-4F8D-4F9D-83D8-20E9D5DC04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0139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DF9DDEC-D934-105A-BEFC-25D26694E4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B013B71-2A29-0D89-5387-21A9619AC4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4E800A-972C-EB5B-E14F-9DC645C16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AD320-4C65-4643-994B-2F951F51B129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BF8434-CD43-755F-244E-8E7980A56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B5116D9-EBC2-77B9-A1CE-17632E09B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8E473-4F8D-4F9D-83D8-20E9D5DC04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10432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 userDrawn="1"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1"/>
          <p:cNvSpPr>
            <a:spLocks noChangeArrowheads="1"/>
          </p:cNvSpPr>
          <p:nvPr userDrawn="1"/>
        </p:nvSpPr>
        <p:spPr bwMode="auto">
          <a:xfrm>
            <a:off x="441569" y="728664"/>
            <a:ext cx="4431323" cy="34925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501532" y="233646"/>
            <a:ext cx="10972800" cy="454025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1709401" y="6588126"/>
            <a:ext cx="482599" cy="269875"/>
          </a:xfrm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3CFBCD7E-D3EA-4FE0-AA0E-02B5C8325411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406428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B6179DA-9A6B-EF23-2ECA-762179079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836DC44-EC9F-ADF6-E2D4-4A05DA22A5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5F82FC-F0B2-319A-57AD-12604F6C7D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1AD320-4C65-4643-994B-2F951F51B129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CA81BB-663C-D377-7A98-1BEA32825B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7690E6-4903-431D-4D48-E3695B8BCF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D8E473-4F8D-4F9D-83D8-20E9D5DC04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7116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C11E3B0C-F14B-4D02-2B21-C986CA615AF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6E7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F81B813-32DD-767D-7E36-CF5517F0192E}"/>
              </a:ext>
            </a:extLst>
          </p:cNvPr>
          <p:cNvSpPr/>
          <p:nvPr/>
        </p:nvSpPr>
        <p:spPr>
          <a:xfrm>
            <a:off x="216310" y="206477"/>
            <a:ext cx="11788877" cy="64597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각 삼각형 20">
            <a:extLst>
              <a:ext uri="{FF2B5EF4-FFF2-40B4-BE49-F238E27FC236}">
                <a16:creationId xmlns:a16="http://schemas.microsoft.com/office/drawing/2014/main" id="{AA7F2890-EFF2-72D4-66F8-167172005E6D}"/>
              </a:ext>
            </a:extLst>
          </p:cNvPr>
          <p:cNvSpPr/>
          <p:nvPr/>
        </p:nvSpPr>
        <p:spPr>
          <a:xfrm rot="5400000">
            <a:off x="-983" y="0"/>
            <a:ext cx="1440000" cy="1440000"/>
          </a:xfrm>
          <a:prstGeom prst="rtTriangle">
            <a:avLst/>
          </a:prstGeom>
          <a:solidFill>
            <a:srgbClr val="E6E7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84A3EB14-9284-578C-A403-738A4FA740F5}"/>
              </a:ext>
            </a:extLst>
          </p:cNvPr>
          <p:cNvGrpSpPr/>
          <p:nvPr/>
        </p:nvGrpSpPr>
        <p:grpSpPr>
          <a:xfrm>
            <a:off x="2751251" y="2074218"/>
            <a:ext cx="6689498" cy="2590525"/>
            <a:chOff x="2158088" y="1224186"/>
            <a:chExt cx="5990267" cy="2056751"/>
          </a:xfrm>
        </p:grpSpPr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0184940D-A49D-CD98-18B8-54F5B6850C6B}"/>
                </a:ext>
              </a:extLst>
            </p:cNvPr>
            <p:cNvGrpSpPr/>
            <p:nvPr/>
          </p:nvGrpSpPr>
          <p:grpSpPr>
            <a:xfrm>
              <a:off x="2158088" y="1385705"/>
              <a:ext cx="5990267" cy="1895232"/>
              <a:chOff x="2555431" y="1439183"/>
              <a:chExt cx="4813228" cy="1895234"/>
            </a:xfrm>
          </p:grpSpPr>
          <p:grpSp>
            <p:nvGrpSpPr>
              <p:cNvPr id="25" name="그룹 15">
                <a:extLst>
                  <a:ext uri="{FF2B5EF4-FFF2-40B4-BE49-F238E27FC236}">
                    <a16:creationId xmlns:a16="http://schemas.microsoft.com/office/drawing/2014/main" id="{0BB0149D-21E6-9C40-03A8-51FA795C664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555431" y="1439183"/>
                <a:ext cx="4794225" cy="1657840"/>
                <a:chOff x="2342710" y="1223755"/>
                <a:chExt cx="5208200" cy="1800200"/>
              </a:xfrm>
            </p:grpSpPr>
            <p:grpSp>
              <p:nvGrpSpPr>
                <p:cNvPr id="28" name="그룹 16">
                  <a:extLst>
                    <a:ext uri="{FF2B5EF4-FFF2-40B4-BE49-F238E27FC236}">
                      <a16:creationId xmlns:a16="http://schemas.microsoft.com/office/drawing/2014/main" id="{A230EFEB-B091-D165-764C-90A7291563B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612741" y="1534384"/>
                  <a:ext cx="4680520" cy="1170130"/>
                  <a:chOff x="3962890" y="1358770"/>
                  <a:chExt cx="2295255" cy="1035115"/>
                </a:xfrm>
              </p:grpSpPr>
              <p:cxnSp>
                <p:nvCxnSpPr>
                  <p:cNvPr id="31" name="직선 연결선 20">
                    <a:extLst>
                      <a:ext uri="{FF2B5EF4-FFF2-40B4-BE49-F238E27FC236}">
                        <a16:creationId xmlns:a16="http://schemas.microsoft.com/office/drawing/2014/main" id="{5F8F87A9-B7B0-DB10-7DA2-8FD5A9CC223D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3962890" y="1358770"/>
                    <a:ext cx="2295255" cy="0"/>
                  </a:xfrm>
                  <a:prstGeom prst="line">
                    <a:avLst/>
                  </a:prstGeom>
                  <a:noFill/>
                  <a:ln w="19050" algn="ctr">
                    <a:solidFill>
                      <a:srgbClr val="333399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32" name="직선 연결선 21">
                    <a:extLst>
                      <a:ext uri="{FF2B5EF4-FFF2-40B4-BE49-F238E27FC236}">
                        <a16:creationId xmlns:a16="http://schemas.microsoft.com/office/drawing/2014/main" id="{C210FFE7-FE1E-95BC-3AAD-A9D52D01439C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3962890" y="2393885"/>
                    <a:ext cx="2295255" cy="0"/>
                  </a:xfrm>
                  <a:prstGeom prst="line">
                    <a:avLst/>
                  </a:prstGeom>
                  <a:noFill/>
                  <a:ln w="19050" algn="ctr">
                    <a:solidFill>
                      <a:srgbClr val="333399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  <p:sp>
              <p:nvSpPr>
                <p:cNvPr id="29" name="자유형 17">
                  <a:extLst>
                    <a:ext uri="{FF2B5EF4-FFF2-40B4-BE49-F238E27FC236}">
                      <a16:creationId xmlns:a16="http://schemas.microsoft.com/office/drawing/2014/main" id="{94200816-D784-7DDC-5F31-C46397D9DA1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42710" y="1223755"/>
                  <a:ext cx="167640" cy="1800200"/>
                </a:xfrm>
                <a:custGeom>
                  <a:avLst/>
                  <a:gdLst>
                    <a:gd name="T0" fmla="*/ 152400 w 167640"/>
                    <a:gd name="T1" fmla="*/ 0 h 1470660"/>
                    <a:gd name="T2" fmla="*/ 0 w 167640"/>
                    <a:gd name="T3" fmla="*/ 0 h 1470660"/>
                    <a:gd name="T4" fmla="*/ 0 w 167640"/>
                    <a:gd name="T5" fmla="*/ 2697352 h 1470660"/>
                    <a:gd name="T6" fmla="*/ 167640 w 167640"/>
                    <a:gd name="T7" fmla="*/ 2697352 h 14706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67640" h="1470660">
                      <a:moveTo>
                        <a:pt x="152400" y="0"/>
                      </a:moveTo>
                      <a:lnTo>
                        <a:pt x="0" y="0"/>
                      </a:lnTo>
                      <a:lnTo>
                        <a:pt x="0" y="1470660"/>
                      </a:lnTo>
                      <a:lnTo>
                        <a:pt x="167640" y="1470660"/>
                      </a:lnTo>
                    </a:path>
                  </a:pathLst>
                </a:custGeom>
                <a:noFill/>
                <a:ln w="76200" cap="flat" cmpd="sng" algn="ctr">
                  <a:solidFill>
                    <a:srgbClr val="003C89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88146" tIns="44075" rIns="88146" bIns="44075"/>
                <a:lstStyle/>
                <a:p>
                  <a:endParaRPr lang="ko-KR" altLang="en-US" sz="1658"/>
                </a:p>
              </p:txBody>
            </p:sp>
            <p:sp>
              <p:nvSpPr>
                <p:cNvPr id="30" name="자유형 18">
                  <a:extLst>
                    <a:ext uri="{FF2B5EF4-FFF2-40B4-BE49-F238E27FC236}">
                      <a16:creationId xmlns:a16="http://schemas.microsoft.com/office/drawing/2014/main" id="{7A7C6E8E-1B12-7259-CC98-950A102B4D5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10800000">
                  <a:off x="7383270" y="1223755"/>
                  <a:ext cx="167640" cy="1800200"/>
                </a:xfrm>
                <a:custGeom>
                  <a:avLst/>
                  <a:gdLst>
                    <a:gd name="T0" fmla="*/ 152400 w 167640"/>
                    <a:gd name="T1" fmla="*/ 0 h 1470660"/>
                    <a:gd name="T2" fmla="*/ 0 w 167640"/>
                    <a:gd name="T3" fmla="*/ 0 h 1470660"/>
                    <a:gd name="T4" fmla="*/ 0 w 167640"/>
                    <a:gd name="T5" fmla="*/ 2697352 h 1470660"/>
                    <a:gd name="T6" fmla="*/ 167640 w 167640"/>
                    <a:gd name="T7" fmla="*/ 2697352 h 14706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67640" h="1470660">
                      <a:moveTo>
                        <a:pt x="152400" y="0"/>
                      </a:moveTo>
                      <a:lnTo>
                        <a:pt x="0" y="0"/>
                      </a:lnTo>
                      <a:lnTo>
                        <a:pt x="0" y="1470660"/>
                      </a:lnTo>
                      <a:lnTo>
                        <a:pt x="167640" y="1470660"/>
                      </a:lnTo>
                    </a:path>
                  </a:pathLst>
                </a:custGeom>
                <a:noFill/>
                <a:ln w="76200" cap="flat" cmpd="sng" algn="ctr">
                  <a:solidFill>
                    <a:srgbClr val="003C89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88146" tIns="44075" rIns="88146" bIns="44075"/>
                <a:lstStyle/>
                <a:p>
                  <a:endParaRPr lang="ko-KR" altLang="en-US" sz="1658"/>
                </a:p>
              </p:txBody>
            </p:sp>
          </p:grpSp>
          <p:sp>
            <p:nvSpPr>
              <p:cNvPr id="26" name="TextBox 13">
                <a:extLst>
                  <a:ext uri="{FF2B5EF4-FFF2-40B4-BE49-F238E27FC236}">
                    <a16:creationId xmlns:a16="http://schemas.microsoft.com/office/drawing/2014/main" id="{DE6DC4C9-538F-E5B9-02FC-F6AA6D39CC7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36355" y="1706134"/>
                <a:ext cx="4458692" cy="9916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anchor="ctr">
                <a:spAutoFit/>
              </a:bodyPr>
              <a:lstStyle>
                <a:lvl1pPr>
                  <a:defRPr kumimoji="1">
                    <a:solidFill>
                      <a:schemeClr val="tx1"/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</a:defRPr>
                </a:lvl9pPr>
              </a:lstStyle>
              <a:p>
                <a:pPr algn="ctr">
                  <a:lnSpc>
                    <a:spcPct val="150000"/>
                  </a:lnSpc>
                  <a:spcBef>
                    <a:spcPct val="20000"/>
                  </a:spcBef>
                  <a:buClr>
                    <a:srgbClr val="C0504D"/>
                  </a:buClr>
                  <a:buSzPct val="80000"/>
                  <a:defRPr/>
                </a:pPr>
                <a:r>
                  <a:rPr lang="ko-KR" altLang="en-US" sz="2500" b="1" dirty="0">
                    <a:latin typeface="맑은 고딕" pitchFamily="50" charset="-127"/>
                    <a:ea typeface="맑은 고딕" pitchFamily="50" charset="-127"/>
                  </a:rPr>
                  <a:t>강화학습을 이용한 </a:t>
                </a:r>
                <a:endParaRPr lang="en-US" altLang="ko-KR" sz="2500" b="1" dirty="0">
                  <a:latin typeface="맑은 고딕" pitchFamily="50" charset="-127"/>
                  <a:ea typeface="맑은 고딕" pitchFamily="50" charset="-127"/>
                </a:endParaRPr>
              </a:p>
              <a:p>
                <a:pPr algn="ctr">
                  <a:lnSpc>
                    <a:spcPct val="150000"/>
                  </a:lnSpc>
                  <a:spcBef>
                    <a:spcPct val="20000"/>
                  </a:spcBef>
                  <a:buClr>
                    <a:srgbClr val="C0504D"/>
                  </a:buClr>
                  <a:buSzPct val="80000"/>
                  <a:defRPr/>
                </a:pPr>
                <a:r>
                  <a:rPr lang="en-US" altLang="ko-KR" sz="2500" b="1" dirty="0">
                    <a:latin typeface="맑은 고딕" pitchFamily="50" charset="-127"/>
                    <a:ea typeface="맑은 고딕" pitchFamily="50" charset="-127"/>
                  </a:rPr>
                  <a:t>EREV</a:t>
                </a:r>
                <a:r>
                  <a:rPr lang="ko-KR" altLang="en-US" sz="2500" b="1" dirty="0">
                    <a:latin typeface="맑은 고딕" pitchFamily="50" charset="-127"/>
                    <a:ea typeface="맑은 고딕" pitchFamily="50" charset="-127"/>
                  </a:rPr>
                  <a:t>차량의 변속 제어</a:t>
                </a:r>
                <a:endParaRPr lang="en-US" altLang="ko-KR" sz="2500" b="1" dirty="0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27" name="TextBox 13">
                <a:extLst>
                  <a:ext uri="{FF2B5EF4-FFF2-40B4-BE49-F238E27FC236}">
                    <a16:creationId xmlns:a16="http://schemas.microsoft.com/office/drawing/2014/main" id="{B4762908-2F2E-2B45-9C76-DECBC2DDA60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62743" y="2914576"/>
                <a:ext cx="4805916" cy="41984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algn="ctr" eaLnBrk="1" latinLnBrk="1" hangingPunct="1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  <a:defRPr/>
                </a:pPr>
                <a:r>
                  <a:rPr lang="ko-KR" altLang="en-US" sz="1289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발표자 </a:t>
                </a:r>
                <a:r>
                  <a:rPr lang="en-US" altLang="ko-KR" sz="1289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: 20201807 </a:t>
                </a:r>
                <a:r>
                  <a:rPr lang="ko-KR" altLang="en-US" sz="1289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박준현</a:t>
                </a:r>
                <a:endParaRPr lang="en-US" altLang="ko-KR" sz="1289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itchFamily="50" charset="-127"/>
                  <a:ea typeface="맑은 고딕" pitchFamily="50" charset="-127"/>
                </a:endParaRPr>
              </a:p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defRPr/>
                </a:pPr>
                <a:r>
                  <a:rPr lang="en-US" altLang="ko-KR" sz="1289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itchFamily="50" charset="-127"/>
                  </a:rPr>
                  <a:t>https://github.com/SinTax-sgu/EREV-RL-Control/tree/main</a:t>
                </a:r>
                <a:endParaRPr lang="ko-KR" altLang="en-US" sz="1289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  <p:sp>
          <p:nvSpPr>
            <p:cNvPr id="24" name="TextBox 13">
              <a:extLst>
                <a:ext uri="{FF2B5EF4-FFF2-40B4-BE49-F238E27FC236}">
                  <a16:creationId xmlns:a16="http://schemas.microsoft.com/office/drawing/2014/main" id="{96985783-451B-4A3A-B9F3-3902EB0E73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36257" y="1224186"/>
              <a:ext cx="5219380" cy="3096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9pPr>
            </a:lstStyle>
            <a:p>
              <a:pPr marL="0" marR="0" lvl="0" indent="0" algn="ctr" defTabSz="914400" rtl="0" eaLnBrk="1" fontAlgn="base" latinLnBrk="1" hangingPunct="1">
                <a:lnSpc>
                  <a:spcPct val="16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C0504D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ko-KR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6408A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강화학습 프로젝트</a:t>
              </a:r>
            </a:p>
          </p:txBody>
        </p:sp>
      </p:grpSp>
      <p:sp>
        <p:nvSpPr>
          <p:cNvPr id="38" name="직각 삼각형 37">
            <a:extLst>
              <a:ext uri="{FF2B5EF4-FFF2-40B4-BE49-F238E27FC236}">
                <a16:creationId xmlns:a16="http://schemas.microsoft.com/office/drawing/2014/main" id="{97A7966B-0966-A868-ED0D-960055A91770}"/>
              </a:ext>
            </a:extLst>
          </p:cNvPr>
          <p:cNvSpPr/>
          <p:nvPr/>
        </p:nvSpPr>
        <p:spPr>
          <a:xfrm rot="16200000">
            <a:off x="10781497" y="5432748"/>
            <a:ext cx="1440000" cy="1440000"/>
          </a:xfrm>
          <a:prstGeom prst="rtTriangle">
            <a:avLst/>
          </a:prstGeom>
          <a:solidFill>
            <a:srgbClr val="E6E7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82128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1426E1-316C-978B-6C41-213BC70F7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kern="1200" baseline="0" dirty="0">
                <a:latin typeface="+mn-lt"/>
                <a:ea typeface="+mn-ea"/>
                <a:cs typeface="+mn-cs"/>
              </a:rPr>
              <a:t>목차</a:t>
            </a:r>
            <a:endParaRPr lang="ko-KR" altLang="en-US" dirty="0"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59B584-15EA-8BEF-DB99-EA4A3CD50839}"/>
              </a:ext>
            </a:extLst>
          </p:cNvPr>
          <p:cNvSpPr txBox="1"/>
          <p:nvPr/>
        </p:nvSpPr>
        <p:spPr>
          <a:xfrm>
            <a:off x="956235" y="968550"/>
            <a:ext cx="10838368" cy="49208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300000"/>
              </a:lnSpc>
            </a:pPr>
            <a:r>
              <a:rPr lang="en-US" altLang="ko-KR" b="1" dirty="0"/>
              <a:t>1. </a:t>
            </a:r>
            <a:r>
              <a:rPr lang="ko-KR" altLang="en-US" b="1" dirty="0"/>
              <a:t>프로젝트 개요</a:t>
            </a:r>
            <a:endParaRPr lang="en-US" altLang="ko-KR" b="1" dirty="0"/>
          </a:p>
          <a:p>
            <a:pPr>
              <a:lnSpc>
                <a:spcPct val="300000"/>
              </a:lnSpc>
            </a:pPr>
            <a:r>
              <a:rPr lang="en-US" altLang="ko-KR" b="1" dirty="0"/>
              <a:t>2. Environment </a:t>
            </a:r>
            <a:r>
              <a:rPr lang="ko-KR" altLang="en-US" b="1" dirty="0"/>
              <a:t>소개</a:t>
            </a:r>
            <a:endParaRPr lang="en-US" altLang="ko-KR" b="1" dirty="0"/>
          </a:p>
          <a:p>
            <a:pPr>
              <a:lnSpc>
                <a:spcPct val="300000"/>
              </a:lnSpc>
            </a:pPr>
            <a:r>
              <a:rPr lang="en-US" altLang="ko-KR" b="1" dirty="0"/>
              <a:t>3. </a:t>
            </a:r>
            <a:r>
              <a:rPr lang="ko-KR" altLang="en-US" b="1" dirty="0"/>
              <a:t>강화 학습 설계</a:t>
            </a:r>
            <a:endParaRPr lang="en-US" altLang="ko-KR" b="1" dirty="0"/>
          </a:p>
          <a:p>
            <a:pPr>
              <a:lnSpc>
                <a:spcPct val="300000"/>
              </a:lnSpc>
            </a:pPr>
            <a:r>
              <a:rPr lang="en-US" altLang="ko-KR" b="1" dirty="0"/>
              <a:t>4. </a:t>
            </a:r>
            <a:r>
              <a:rPr lang="ko-KR" altLang="en-US" b="1" dirty="0"/>
              <a:t>실험 설계</a:t>
            </a:r>
            <a:endParaRPr lang="en-US" altLang="ko-KR" b="1" dirty="0"/>
          </a:p>
          <a:p>
            <a:pPr>
              <a:lnSpc>
                <a:spcPct val="300000"/>
              </a:lnSpc>
            </a:pPr>
            <a:r>
              <a:rPr lang="en-US" altLang="ko-KR" b="1" dirty="0"/>
              <a:t>5. </a:t>
            </a:r>
            <a:r>
              <a:rPr lang="ko-KR" altLang="en-US" b="1" dirty="0"/>
              <a:t>실험 결과 </a:t>
            </a:r>
            <a:endParaRPr lang="en-US" altLang="ko-KR" b="1" dirty="0"/>
          </a:p>
          <a:p>
            <a:pPr>
              <a:lnSpc>
                <a:spcPct val="300000"/>
              </a:lnSpc>
            </a:pPr>
            <a:r>
              <a:rPr lang="en-US" altLang="ko-KR" b="1" dirty="0"/>
              <a:t>6. </a:t>
            </a:r>
            <a:r>
              <a:rPr lang="ko-KR" altLang="en-US" b="1" dirty="0"/>
              <a:t>결과 분석 및 결론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1226419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E0BB4-3EA8-7DB7-50A7-B9ED62B0F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698BBB-5681-8B83-3D33-5938248B3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+mn-lt"/>
                <a:ea typeface="+mn-ea"/>
                <a:cs typeface="+mn-cs"/>
              </a:rPr>
              <a:t>1. </a:t>
            </a:r>
            <a:r>
              <a:rPr lang="ko-KR" altLang="en-US" dirty="0">
                <a:latin typeface="+mn-lt"/>
                <a:ea typeface="+mn-ea"/>
                <a:cs typeface="+mn-cs"/>
              </a:rPr>
              <a:t>프로젝트 개요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F5AD38B-D25D-9B96-2E82-8F393DF7CD4C}"/>
              </a:ext>
            </a:extLst>
          </p:cNvPr>
          <p:cNvSpPr/>
          <p:nvPr/>
        </p:nvSpPr>
        <p:spPr>
          <a:xfrm>
            <a:off x="501534" y="1143345"/>
            <a:ext cx="11245150" cy="194727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3B416CE-9B79-D2F3-53FA-B2921D0D6B23}"/>
              </a:ext>
            </a:extLst>
          </p:cNvPr>
          <p:cNvSpPr/>
          <p:nvPr/>
        </p:nvSpPr>
        <p:spPr>
          <a:xfrm>
            <a:off x="4927207" y="916332"/>
            <a:ext cx="2121449" cy="454026"/>
          </a:xfrm>
          <a:prstGeom prst="rect">
            <a:avLst/>
          </a:prstGeom>
          <a:solidFill>
            <a:srgbClr val="E6E7E8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프로젝트 배경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B7C690-1221-85FA-57F7-9CEC2195E5FF}"/>
              </a:ext>
            </a:extLst>
          </p:cNvPr>
          <p:cNvSpPr txBox="1"/>
          <p:nvPr/>
        </p:nvSpPr>
        <p:spPr>
          <a:xfrm>
            <a:off x="1305526" y="6029362"/>
            <a:ext cx="25610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b="1" dirty="0" err="1">
                <a:latin typeface="+mn-ea"/>
              </a:rPr>
              <a:t>Matlab</a:t>
            </a:r>
            <a:r>
              <a:rPr lang="en-US" altLang="ko-KR" b="1" dirty="0">
                <a:latin typeface="+mn-ea"/>
              </a:rPr>
              <a:t> (R2025a)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4A7C1CFA-FDDF-3533-6B7C-178FAB0935D4}"/>
              </a:ext>
            </a:extLst>
          </p:cNvPr>
          <p:cNvSpPr/>
          <p:nvPr/>
        </p:nvSpPr>
        <p:spPr>
          <a:xfrm>
            <a:off x="501532" y="3429000"/>
            <a:ext cx="11245152" cy="319535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B10B8B3-AFCA-28EA-4CBD-B64458590CB1}"/>
              </a:ext>
            </a:extLst>
          </p:cNvPr>
          <p:cNvSpPr/>
          <p:nvPr/>
        </p:nvSpPr>
        <p:spPr>
          <a:xfrm>
            <a:off x="5035275" y="3225492"/>
            <a:ext cx="2121449" cy="454026"/>
          </a:xfrm>
          <a:prstGeom prst="rect">
            <a:avLst/>
          </a:prstGeom>
          <a:solidFill>
            <a:srgbClr val="E6E7E8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개발 환경</a:t>
            </a:r>
          </a:p>
        </p:txBody>
      </p:sp>
      <p:pic>
        <p:nvPicPr>
          <p:cNvPr id="1028" name="Picture 4" descr="MATLAB Mobile - Google Play 앱">
            <a:extLst>
              <a:ext uri="{FF2B5EF4-FFF2-40B4-BE49-F238E27FC236}">
                <a16:creationId xmlns:a16="http://schemas.microsoft.com/office/drawing/2014/main" id="{D2907640-8289-F472-EE8C-FE3382CABC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1219" y="3635627"/>
            <a:ext cx="2291981" cy="2291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시뮬링크 - 위키백과, 우리 모두의 백과사전">
            <a:extLst>
              <a:ext uri="{FF2B5EF4-FFF2-40B4-BE49-F238E27FC236}">
                <a16:creationId xmlns:a16="http://schemas.microsoft.com/office/drawing/2014/main" id="{56A6A6B1-2A78-D89C-FF01-0AE51A362E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4919" y="4017897"/>
            <a:ext cx="1579919" cy="1579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48A06FB-966A-15FA-66E7-EE4C8E822238}"/>
              </a:ext>
            </a:extLst>
          </p:cNvPr>
          <p:cNvSpPr txBox="1"/>
          <p:nvPr/>
        </p:nvSpPr>
        <p:spPr>
          <a:xfrm>
            <a:off x="4815489" y="6007676"/>
            <a:ext cx="25610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b="1" dirty="0">
                <a:latin typeface="+mn-ea"/>
              </a:rPr>
              <a:t>Simulink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3B2FF2-5654-D5C6-0C2E-2DB854FB3FA0}"/>
              </a:ext>
            </a:extLst>
          </p:cNvPr>
          <p:cNvSpPr txBox="1"/>
          <p:nvPr/>
        </p:nvSpPr>
        <p:spPr>
          <a:xfrm>
            <a:off x="7473269" y="5923599"/>
            <a:ext cx="41766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b="1" dirty="0">
                <a:latin typeface="+mn-ea"/>
              </a:rPr>
              <a:t>Deep Learning &amp; Reinforcement Learning Toolbox</a:t>
            </a:r>
          </a:p>
        </p:txBody>
      </p:sp>
      <p:pic>
        <p:nvPicPr>
          <p:cNvPr id="32" name="그림 31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38C38E7-BCAB-DC11-2092-A50AE5B024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0966" y="4968379"/>
            <a:ext cx="3054794" cy="829379"/>
          </a:xfrm>
          <a:prstGeom prst="rect">
            <a:avLst/>
          </a:prstGeom>
        </p:spPr>
      </p:pic>
      <p:pic>
        <p:nvPicPr>
          <p:cNvPr id="34" name="그림 33" descr="텍스트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74400B5-8FEB-D23B-7549-917E1C1ACE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90966" y="4037246"/>
            <a:ext cx="3214487" cy="829379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CE1F0D15-E59A-8967-B0C1-BA559179E429}"/>
              </a:ext>
            </a:extLst>
          </p:cNvPr>
          <p:cNvSpPr txBox="1"/>
          <p:nvPr/>
        </p:nvSpPr>
        <p:spPr>
          <a:xfrm>
            <a:off x="1025797" y="1492723"/>
            <a:ext cx="11020892" cy="1285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/>
              <a:t>- </a:t>
            </a:r>
            <a:r>
              <a:rPr lang="ko-KR" altLang="en-US" b="1" dirty="0"/>
              <a:t>기존 자동차의 자동 변속 로직은 대체로 규칙 기반</a:t>
            </a:r>
            <a:r>
              <a:rPr lang="en-US" altLang="ko-KR" b="1" dirty="0"/>
              <a:t>(Rule Based)</a:t>
            </a:r>
            <a:r>
              <a:rPr lang="ko-KR" altLang="en-US" b="1" dirty="0"/>
              <a:t>로 구성되어 있음</a:t>
            </a:r>
            <a:r>
              <a:rPr lang="en-US" altLang="ko-KR" b="1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b="1" dirty="0"/>
              <a:t>- </a:t>
            </a:r>
            <a:r>
              <a:rPr lang="ko-KR" altLang="en-US" b="1" dirty="0"/>
              <a:t>강화학습을 적용한 학습 기반</a:t>
            </a:r>
            <a:r>
              <a:rPr lang="en-US" altLang="ko-KR" b="1" dirty="0"/>
              <a:t>(Learning Based) </a:t>
            </a:r>
            <a:r>
              <a:rPr lang="ko-KR" altLang="en-US" b="1" dirty="0"/>
              <a:t>변속 로직을 구성하여</a:t>
            </a:r>
            <a:endParaRPr lang="en-US" altLang="ko-KR" b="1" dirty="0"/>
          </a:p>
          <a:p>
            <a:pPr>
              <a:lnSpc>
                <a:spcPct val="150000"/>
              </a:lnSpc>
            </a:pPr>
            <a:r>
              <a:rPr lang="en-US" altLang="ko-KR" b="1" dirty="0"/>
              <a:t>  </a:t>
            </a:r>
            <a:r>
              <a:rPr lang="ko-KR" altLang="en-US" b="1" dirty="0"/>
              <a:t>  최적 변속 제어 가능성을 탐색하고자 함</a:t>
            </a:r>
            <a:r>
              <a:rPr lang="en-US" altLang="ko-KR" b="1" dirty="0"/>
              <a:t>.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850337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E0BB4-3EA8-7DB7-50A7-B9ED62B0F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698BBB-5681-8B83-3D33-5938248B3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+mn-lt"/>
                <a:ea typeface="+mn-ea"/>
                <a:cs typeface="+mn-cs"/>
              </a:rPr>
              <a:t>2. Environment </a:t>
            </a:r>
            <a:r>
              <a:rPr lang="ko-KR" altLang="en-US" dirty="0">
                <a:latin typeface="+mn-lt"/>
                <a:ea typeface="+mn-ea"/>
                <a:cs typeface="+mn-cs"/>
              </a:rPr>
              <a:t>소개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F5AD38B-D25D-9B96-2E82-8F393DF7CD4C}"/>
              </a:ext>
            </a:extLst>
          </p:cNvPr>
          <p:cNvSpPr/>
          <p:nvPr/>
        </p:nvSpPr>
        <p:spPr>
          <a:xfrm>
            <a:off x="501534" y="1143345"/>
            <a:ext cx="5594466" cy="550815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3B416CE-9B79-D2F3-53FA-B2921D0D6B23}"/>
              </a:ext>
            </a:extLst>
          </p:cNvPr>
          <p:cNvSpPr/>
          <p:nvPr/>
        </p:nvSpPr>
        <p:spPr>
          <a:xfrm>
            <a:off x="2190221" y="913860"/>
            <a:ext cx="2121449" cy="454026"/>
          </a:xfrm>
          <a:prstGeom prst="rect">
            <a:avLst/>
          </a:prstGeom>
          <a:solidFill>
            <a:srgbClr val="E6E7E8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차량 모델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B7C690-1221-85FA-57F7-9CEC2195E5FF}"/>
              </a:ext>
            </a:extLst>
          </p:cNvPr>
          <p:cNvSpPr txBox="1"/>
          <p:nvPr/>
        </p:nvSpPr>
        <p:spPr>
          <a:xfrm>
            <a:off x="993094" y="5693380"/>
            <a:ext cx="4644754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500" b="1" dirty="0">
                <a:latin typeface="+mn-ea"/>
              </a:rPr>
              <a:t>직접 구현한 </a:t>
            </a:r>
            <a:r>
              <a:rPr lang="en-US" altLang="ko-KR" sz="1500" b="1" dirty="0">
                <a:latin typeface="+mn-ea"/>
              </a:rPr>
              <a:t>EREV </a:t>
            </a:r>
            <a:r>
              <a:rPr lang="ko-KR" altLang="en-US" sz="1500" b="1" dirty="0">
                <a:latin typeface="+mn-ea"/>
              </a:rPr>
              <a:t>모델 사용</a:t>
            </a:r>
            <a:endParaRPr lang="en-US" altLang="ko-KR" sz="1500" b="1" dirty="0">
              <a:latin typeface="+mn-ea"/>
            </a:endParaRPr>
          </a:p>
          <a:p>
            <a:pPr algn="ctr"/>
            <a:endParaRPr lang="en-US" altLang="ko-KR" sz="1500" b="1" dirty="0">
              <a:latin typeface="+mn-ea"/>
            </a:endParaRPr>
          </a:p>
          <a:p>
            <a:pPr algn="ctr"/>
            <a:r>
              <a:rPr lang="ko-KR" altLang="en-US" sz="1500" b="1" dirty="0">
                <a:latin typeface="+mn-ea"/>
              </a:rPr>
              <a:t>후륜 </a:t>
            </a:r>
            <a:r>
              <a:rPr lang="en-US" altLang="ko-KR" sz="1500" b="1" dirty="0">
                <a:latin typeface="+mn-ea"/>
              </a:rPr>
              <a:t>2</a:t>
            </a:r>
            <a:r>
              <a:rPr lang="ko-KR" altLang="en-US" sz="1500" b="1" dirty="0">
                <a:latin typeface="+mn-ea"/>
              </a:rPr>
              <a:t>단 변속기</a:t>
            </a:r>
            <a:r>
              <a:rPr lang="en-US" altLang="ko-KR" sz="1500" b="1" dirty="0">
                <a:latin typeface="+mn-ea"/>
              </a:rPr>
              <a:t>, </a:t>
            </a:r>
            <a:r>
              <a:rPr lang="ko-KR" altLang="en-US" sz="1500" b="1" dirty="0" err="1">
                <a:latin typeface="+mn-ea"/>
              </a:rPr>
              <a:t>전후륜</a:t>
            </a:r>
            <a:r>
              <a:rPr lang="ko-KR" altLang="en-US" sz="1500" b="1" dirty="0">
                <a:latin typeface="+mn-ea"/>
              </a:rPr>
              <a:t> 모터</a:t>
            </a:r>
            <a:r>
              <a:rPr lang="en-US" altLang="ko-KR" sz="1500" b="1" dirty="0">
                <a:latin typeface="+mn-ea"/>
              </a:rPr>
              <a:t>, </a:t>
            </a:r>
            <a:r>
              <a:rPr lang="ko-KR" altLang="en-US" sz="1500" b="1" dirty="0">
                <a:latin typeface="+mn-ea"/>
              </a:rPr>
              <a:t>배터리</a:t>
            </a:r>
            <a:r>
              <a:rPr lang="en-US" altLang="ko-KR" sz="1500" b="1" dirty="0">
                <a:latin typeface="+mn-ea"/>
              </a:rPr>
              <a:t>, </a:t>
            </a:r>
            <a:r>
              <a:rPr lang="ko-KR" altLang="en-US" sz="1500" b="1" dirty="0">
                <a:latin typeface="+mn-ea"/>
              </a:rPr>
              <a:t>엔진 등 구현</a:t>
            </a:r>
            <a:endParaRPr lang="en-US" altLang="ko-KR" sz="1500" b="1" dirty="0">
              <a:latin typeface="+mn-ea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4A7C1CFA-FDDF-3533-6B7C-178FAB0935D4}"/>
              </a:ext>
            </a:extLst>
          </p:cNvPr>
          <p:cNvSpPr/>
          <p:nvPr/>
        </p:nvSpPr>
        <p:spPr>
          <a:xfrm>
            <a:off x="6321788" y="1143345"/>
            <a:ext cx="5437595" cy="550815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B10B8B3-AFCA-28EA-4CBD-B64458590CB1}"/>
              </a:ext>
            </a:extLst>
          </p:cNvPr>
          <p:cNvSpPr/>
          <p:nvPr/>
        </p:nvSpPr>
        <p:spPr>
          <a:xfrm>
            <a:off x="7831855" y="915508"/>
            <a:ext cx="2417460" cy="454026"/>
          </a:xfrm>
          <a:prstGeom prst="rect">
            <a:avLst/>
          </a:prstGeom>
          <a:solidFill>
            <a:srgbClr val="E6E7E8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UDDS </a:t>
            </a:r>
            <a:r>
              <a:rPr lang="ko-KR" altLang="en-US" b="1" dirty="0"/>
              <a:t>주행사이클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7C1BCE9-DE52-62E6-6FDA-CB5533CF1EE3}"/>
              </a:ext>
            </a:extLst>
          </p:cNvPr>
          <p:cNvSpPr txBox="1"/>
          <p:nvPr/>
        </p:nvSpPr>
        <p:spPr>
          <a:xfrm>
            <a:off x="6321788" y="5693380"/>
            <a:ext cx="5437595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500" b="1" dirty="0">
                <a:latin typeface="+mn-ea"/>
              </a:rPr>
              <a:t>UDDS(Urban Dynamometer Driving Schedule) </a:t>
            </a:r>
            <a:r>
              <a:rPr lang="ko-KR" altLang="en-US" sz="1500" b="1" dirty="0">
                <a:latin typeface="+mn-ea"/>
              </a:rPr>
              <a:t>사용</a:t>
            </a:r>
            <a:endParaRPr lang="en-US" altLang="ko-KR" sz="1500" b="1" dirty="0">
              <a:latin typeface="+mn-ea"/>
            </a:endParaRPr>
          </a:p>
          <a:p>
            <a:pPr algn="ctr"/>
            <a:endParaRPr lang="en-US" altLang="ko-KR" sz="1500" b="1" dirty="0">
              <a:latin typeface="+mn-ea"/>
            </a:endParaRPr>
          </a:p>
          <a:p>
            <a:pPr algn="ctr"/>
            <a:r>
              <a:rPr lang="ko-KR" altLang="en-US" sz="1500" b="1" dirty="0">
                <a:latin typeface="+mn-ea"/>
              </a:rPr>
              <a:t>도심 주행 패턴 위주 </a:t>
            </a:r>
            <a:r>
              <a:rPr lang="en-US" altLang="ko-KR" sz="1500" b="1" dirty="0">
                <a:latin typeface="+mn-ea"/>
              </a:rPr>
              <a:t>(1369</a:t>
            </a:r>
            <a:r>
              <a:rPr lang="ko-KR" altLang="en-US" sz="1500" b="1" dirty="0">
                <a:latin typeface="+mn-ea"/>
              </a:rPr>
              <a:t>초</a:t>
            </a:r>
            <a:r>
              <a:rPr lang="en-US" altLang="ko-KR" sz="1500" b="1" dirty="0">
                <a:latin typeface="+mn-ea"/>
              </a:rPr>
              <a:t>, 11.96km)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8B6521C1-BDDD-9753-A983-A81B539B8920}"/>
              </a:ext>
            </a:extLst>
          </p:cNvPr>
          <p:cNvGrpSpPr/>
          <p:nvPr/>
        </p:nvGrpSpPr>
        <p:grpSpPr>
          <a:xfrm>
            <a:off x="727322" y="1597371"/>
            <a:ext cx="5047250" cy="3349575"/>
            <a:chOff x="1533101" y="773095"/>
            <a:chExt cx="9125798" cy="5966567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52A3953-7144-A0EF-9333-9B95E27A4E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33101" y="773095"/>
              <a:ext cx="9125798" cy="5966567"/>
            </a:xfrm>
            <a:prstGeom prst="rect">
              <a:avLst/>
            </a:prstGeom>
          </p:spPr>
        </p:pic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94827C3E-0EE7-14F7-55D0-BA8DF38B14BA}"/>
                </a:ext>
              </a:extLst>
            </p:cNvPr>
            <p:cNvSpPr/>
            <p:nvPr/>
          </p:nvSpPr>
          <p:spPr>
            <a:xfrm>
              <a:off x="3002972" y="889000"/>
              <a:ext cx="972127" cy="5562600"/>
            </a:xfrm>
            <a:prstGeom prst="rect">
              <a:avLst/>
            </a:prstGeom>
            <a:solidFill>
              <a:srgbClr val="FFC000">
                <a:alpha val="40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D8670C33-C6DD-D4D0-1A85-ED40E0E562F7}"/>
                </a:ext>
              </a:extLst>
            </p:cNvPr>
            <p:cNvSpPr/>
            <p:nvPr/>
          </p:nvSpPr>
          <p:spPr>
            <a:xfrm>
              <a:off x="1776845" y="2514600"/>
              <a:ext cx="706581" cy="1288474"/>
            </a:xfrm>
            <a:prstGeom prst="rect">
              <a:avLst/>
            </a:prstGeom>
            <a:solidFill>
              <a:schemeClr val="bg1">
                <a:lumMod val="95000"/>
                <a:alpha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DED0AEE2-71DD-71D2-F310-A8F77D7083D7}"/>
                </a:ext>
              </a:extLst>
            </p:cNvPr>
            <p:cNvSpPr/>
            <p:nvPr/>
          </p:nvSpPr>
          <p:spPr>
            <a:xfrm>
              <a:off x="7169726" y="889000"/>
              <a:ext cx="1057568" cy="991755"/>
            </a:xfrm>
            <a:prstGeom prst="rect">
              <a:avLst/>
            </a:prstGeom>
            <a:solidFill>
              <a:srgbClr val="FFFF00">
                <a:alpha val="40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742E1E07-9865-3090-AE98-93EAEC5A0B53}"/>
                </a:ext>
              </a:extLst>
            </p:cNvPr>
            <p:cNvSpPr/>
            <p:nvPr/>
          </p:nvSpPr>
          <p:spPr>
            <a:xfrm>
              <a:off x="7169726" y="2125369"/>
              <a:ext cx="1057568" cy="1843958"/>
            </a:xfrm>
            <a:prstGeom prst="rect">
              <a:avLst/>
            </a:prstGeom>
            <a:solidFill>
              <a:srgbClr val="00B0F0">
                <a:alpha val="40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E2D8FE1B-8525-8C87-7783-F9C297D0A078}"/>
                </a:ext>
              </a:extLst>
            </p:cNvPr>
            <p:cNvSpPr/>
            <p:nvPr/>
          </p:nvSpPr>
          <p:spPr>
            <a:xfrm>
              <a:off x="9676382" y="2815936"/>
              <a:ext cx="735310" cy="3583709"/>
            </a:xfrm>
            <a:prstGeom prst="rect">
              <a:avLst/>
            </a:prstGeom>
            <a:solidFill>
              <a:schemeClr val="accent6">
                <a:alpha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4ED823EB-879B-103E-9D83-FB796A4991A5}"/>
                </a:ext>
              </a:extLst>
            </p:cNvPr>
            <p:cNvSpPr/>
            <p:nvPr/>
          </p:nvSpPr>
          <p:spPr>
            <a:xfrm>
              <a:off x="7211290" y="4478626"/>
              <a:ext cx="972126" cy="1843958"/>
            </a:xfrm>
            <a:prstGeom prst="rect">
              <a:avLst/>
            </a:prstGeom>
            <a:solidFill>
              <a:srgbClr val="00B0F0">
                <a:alpha val="40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128D8FDF-92C3-A8FE-A32A-858F42451DB5}"/>
                </a:ext>
              </a:extLst>
            </p:cNvPr>
            <p:cNvSpPr/>
            <p:nvPr/>
          </p:nvSpPr>
          <p:spPr>
            <a:xfrm>
              <a:off x="4431278" y="5372099"/>
              <a:ext cx="1664721" cy="1027545"/>
            </a:xfrm>
            <a:prstGeom prst="rect">
              <a:avLst/>
            </a:prstGeom>
            <a:solidFill>
              <a:srgbClr val="FF0000">
                <a:alpha val="40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2054" name="Picture 6" descr="EPA Urban Dynamometer Driving Schedule (UDDS) | US EPA">
            <a:extLst>
              <a:ext uri="{FF2B5EF4-FFF2-40B4-BE49-F238E27FC236}">
                <a16:creationId xmlns:a16="http://schemas.microsoft.com/office/drawing/2014/main" id="{E5B9145C-BCBD-ECC7-BBCC-0F4A05757A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61" b="8943"/>
          <a:stretch>
            <a:fillRect/>
          </a:stretch>
        </p:blipFill>
        <p:spPr bwMode="auto">
          <a:xfrm>
            <a:off x="6463569" y="1862749"/>
            <a:ext cx="5142890" cy="3491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A9A39AF2-C9D2-FB59-E1FB-595EACB2B2B3}"/>
              </a:ext>
            </a:extLst>
          </p:cNvPr>
          <p:cNvSpPr txBox="1"/>
          <p:nvPr/>
        </p:nvSpPr>
        <p:spPr>
          <a:xfrm>
            <a:off x="6719777" y="361332"/>
            <a:ext cx="5039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b="1" dirty="0">
                <a:solidFill>
                  <a:srgbClr val="FF0000"/>
                </a:solidFill>
              </a:rPr>
              <a:t>*</a:t>
            </a:r>
            <a:r>
              <a:rPr lang="ko-KR" altLang="en-US" b="1" dirty="0">
                <a:solidFill>
                  <a:srgbClr val="FF0000"/>
                </a:solidFill>
              </a:rPr>
              <a:t>상세한 차량 모델링은 별도 첨부 자료 참고</a:t>
            </a:r>
          </a:p>
        </p:txBody>
      </p:sp>
      <p:grpSp>
        <p:nvGrpSpPr>
          <p:cNvPr id="1031" name="그룹 1030">
            <a:extLst>
              <a:ext uri="{FF2B5EF4-FFF2-40B4-BE49-F238E27FC236}">
                <a16:creationId xmlns:a16="http://schemas.microsoft.com/office/drawing/2014/main" id="{685E4A1F-19C3-BB0D-53C2-4BFC764826B8}"/>
              </a:ext>
            </a:extLst>
          </p:cNvPr>
          <p:cNvGrpSpPr/>
          <p:nvPr/>
        </p:nvGrpSpPr>
        <p:grpSpPr>
          <a:xfrm>
            <a:off x="1269234" y="4982632"/>
            <a:ext cx="1041868" cy="276999"/>
            <a:chOff x="862131" y="5020619"/>
            <a:chExt cx="1041868" cy="276999"/>
          </a:xfrm>
        </p:grpSpPr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FCED6028-5FD2-3005-5C0B-62666F9E7596}"/>
                </a:ext>
              </a:extLst>
            </p:cNvPr>
            <p:cNvSpPr/>
            <p:nvPr/>
          </p:nvSpPr>
          <p:spPr>
            <a:xfrm>
              <a:off x="862131" y="5077968"/>
              <a:ext cx="216861" cy="18266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7D9F61FF-FA16-5337-32AB-D106CCC08FE9}"/>
                </a:ext>
              </a:extLst>
            </p:cNvPr>
            <p:cNvSpPr txBox="1"/>
            <p:nvPr/>
          </p:nvSpPr>
          <p:spPr>
            <a:xfrm>
              <a:off x="1078992" y="5020619"/>
              <a:ext cx="8250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: Driver</a:t>
              </a:r>
              <a:endParaRPr lang="ko-KR" altLang="en-US" sz="1200" dirty="0"/>
            </a:p>
          </p:txBody>
        </p:sp>
      </p:grpSp>
      <p:grpSp>
        <p:nvGrpSpPr>
          <p:cNvPr id="1032" name="그룹 1031">
            <a:extLst>
              <a:ext uri="{FF2B5EF4-FFF2-40B4-BE49-F238E27FC236}">
                <a16:creationId xmlns:a16="http://schemas.microsoft.com/office/drawing/2014/main" id="{E56BFB2B-1121-E596-F9AA-14C2BA95B39E}"/>
              </a:ext>
            </a:extLst>
          </p:cNvPr>
          <p:cNvGrpSpPr/>
          <p:nvPr/>
        </p:nvGrpSpPr>
        <p:grpSpPr>
          <a:xfrm>
            <a:off x="2796523" y="4982632"/>
            <a:ext cx="1041868" cy="276999"/>
            <a:chOff x="862131" y="5020619"/>
            <a:chExt cx="1041868" cy="276999"/>
          </a:xfrm>
        </p:grpSpPr>
        <p:sp>
          <p:nvSpPr>
            <p:cNvPr id="1035" name="직사각형 1034">
              <a:extLst>
                <a:ext uri="{FF2B5EF4-FFF2-40B4-BE49-F238E27FC236}">
                  <a16:creationId xmlns:a16="http://schemas.microsoft.com/office/drawing/2014/main" id="{63FFD88C-0D86-07AD-5109-39BDF1946890}"/>
                </a:ext>
              </a:extLst>
            </p:cNvPr>
            <p:cNvSpPr/>
            <p:nvPr/>
          </p:nvSpPr>
          <p:spPr>
            <a:xfrm>
              <a:off x="862131" y="5077968"/>
              <a:ext cx="216861" cy="182661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36" name="TextBox 1035">
              <a:extLst>
                <a:ext uri="{FF2B5EF4-FFF2-40B4-BE49-F238E27FC236}">
                  <a16:creationId xmlns:a16="http://schemas.microsoft.com/office/drawing/2014/main" id="{D6655360-6AF7-34CA-C074-F821A4796336}"/>
                </a:ext>
              </a:extLst>
            </p:cNvPr>
            <p:cNvSpPr txBox="1"/>
            <p:nvPr/>
          </p:nvSpPr>
          <p:spPr>
            <a:xfrm>
              <a:off x="1078992" y="5020619"/>
              <a:ext cx="8250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: VCU</a:t>
              </a:r>
              <a:endParaRPr lang="ko-KR" altLang="en-US" sz="1200" dirty="0"/>
            </a:p>
          </p:txBody>
        </p:sp>
      </p:grpSp>
      <p:grpSp>
        <p:nvGrpSpPr>
          <p:cNvPr id="1037" name="그룹 1036">
            <a:extLst>
              <a:ext uri="{FF2B5EF4-FFF2-40B4-BE49-F238E27FC236}">
                <a16:creationId xmlns:a16="http://schemas.microsoft.com/office/drawing/2014/main" id="{0401125B-2CDB-98ED-8559-FD9B43B087F5}"/>
              </a:ext>
            </a:extLst>
          </p:cNvPr>
          <p:cNvGrpSpPr/>
          <p:nvPr/>
        </p:nvGrpSpPr>
        <p:grpSpPr>
          <a:xfrm>
            <a:off x="4323813" y="4982632"/>
            <a:ext cx="1041868" cy="276999"/>
            <a:chOff x="862131" y="5020619"/>
            <a:chExt cx="1041868" cy="276999"/>
          </a:xfrm>
        </p:grpSpPr>
        <p:sp>
          <p:nvSpPr>
            <p:cNvPr id="1038" name="직사각형 1037">
              <a:extLst>
                <a:ext uri="{FF2B5EF4-FFF2-40B4-BE49-F238E27FC236}">
                  <a16:creationId xmlns:a16="http://schemas.microsoft.com/office/drawing/2014/main" id="{E3BB5D3E-2204-31F7-1D8A-54B0A6D87A8F}"/>
                </a:ext>
              </a:extLst>
            </p:cNvPr>
            <p:cNvSpPr/>
            <p:nvPr/>
          </p:nvSpPr>
          <p:spPr>
            <a:xfrm>
              <a:off x="862131" y="5077968"/>
              <a:ext cx="216861" cy="182661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41" name="TextBox 1040">
              <a:extLst>
                <a:ext uri="{FF2B5EF4-FFF2-40B4-BE49-F238E27FC236}">
                  <a16:creationId xmlns:a16="http://schemas.microsoft.com/office/drawing/2014/main" id="{C8F9FAC1-13DF-2030-A876-AD45DB613606}"/>
                </a:ext>
              </a:extLst>
            </p:cNvPr>
            <p:cNvSpPr txBox="1"/>
            <p:nvPr/>
          </p:nvSpPr>
          <p:spPr>
            <a:xfrm>
              <a:off x="1078992" y="5020619"/>
              <a:ext cx="8250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: Engine</a:t>
              </a:r>
              <a:endParaRPr lang="ko-KR" altLang="en-US" sz="1200" dirty="0"/>
            </a:p>
          </p:txBody>
        </p:sp>
      </p:grpSp>
      <p:grpSp>
        <p:nvGrpSpPr>
          <p:cNvPr id="1042" name="그룹 1041">
            <a:extLst>
              <a:ext uri="{FF2B5EF4-FFF2-40B4-BE49-F238E27FC236}">
                <a16:creationId xmlns:a16="http://schemas.microsoft.com/office/drawing/2014/main" id="{9E7D4396-E45D-D099-9456-B9F7F0C3939B}"/>
              </a:ext>
            </a:extLst>
          </p:cNvPr>
          <p:cNvGrpSpPr/>
          <p:nvPr/>
        </p:nvGrpSpPr>
        <p:grpSpPr>
          <a:xfrm>
            <a:off x="1272156" y="5296610"/>
            <a:ext cx="1041868" cy="276999"/>
            <a:chOff x="862131" y="5020619"/>
            <a:chExt cx="1041868" cy="276999"/>
          </a:xfrm>
        </p:grpSpPr>
        <p:sp>
          <p:nvSpPr>
            <p:cNvPr id="1043" name="직사각형 1042">
              <a:extLst>
                <a:ext uri="{FF2B5EF4-FFF2-40B4-BE49-F238E27FC236}">
                  <a16:creationId xmlns:a16="http://schemas.microsoft.com/office/drawing/2014/main" id="{68E9F2C4-3355-5DA4-A60D-01C3E000AC70}"/>
                </a:ext>
              </a:extLst>
            </p:cNvPr>
            <p:cNvSpPr/>
            <p:nvPr/>
          </p:nvSpPr>
          <p:spPr>
            <a:xfrm>
              <a:off x="862131" y="5077968"/>
              <a:ext cx="216861" cy="18266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44" name="TextBox 1043">
              <a:extLst>
                <a:ext uri="{FF2B5EF4-FFF2-40B4-BE49-F238E27FC236}">
                  <a16:creationId xmlns:a16="http://schemas.microsoft.com/office/drawing/2014/main" id="{B2EF4955-E4AE-E936-5CCB-9C55C735A04F}"/>
                </a:ext>
              </a:extLst>
            </p:cNvPr>
            <p:cNvSpPr txBox="1"/>
            <p:nvPr/>
          </p:nvSpPr>
          <p:spPr>
            <a:xfrm>
              <a:off x="1078992" y="5020619"/>
              <a:ext cx="8250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: Motor</a:t>
              </a:r>
              <a:endParaRPr lang="ko-KR" altLang="en-US" sz="1200" dirty="0"/>
            </a:p>
          </p:txBody>
        </p:sp>
      </p:grpSp>
      <p:grpSp>
        <p:nvGrpSpPr>
          <p:cNvPr id="1045" name="그룹 1044">
            <a:extLst>
              <a:ext uri="{FF2B5EF4-FFF2-40B4-BE49-F238E27FC236}">
                <a16:creationId xmlns:a16="http://schemas.microsoft.com/office/drawing/2014/main" id="{9FA74A51-A545-8A3F-39B5-5F4CD8557F62}"/>
              </a:ext>
            </a:extLst>
          </p:cNvPr>
          <p:cNvGrpSpPr/>
          <p:nvPr/>
        </p:nvGrpSpPr>
        <p:grpSpPr>
          <a:xfrm>
            <a:off x="2791913" y="5296610"/>
            <a:ext cx="1041868" cy="276999"/>
            <a:chOff x="862131" y="5020619"/>
            <a:chExt cx="1041868" cy="276999"/>
          </a:xfrm>
        </p:grpSpPr>
        <p:sp>
          <p:nvSpPr>
            <p:cNvPr id="1046" name="직사각형 1045">
              <a:extLst>
                <a:ext uri="{FF2B5EF4-FFF2-40B4-BE49-F238E27FC236}">
                  <a16:creationId xmlns:a16="http://schemas.microsoft.com/office/drawing/2014/main" id="{E48EEB79-4A4E-CFDA-C24B-BAFC6B732438}"/>
                </a:ext>
              </a:extLst>
            </p:cNvPr>
            <p:cNvSpPr/>
            <p:nvPr/>
          </p:nvSpPr>
          <p:spPr>
            <a:xfrm>
              <a:off x="862131" y="5077968"/>
              <a:ext cx="216861" cy="182661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47" name="TextBox 1046">
              <a:extLst>
                <a:ext uri="{FF2B5EF4-FFF2-40B4-BE49-F238E27FC236}">
                  <a16:creationId xmlns:a16="http://schemas.microsoft.com/office/drawing/2014/main" id="{52B97272-C236-BE0D-D504-25B30AC40732}"/>
                </a:ext>
              </a:extLst>
            </p:cNvPr>
            <p:cNvSpPr txBox="1"/>
            <p:nvPr/>
          </p:nvSpPr>
          <p:spPr>
            <a:xfrm>
              <a:off x="1078992" y="5020619"/>
              <a:ext cx="8250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: Battery</a:t>
              </a:r>
              <a:endParaRPr lang="ko-KR" altLang="en-US" sz="1200" dirty="0"/>
            </a:p>
          </p:txBody>
        </p:sp>
      </p:grpSp>
      <p:grpSp>
        <p:nvGrpSpPr>
          <p:cNvPr id="1048" name="그룹 1047">
            <a:extLst>
              <a:ext uri="{FF2B5EF4-FFF2-40B4-BE49-F238E27FC236}">
                <a16:creationId xmlns:a16="http://schemas.microsoft.com/office/drawing/2014/main" id="{955549D7-1226-4FBF-768C-170416B19E87}"/>
              </a:ext>
            </a:extLst>
          </p:cNvPr>
          <p:cNvGrpSpPr/>
          <p:nvPr/>
        </p:nvGrpSpPr>
        <p:grpSpPr>
          <a:xfrm>
            <a:off x="4311670" y="5296610"/>
            <a:ext cx="1817737" cy="276999"/>
            <a:chOff x="862131" y="5020619"/>
            <a:chExt cx="1817737" cy="276999"/>
          </a:xfrm>
        </p:grpSpPr>
        <p:sp>
          <p:nvSpPr>
            <p:cNvPr id="1049" name="직사각형 1048">
              <a:extLst>
                <a:ext uri="{FF2B5EF4-FFF2-40B4-BE49-F238E27FC236}">
                  <a16:creationId xmlns:a16="http://schemas.microsoft.com/office/drawing/2014/main" id="{D8B158C0-7600-D86C-296C-C48B5295CB98}"/>
                </a:ext>
              </a:extLst>
            </p:cNvPr>
            <p:cNvSpPr/>
            <p:nvPr/>
          </p:nvSpPr>
          <p:spPr>
            <a:xfrm>
              <a:off x="862131" y="5077968"/>
              <a:ext cx="216861" cy="182661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50" name="TextBox 1049">
              <a:extLst>
                <a:ext uri="{FF2B5EF4-FFF2-40B4-BE49-F238E27FC236}">
                  <a16:creationId xmlns:a16="http://schemas.microsoft.com/office/drawing/2014/main" id="{14E4CA80-287D-87D9-54D8-8BA4E722FBFE}"/>
                </a:ext>
              </a:extLst>
            </p:cNvPr>
            <p:cNvSpPr txBox="1"/>
            <p:nvPr/>
          </p:nvSpPr>
          <p:spPr>
            <a:xfrm>
              <a:off x="1078991" y="5020619"/>
              <a:ext cx="160087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: Vehicle Dynamics</a:t>
              </a:r>
              <a:endParaRPr lang="ko-KR" alt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1644240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71217-DCA3-EA7F-215F-0EE413668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D7EAFD-DF00-0362-D467-D9AB8AE76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/>
              <a:t>2. Environment </a:t>
            </a:r>
            <a:r>
              <a:rPr lang="ko-KR" altLang="en-US" dirty="0"/>
              <a:t>소개 </a:t>
            </a:r>
            <a:r>
              <a:rPr lang="en-US" altLang="ko-KR" kern="1200" baseline="0" dirty="0">
                <a:latin typeface="+mn-lt"/>
                <a:ea typeface="+mn-ea"/>
                <a:cs typeface="+mn-cs"/>
              </a:rPr>
              <a:t>– </a:t>
            </a:r>
            <a:r>
              <a:rPr lang="ko-KR" altLang="en-US" kern="1200" baseline="0" dirty="0">
                <a:latin typeface="+mn-lt"/>
                <a:ea typeface="+mn-ea"/>
                <a:cs typeface="+mn-cs"/>
              </a:rPr>
              <a:t>참고 차량 및 주요 제원</a:t>
            </a:r>
            <a:endParaRPr lang="ko-KR" altLang="en-US" dirty="0">
              <a:latin typeface="+mn-lt"/>
              <a:ea typeface="+mn-ea"/>
              <a:cs typeface="+mn-cs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7F8FCE9-BA13-9185-11B9-35C4003FF788}"/>
              </a:ext>
            </a:extLst>
          </p:cNvPr>
          <p:cNvSpPr/>
          <p:nvPr/>
        </p:nvSpPr>
        <p:spPr>
          <a:xfrm>
            <a:off x="501533" y="1143345"/>
            <a:ext cx="11130906" cy="545957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BFCF45E-6767-D7AF-BD17-1EE36C8492CC}"/>
              </a:ext>
            </a:extLst>
          </p:cNvPr>
          <p:cNvSpPr/>
          <p:nvPr/>
        </p:nvSpPr>
        <p:spPr>
          <a:xfrm>
            <a:off x="4927207" y="922276"/>
            <a:ext cx="2121449" cy="454026"/>
          </a:xfrm>
          <a:prstGeom prst="rect">
            <a:avLst/>
          </a:prstGeom>
          <a:solidFill>
            <a:srgbClr val="E6E7E8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차량 주요 제원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183D9B-70D2-9754-C463-56A68BA6D7DF}"/>
              </a:ext>
            </a:extLst>
          </p:cNvPr>
          <p:cNvSpPr txBox="1"/>
          <p:nvPr/>
        </p:nvSpPr>
        <p:spPr>
          <a:xfrm>
            <a:off x="7396105" y="1830274"/>
            <a:ext cx="3309996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+mn-ea"/>
              </a:rPr>
              <a:t>Vehicle Specification</a:t>
            </a:r>
            <a:br>
              <a:rPr lang="en-US" altLang="ko-KR" sz="1500" b="1" dirty="0">
                <a:latin typeface="+mn-ea"/>
              </a:rPr>
            </a:br>
            <a:endParaRPr lang="en-US" altLang="ko-KR" sz="1500" b="1" dirty="0">
              <a:latin typeface="+mn-ea"/>
            </a:endParaRPr>
          </a:p>
          <a:p>
            <a:r>
              <a:rPr lang="en-US" altLang="ko-KR" sz="1500" b="1" dirty="0">
                <a:latin typeface="+mn-ea"/>
              </a:rPr>
              <a:t> - </a:t>
            </a:r>
            <a:r>
              <a:rPr lang="ko-KR" altLang="en-US" sz="1500" b="1" dirty="0">
                <a:latin typeface="+mn-ea"/>
              </a:rPr>
              <a:t>차량 중량 </a:t>
            </a:r>
            <a:r>
              <a:rPr lang="en-US" altLang="ko-KR" sz="1500" b="1" dirty="0">
                <a:latin typeface="+mn-ea"/>
              </a:rPr>
              <a:t>: 2,165kg</a:t>
            </a:r>
          </a:p>
          <a:p>
            <a:endParaRPr lang="en-US" altLang="ko-KR" sz="1500" b="1" dirty="0">
              <a:latin typeface="+mn-ea"/>
            </a:endParaRPr>
          </a:p>
          <a:p>
            <a:r>
              <a:rPr lang="en-US" altLang="ko-KR" sz="1500" b="1" dirty="0">
                <a:latin typeface="+mn-ea"/>
              </a:rPr>
              <a:t> - </a:t>
            </a:r>
            <a:r>
              <a:rPr lang="ko-KR" altLang="en-US" sz="1500" b="1" dirty="0" err="1">
                <a:latin typeface="+mn-ea"/>
              </a:rPr>
              <a:t>휠베이스</a:t>
            </a:r>
            <a:r>
              <a:rPr lang="ko-KR" altLang="en-US" sz="1500" b="1" dirty="0">
                <a:latin typeface="+mn-ea"/>
              </a:rPr>
              <a:t> </a:t>
            </a:r>
            <a:r>
              <a:rPr lang="en-US" altLang="ko-KR" sz="1500" b="1" dirty="0">
                <a:latin typeface="+mn-ea"/>
              </a:rPr>
              <a:t>: 2.765m</a:t>
            </a:r>
          </a:p>
          <a:p>
            <a:endParaRPr lang="en-US" altLang="ko-KR" sz="1500" b="1" dirty="0">
              <a:latin typeface="+mn-ea"/>
            </a:endParaRPr>
          </a:p>
          <a:p>
            <a:r>
              <a:rPr lang="en-US" altLang="ko-KR" sz="1500" b="1" dirty="0">
                <a:latin typeface="+mn-ea"/>
              </a:rPr>
              <a:t> - </a:t>
            </a:r>
            <a:r>
              <a:rPr lang="ko-KR" altLang="en-US" sz="1500" b="1" dirty="0">
                <a:latin typeface="+mn-ea"/>
              </a:rPr>
              <a:t>타이어 </a:t>
            </a:r>
            <a:r>
              <a:rPr lang="en-US" altLang="ko-KR" sz="1500" b="1" dirty="0">
                <a:latin typeface="+mn-ea"/>
              </a:rPr>
              <a:t>: 235/55R20</a:t>
            </a:r>
          </a:p>
          <a:p>
            <a:endParaRPr lang="en-US" altLang="ko-KR" sz="1500" b="1" dirty="0">
              <a:latin typeface="+mn-ea"/>
            </a:endParaRPr>
          </a:p>
          <a:p>
            <a:endParaRPr lang="en-US" altLang="ko-KR" sz="1500" b="1" dirty="0">
              <a:latin typeface="+mn-ea"/>
            </a:endParaRPr>
          </a:p>
          <a:p>
            <a:r>
              <a:rPr lang="en-US" altLang="ko-KR" b="1" dirty="0">
                <a:latin typeface="+mn-ea"/>
              </a:rPr>
              <a:t>Powertrain</a:t>
            </a:r>
          </a:p>
          <a:p>
            <a:endParaRPr lang="en-US" altLang="ko-KR" sz="1500" b="1" dirty="0">
              <a:latin typeface="+mn-ea"/>
            </a:endParaRPr>
          </a:p>
          <a:p>
            <a:r>
              <a:rPr lang="en-US" altLang="ko-KR" sz="1500" b="1" dirty="0">
                <a:latin typeface="+mn-ea"/>
              </a:rPr>
              <a:t> - </a:t>
            </a:r>
            <a:r>
              <a:rPr lang="ko-KR" altLang="en-US" sz="1500" b="1" dirty="0">
                <a:latin typeface="+mn-ea"/>
              </a:rPr>
              <a:t>배터리 </a:t>
            </a:r>
            <a:r>
              <a:rPr lang="en-US" altLang="ko-KR" sz="1500" b="1" dirty="0">
                <a:latin typeface="+mn-ea"/>
              </a:rPr>
              <a:t>: 13.8 kWh (NCM622)</a:t>
            </a:r>
          </a:p>
          <a:p>
            <a:endParaRPr lang="en-US" altLang="ko-KR" sz="1500" b="1" dirty="0">
              <a:latin typeface="+mn-ea"/>
            </a:endParaRPr>
          </a:p>
          <a:p>
            <a:r>
              <a:rPr lang="en-US" altLang="ko-KR" sz="1500" b="1" dirty="0">
                <a:latin typeface="+mn-ea"/>
              </a:rPr>
              <a:t> - </a:t>
            </a:r>
            <a:r>
              <a:rPr lang="ko-KR" altLang="en-US" sz="1500" b="1" dirty="0">
                <a:latin typeface="+mn-ea"/>
              </a:rPr>
              <a:t>전륜 모터 </a:t>
            </a:r>
            <a:r>
              <a:rPr lang="en-US" altLang="ko-KR" sz="1500" b="1" dirty="0">
                <a:latin typeface="+mn-ea"/>
              </a:rPr>
              <a:t>: 66.9 kW (264Nm)</a:t>
            </a:r>
          </a:p>
          <a:p>
            <a:endParaRPr lang="en-US" altLang="ko-KR" sz="1500" b="1" dirty="0">
              <a:latin typeface="+mn-ea"/>
            </a:endParaRPr>
          </a:p>
          <a:p>
            <a:r>
              <a:rPr lang="en-US" altLang="ko-KR" sz="1500" b="1" dirty="0">
                <a:latin typeface="+mn-ea"/>
              </a:rPr>
              <a:t> - </a:t>
            </a:r>
            <a:r>
              <a:rPr lang="ko-KR" altLang="en-US" sz="1500" b="1" dirty="0">
                <a:latin typeface="+mn-ea"/>
              </a:rPr>
              <a:t>후륜 모터 </a:t>
            </a:r>
            <a:r>
              <a:rPr lang="en-US" altLang="ko-KR" sz="1500" b="1" dirty="0">
                <a:latin typeface="+mn-ea"/>
              </a:rPr>
              <a:t>: 91 kW (304Nm)</a:t>
            </a:r>
          </a:p>
          <a:p>
            <a:endParaRPr lang="en-US" altLang="ko-KR" sz="1500" b="1" dirty="0">
              <a:latin typeface="+mn-ea"/>
            </a:endParaRPr>
          </a:p>
          <a:p>
            <a:r>
              <a:rPr lang="en-US" altLang="ko-KR" sz="1500" b="1" dirty="0">
                <a:latin typeface="+mn-ea"/>
              </a:rPr>
              <a:t> - </a:t>
            </a:r>
            <a:r>
              <a:rPr lang="ko-KR" altLang="en-US" sz="1500" b="1" dirty="0">
                <a:latin typeface="+mn-ea"/>
              </a:rPr>
              <a:t>엔진 </a:t>
            </a:r>
            <a:r>
              <a:rPr lang="en-US" altLang="ko-KR" sz="1500" b="1" dirty="0">
                <a:latin typeface="+mn-ea"/>
              </a:rPr>
              <a:t>: 1.6L Turbo-GDI (132kW)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FE96C7B-E756-3923-C5FB-F0ABB35391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73" r="20520"/>
          <a:stretch>
            <a:fillRect/>
          </a:stretch>
        </p:blipFill>
        <p:spPr>
          <a:xfrm>
            <a:off x="1026160" y="1597371"/>
            <a:ext cx="5069840" cy="44560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24326C2-6744-410E-EBA6-367F1F3C0BA0}"/>
              </a:ext>
            </a:extLst>
          </p:cNvPr>
          <p:cNvSpPr txBox="1"/>
          <p:nvPr/>
        </p:nvSpPr>
        <p:spPr>
          <a:xfrm>
            <a:off x="1341121" y="5659437"/>
            <a:ext cx="4236335" cy="393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500" b="1" dirty="0">
                <a:latin typeface="+mn-ea"/>
              </a:rPr>
              <a:t>참고 차량 </a:t>
            </a:r>
            <a:r>
              <a:rPr lang="en-US" altLang="ko-KR" sz="1500" b="1" dirty="0">
                <a:latin typeface="+mn-ea"/>
              </a:rPr>
              <a:t>: Hyundai Santa Fe PHEV (2024)</a:t>
            </a:r>
          </a:p>
        </p:txBody>
      </p:sp>
    </p:spTree>
    <p:extLst>
      <p:ext uri="{BB962C8B-B14F-4D97-AF65-F5344CB8AC3E}">
        <p14:creationId xmlns:p14="http://schemas.microsoft.com/office/powerpoint/2010/main" val="17384837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E0BB4-3EA8-7DB7-50A7-B9ED62B0F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698BBB-5681-8B83-3D33-5938248B3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/>
              <a:t>3. </a:t>
            </a:r>
            <a:r>
              <a:rPr lang="ko-KR" altLang="en-US" dirty="0"/>
              <a:t>강화학습 설계</a:t>
            </a:r>
            <a:r>
              <a:rPr lang="en-US" altLang="ko-KR" dirty="0"/>
              <a:t> - State &amp; Action</a:t>
            </a:r>
            <a:endParaRPr lang="ko-KR" altLang="en-US" dirty="0">
              <a:latin typeface="+mn-lt"/>
              <a:ea typeface="+mn-ea"/>
              <a:cs typeface="+mn-cs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F5AD38B-D25D-9B96-2E82-8F393DF7CD4C}"/>
              </a:ext>
            </a:extLst>
          </p:cNvPr>
          <p:cNvSpPr/>
          <p:nvPr/>
        </p:nvSpPr>
        <p:spPr>
          <a:xfrm>
            <a:off x="501534" y="1143345"/>
            <a:ext cx="5594466" cy="550815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3B416CE-9B79-D2F3-53FA-B2921D0D6B23}"/>
              </a:ext>
            </a:extLst>
          </p:cNvPr>
          <p:cNvSpPr/>
          <p:nvPr/>
        </p:nvSpPr>
        <p:spPr>
          <a:xfrm>
            <a:off x="2190221" y="913860"/>
            <a:ext cx="2121449" cy="454026"/>
          </a:xfrm>
          <a:prstGeom prst="rect">
            <a:avLst/>
          </a:prstGeom>
          <a:solidFill>
            <a:srgbClr val="E6E7E8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State Space</a:t>
            </a:r>
            <a:endParaRPr lang="ko-KR" altLang="en-US" b="1" dirty="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4A7C1CFA-FDDF-3533-6B7C-178FAB0935D4}"/>
              </a:ext>
            </a:extLst>
          </p:cNvPr>
          <p:cNvSpPr/>
          <p:nvPr/>
        </p:nvSpPr>
        <p:spPr>
          <a:xfrm>
            <a:off x="6321788" y="1143345"/>
            <a:ext cx="5437595" cy="294097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B10B8B3-AFCA-28EA-4CBD-B64458590CB1}"/>
              </a:ext>
            </a:extLst>
          </p:cNvPr>
          <p:cNvSpPr/>
          <p:nvPr/>
        </p:nvSpPr>
        <p:spPr>
          <a:xfrm>
            <a:off x="7831855" y="915508"/>
            <a:ext cx="2417460" cy="454026"/>
          </a:xfrm>
          <a:prstGeom prst="rect">
            <a:avLst/>
          </a:prstGeom>
          <a:solidFill>
            <a:srgbClr val="E6E7E8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Action Space</a:t>
            </a:r>
            <a:endParaRPr lang="ko-KR" altLang="en-US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1DF1B1EF-67AD-336D-7F95-368C85B38FE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83228890"/>
                  </p:ext>
                </p:extLst>
              </p:nvPr>
            </p:nvGraphicFramePr>
            <p:xfrm>
              <a:off x="660144" y="1646972"/>
              <a:ext cx="5181601" cy="4725441"/>
            </p:xfrm>
            <a:graphic>
              <a:graphicData uri="http://schemas.openxmlformats.org/drawingml/2006/table">
                <a:tbl>
                  <a:tblPr firstRow="1" bandRow="1">
                    <a:tableStyleId>{9D7B26C5-4107-4FEC-AEDC-1716B250A1EF}</a:tableStyleId>
                  </a:tblPr>
                  <a:tblGrid>
                    <a:gridCol w="576921">
                      <a:extLst>
                        <a:ext uri="{9D8B030D-6E8A-4147-A177-3AD203B41FA5}">
                          <a16:colId xmlns:a16="http://schemas.microsoft.com/office/drawing/2014/main" val="1602604902"/>
                        </a:ext>
                      </a:extLst>
                    </a:gridCol>
                    <a:gridCol w="1720078">
                      <a:extLst>
                        <a:ext uri="{9D8B030D-6E8A-4147-A177-3AD203B41FA5}">
                          <a16:colId xmlns:a16="http://schemas.microsoft.com/office/drawing/2014/main" val="1140545805"/>
                        </a:ext>
                      </a:extLst>
                    </a:gridCol>
                    <a:gridCol w="2884602">
                      <a:extLst>
                        <a:ext uri="{9D8B030D-6E8A-4147-A177-3AD203B41FA5}">
                          <a16:colId xmlns:a16="http://schemas.microsoft.com/office/drawing/2014/main" val="2522391548"/>
                        </a:ext>
                      </a:extLst>
                    </a:gridCol>
                  </a:tblGrid>
                  <a:tr h="525049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No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dirty="0"/>
                            <a:t>변수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dirty="0"/>
                            <a:t>의미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80546014"/>
                      </a:ext>
                    </a:extLst>
                  </a:tr>
                  <a:tr h="525049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b="0" smtClean="0"/>
                                  <m:t>𝑣</m:t>
                                </m:r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dirty="0"/>
                            <a:t>현재 속도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b="0" smtClean="0"/>
                                <m:t>[</m:t>
                              </m:r>
                              <m:r>
                                <a:rPr lang="en-US" altLang="ko-KR" b="0" smtClean="0"/>
                                <m:t>𝑘𝑚</m:t>
                              </m:r>
                              <m:r>
                                <a:rPr lang="en-US" altLang="ko-KR" b="0" smtClean="0"/>
                                <m:t>/</m:t>
                              </m:r>
                              <m:r>
                                <a:rPr lang="en-US" altLang="ko-KR" b="0" smtClean="0"/>
                                <m:t>h</m:t>
                              </m:r>
                              <m:r>
                                <a:rPr lang="en-US" altLang="ko-KR" b="0" smtClean="0"/>
                                <m:t>]</m:t>
                              </m:r>
                            </m:oMath>
                          </a14:m>
                          <a:endParaRPr lang="ko-KR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24530630"/>
                      </a:ext>
                    </a:extLst>
                  </a:tr>
                  <a:tr h="525049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2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b="0" smtClean="0"/>
                                  <m:t>𝑎</m:t>
                                </m:r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dirty="0"/>
                            <a:t>가속도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b="0" smtClean="0"/>
                                <m:t>[</m:t>
                              </m:r>
                              <m:r>
                                <a:rPr lang="en-US" altLang="ko-KR" b="0" smtClean="0"/>
                                <m:t>𝑘𝑚</m:t>
                              </m:r>
                              <m:r>
                                <a:rPr lang="en-US" altLang="ko-KR" b="0" smtClean="0"/>
                                <m:t>/</m:t>
                              </m:r>
                              <m:r>
                                <a:rPr lang="en-US" altLang="ko-KR" b="0" smtClean="0"/>
                                <m:t>h</m:t>
                              </m:r>
                              <m:r>
                                <a:rPr lang="en-US" altLang="ko-KR" b="0" smtClean="0"/>
                                <m:t>]</m:t>
                              </m:r>
                            </m:oMath>
                          </a14:m>
                          <a:endParaRPr lang="ko-KR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48554441"/>
                      </a:ext>
                    </a:extLst>
                  </a:tr>
                  <a:tr h="525049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3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b="0" smtClean="0"/>
                                  <m:t>𝑝𝑒𝑑𝑎𝑙</m:t>
                                </m:r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dirty="0"/>
                            <a:t>페달 입력 </a:t>
                          </a:r>
                          <a:r>
                            <a:rPr lang="en-US" altLang="ko-KR" dirty="0"/>
                            <a:t>(-1~1)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77011185"/>
                      </a:ext>
                    </a:extLst>
                  </a:tr>
                  <a:tr h="525049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4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b="0" smtClean="0"/>
                                  <m:t>𝑆𝑂𝐶</m:t>
                                </m:r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dirty="0"/>
                            <a:t>배터리 충전 상태 </a:t>
                          </a:r>
                          <a:r>
                            <a:rPr lang="en-US" altLang="ko-KR" dirty="0"/>
                            <a:t>(0~1)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47813086"/>
                      </a:ext>
                    </a:extLst>
                  </a:tr>
                  <a:tr h="525049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5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b="0" smtClean="0"/>
                                  <m:t>𝐺𝑒𝑎𝑟</m:t>
                                </m:r>
                                <m:r>
                                  <a:rPr lang="en-US" altLang="ko-KR" b="0" smtClean="0"/>
                                  <m:t>_</m:t>
                                </m:r>
                                <m:r>
                                  <a:rPr lang="en-US" altLang="ko-KR" b="0" smtClean="0"/>
                                  <m:t>𝑅</m:t>
                                </m:r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dirty="0"/>
                            <a:t>현재 후륜 기어 </a:t>
                          </a:r>
                          <a:r>
                            <a:rPr lang="en-US" altLang="ko-KR" dirty="0"/>
                            <a:t>(1 or 2)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588775"/>
                      </a:ext>
                    </a:extLst>
                  </a:tr>
                  <a:tr h="525049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6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b="0" smtClean="0"/>
                                  <m:t>𝑒𝑓𝑓</m:t>
                                </m:r>
                                <m:r>
                                  <a:rPr lang="en-US" altLang="ko-KR" b="0" smtClean="0"/>
                                  <m:t>_</m:t>
                                </m:r>
                                <m:r>
                                  <a:rPr lang="en-US" altLang="ko-KR" b="0" smtClean="0"/>
                                  <m:t>𝑚𝑜𝑡𝑜𝑟</m:t>
                                </m:r>
                                <m:r>
                                  <a:rPr lang="en-US" altLang="ko-KR" b="0" smtClean="0"/>
                                  <m:t>_</m:t>
                                </m:r>
                                <m:r>
                                  <a:rPr lang="en-US" altLang="ko-KR" b="0" smtClean="0"/>
                                  <m:t>𝑅</m:t>
                                </m:r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dirty="0"/>
                            <a:t>후륜 모터 효율 </a:t>
                          </a:r>
                          <a:r>
                            <a:rPr lang="en-US" altLang="ko-KR" dirty="0"/>
                            <a:t>(0~1)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5846790"/>
                      </a:ext>
                    </a:extLst>
                  </a:tr>
                  <a:tr h="525049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7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b="0" smtClean="0"/>
                                  <m:t>𝑃𝑜𝑤𝑒𝑟</m:t>
                                </m:r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dirty="0"/>
                            <a:t>모터 출력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b="0" smtClean="0"/>
                                <m:t>[</m:t>
                              </m:r>
                              <m:r>
                                <a:rPr lang="en-US" altLang="ko-KR" b="0" smtClean="0"/>
                                <m:t>𝑘</m:t>
                              </m:r>
                              <m:r>
                                <a:rPr lang="en-US" altLang="ko-KR" b="0" smtClean="0"/>
                                <m:t>𝑊</m:t>
                              </m:r>
                              <m:r>
                                <a:rPr lang="en-US" altLang="ko-KR" b="0" smtClean="0"/>
                                <m:t>]</m:t>
                              </m:r>
                            </m:oMath>
                          </a14:m>
                          <a:endParaRPr lang="ko-KR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64896112"/>
                      </a:ext>
                    </a:extLst>
                  </a:tr>
                  <a:tr h="525049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8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b="0" smtClean="0"/>
                                  <m:t>𝑣</m:t>
                                </m:r>
                                <m:r>
                                  <a:rPr lang="en-US" altLang="ko-KR" b="0" smtClean="0"/>
                                  <m:t>_</m:t>
                                </m:r>
                                <m:r>
                                  <a:rPr lang="en-US" altLang="ko-KR" b="0" smtClean="0"/>
                                  <m:t>𝑡𝑎𝑟𝑔𝑒𝑡</m:t>
                                </m:r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dirty="0"/>
                            <a:t>목표 속도</a:t>
                          </a:r>
                          <a:r>
                            <a:rPr lang="en-US" altLang="ko-KR" dirty="0"/>
                            <a:t>(UDDS)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b="0" smtClean="0"/>
                                <m:t>[</m:t>
                              </m:r>
                              <m:r>
                                <a:rPr lang="en-US" altLang="ko-KR" b="0" smtClean="0"/>
                                <m:t>𝑘𝑚</m:t>
                              </m:r>
                              <m:r>
                                <a:rPr lang="en-US" altLang="ko-KR" b="0" smtClean="0"/>
                                <m:t>/</m:t>
                              </m:r>
                              <m:r>
                                <a:rPr lang="en-US" altLang="ko-KR" b="0" smtClean="0"/>
                                <m:t>h</m:t>
                              </m:r>
                              <m:r>
                                <a:rPr lang="en-US" altLang="ko-KR" b="0" smtClean="0"/>
                                <m:t>]</m:t>
                              </m:r>
                            </m:oMath>
                          </a14:m>
                          <a:endParaRPr lang="ko-KR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1329921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1DF1B1EF-67AD-336D-7F95-368C85B38FE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83228890"/>
                  </p:ext>
                </p:extLst>
              </p:nvPr>
            </p:nvGraphicFramePr>
            <p:xfrm>
              <a:off x="660144" y="1646972"/>
              <a:ext cx="5181601" cy="4725441"/>
            </p:xfrm>
            <a:graphic>
              <a:graphicData uri="http://schemas.openxmlformats.org/drawingml/2006/table">
                <a:tbl>
                  <a:tblPr firstRow="1" bandRow="1">
                    <a:tableStyleId>{9D7B26C5-4107-4FEC-AEDC-1716B250A1EF}</a:tableStyleId>
                  </a:tblPr>
                  <a:tblGrid>
                    <a:gridCol w="576921">
                      <a:extLst>
                        <a:ext uri="{9D8B030D-6E8A-4147-A177-3AD203B41FA5}">
                          <a16:colId xmlns:a16="http://schemas.microsoft.com/office/drawing/2014/main" val="1602604902"/>
                        </a:ext>
                      </a:extLst>
                    </a:gridCol>
                    <a:gridCol w="1720078">
                      <a:extLst>
                        <a:ext uri="{9D8B030D-6E8A-4147-A177-3AD203B41FA5}">
                          <a16:colId xmlns:a16="http://schemas.microsoft.com/office/drawing/2014/main" val="1140545805"/>
                        </a:ext>
                      </a:extLst>
                    </a:gridCol>
                    <a:gridCol w="2884602">
                      <a:extLst>
                        <a:ext uri="{9D8B030D-6E8A-4147-A177-3AD203B41FA5}">
                          <a16:colId xmlns:a16="http://schemas.microsoft.com/office/drawing/2014/main" val="2522391548"/>
                        </a:ext>
                      </a:extLst>
                    </a:gridCol>
                  </a:tblGrid>
                  <a:tr h="525049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No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dirty="0"/>
                            <a:t>변수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dirty="0"/>
                            <a:t>의미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80546014"/>
                      </a:ext>
                    </a:extLst>
                  </a:tr>
                  <a:tr h="525049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3688" t="-101163" r="-168440" b="-7046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9536" t="-101163" r="-211" b="-7046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24530630"/>
                      </a:ext>
                    </a:extLst>
                  </a:tr>
                  <a:tr h="525049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2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3688" t="-198851" r="-168440" b="-5965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9536" t="-198851" r="-211" b="-5965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48554441"/>
                      </a:ext>
                    </a:extLst>
                  </a:tr>
                  <a:tr h="525049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3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3688" t="-302326" r="-168440" b="-5034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dirty="0"/>
                            <a:t>페달 입력 </a:t>
                          </a:r>
                          <a:r>
                            <a:rPr lang="en-US" altLang="ko-KR" dirty="0"/>
                            <a:t>(-1~1)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77011185"/>
                      </a:ext>
                    </a:extLst>
                  </a:tr>
                  <a:tr h="525049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4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3688" t="-402326" r="-168440" b="-4034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dirty="0"/>
                            <a:t>배터리 충전 상태 </a:t>
                          </a:r>
                          <a:r>
                            <a:rPr lang="en-US" altLang="ko-KR" dirty="0"/>
                            <a:t>(0~1)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47813086"/>
                      </a:ext>
                    </a:extLst>
                  </a:tr>
                  <a:tr h="525049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5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3688" t="-502326" r="-168440" b="-3034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dirty="0"/>
                            <a:t>현재 후륜 기어 </a:t>
                          </a:r>
                          <a:r>
                            <a:rPr lang="en-US" altLang="ko-KR" dirty="0"/>
                            <a:t>(1 or 2)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588775"/>
                      </a:ext>
                    </a:extLst>
                  </a:tr>
                  <a:tr h="525049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6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3688" t="-595402" r="-16844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dirty="0"/>
                            <a:t>후륜 모터 효율 </a:t>
                          </a:r>
                          <a:r>
                            <a:rPr lang="en-US" altLang="ko-KR" dirty="0"/>
                            <a:t>(0~1)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5846790"/>
                      </a:ext>
                    </a:extLst>
                  </a:tr>
                  <a:tr h="525049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7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3688" t="-703488" r="-168440" b="-1023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9536" t="-703488" r="-211" b="-1023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64896112"/>
                      </a:ext>
                    </a:extLst>
                  </a:tr>
                  <a:tr h="525049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8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3688" t="-803488" r="-168440" b="-23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9536" t="-803488" r="-211" b="-23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1329921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70B5E528-121F-D39F-B65C-B3ACDFAFC3E4}"/>
              </a:ext>
            </a:extLst>
          </p:cNvPr>
          <p:cNvSpPr txBox="1"/>
          <p:nvPr/>
        </p:nvSpPr>
        <p:spPr>
          <a:xfrm>
            <a:off x="6785065" y="1597371"/>
            <a:ext cx="4003040" cy="2220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altLang="ko-KR" dirty="0"/>
              <a:t>Action 1 : 1</a:t>
            </a:r>
            <a:r>
              <a:rPr lang="ko-KR" altLang="en-US" dirty="0"/>
              <a:t>단 유지</a:t>
            </a:r>
            <a:endParaRPr lang="en-US" altLang="ko-KR" dirty="0"/>
          </a:p>
          <a:p>
            <a:pPr>
              <a:lnSpc>
                <a:spcPct val="200000"/>
              </a:lnSpc>
            </a:pPr>
            <a:r>
              <a:rPr lang="en-US" altLang="ko-KR" dirty="0"/>
              <a:t> -&gt; </a:t>
            </a:r>
            <a:r>
              <a:rPr lang="ko-KR" altLang="en-US" dirty="0"/>
              <a:t>저속 구간에서 높은 토크</a:t>
            </a:r>
            <a:endParaRPr lang="en-US" altLang="ko-KR" dirty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altLang="ko-KR" dirty="0"/>
              <a:t>Action 2 : 2</a:t>
            </a:r>
            <a:r>
              <a:rPr lang="ko-KR" altLang="en-US" dirty="0"/>
              <a:t>단 유지</a:t>
            </a:r>
            <a:endParaRPr lang="en-US" altLang="ko-KR" dirty="0"/>
          </a:p>
          <a:p>
            <a:pPr>
              <a:lnSpc>
                <a:spcPct val="200000"/>
              </a:lnSpc>
            </a:pPr>
            <a:r>
              <a:rPr lang="en-US" altLang="ko-KR" dirty="0"/>
              <a:t> -&gt; </a:t>
            </a:r>
            <a:r>
              <a:rPr lang="ko-KR" altLang="en-US" dirty="0"/>
              <a:t>고속 구간에서 높은 모터 효율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7" name="화살표: 아래쪽 6">
            <a:extLst>
              <a:ext uri="{FF2B5EF4-FFF2-40B4-BE49-F238E27FC236}">
                <a16:creationId xmlns:a16="http://schemas.microsoft.com/office/drawing/2014/main" id="{9E0F3158-4401-09C8-C241-76E55DCF0486}"/>
              </a:ext>
            </a:extLst>
          </p:cNvPr>
          <p:cNvSpPr/>
          <p:nvPr/>
        </p:nvSpPr>
        <p:spPr>
          <a:xfrm>
            <a:off x="8686545" y="4374603"/>
            <a:ext cx="640080" cy="406400"/>
          </a:xfrm>
          <a:prstGeom prst="down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B7DA2FD8-351A-7E6D-2937-EFFBEEEEF86A}"/>
              </a:ext>
            </a:extLst>
          </p:cNvPr>
          <p:cNvSpPr/>
          <p:nvPr/>
        </p:nvSpPr>
        <p:spPr>
          <a:xfrm>
            <a:off x="6485650" y="5240327"/>
            <a:ext cx="492967" cy="675025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6C3BDF-4007-344F-9158-7EBF104F96B4}"/>
              </a:ext>
            </a:extLst>
          </p:cNvPr>
          <p:cNvSpPr txBox="1"/>
          <p:nvPr/>
        </p:nvSpPr>
        <p:spPr>
          <a:xfrm>
            <a:off x="7001832" y="5116175"/>
            <a:ext cx="40095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주행 중 </a:t>
            </a:r>
            <a:r>
              <a:rPr lang="en-US" altLang="ko-KR" dirty="0"/>
              <a:t>8</a:t>
            </a:r>
            <a:r>
              <a:rPr lang="ko-KR" altLang="en-US" dirty="0"/>
              <a:t>가지 </a:t>
            </a:r>
            <a:r>
              <a:rPr lang="en-US" altLang="ko-KR" dirty="0"/>
              <a:t>State</a:t>
            </a:r>
            <a:r>
              <a:rPr lang="ko-KR" altLang="en-US" dirty="0"/>
              <a:t>를 통해 </a:t>
            </a:r>
            <a:endParaRPr lang="en-US" altLang="ko-KR" dirty="0"/>
          </a:p>
          <a:p>
            <a:pPr algn="ctr"/>
            <a:r>
              <a:rPr lang="ko-KR" altLang="en-US" dirty="0"/>
              <a:t>강화학습을 진행하여</a:t>
            </a:r>
            <a:endParaRPr lang="en-US" altLang="ko-KR" dirty="0"/>
          </a:p>
          <a:p>
            <a:pPr algn="ctr"/>
            <a:r>
              <a:rPr lang="ko-KR" altLang="en-US" dirty="0"/>
              <a:t>최적 변속 명령</a:t>
            </a:r>
            <a:r>
              <a:rPr lang="en-US" altLang="ko-KR" dirty="0"/>
              <a:t>(Action) </a:t>
            </a:r>
            <a:r>
              <a:rPr lang="ko-KR" altLang="en-US" dirty="0"/>
              <a:t>도출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60CB4BA-BCEA-9595-13B3-6498885EECD6}"/>
              </a:ext>
            </a:extLst>
          </p:cNvPr>
          <p:cNvSpPr/>
          <p:nvPr/>
        </p:nvSpPr>
        <p:spPr>
          <a:xfrm>
            <a:off x="7368268" y="4971702"/>
            <a:ext cx="3423920" cy="11423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06490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71217-DCA3-EA7F-215F-0EE413668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D7EAFD-DF00-0362-D467-D9AB8AE76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/>
              <a:t>3. </a:t>
            </a:r>
            <a:r>
              <a:rPr lang="ko-KR" altLang="en-US" dirty="0"/>
              <a:t>강화학습 설계</a:t>
            </a:r>
            <a:r>
              <a:rPr lang="en-US" altLang="ko-KR" dirty="0"/>
              <a:t> – Reward Function</a:t>
            </a:r>
            <a:endParaRPr lang="ko-KR" altLang="en-US" dirty="0">
              <a:latin typeface="+mn-lt"/>
              <a:ea typeface="+mn-ea"/>
              <a:cs typeface="+mn-cs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7F8FCE9-BA13-9185-11B9-35C4003FF788}"/>
              </a:ext>
            </a:extLst>
          </p:cNvPr>
          <p:cNvSpPr/>
          <p:nvPr/>
        </p:nvSpPr>
        <p:spPr>
          <a:xfrm>
            <a:off x="501533" y="1143345"/>
            <a:ext cx="11130906" cy="545957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BFCF45E-6767-D7AF-BD17-1EE36C8492CC}"/>
              </a:ext>
            </a:extLst>
          </p:cNvPr>
          <p:cNvSpPr/>
          <p:nvPr/>
        </p:nvSpPr>
        <p:spPr>
          <a:xfrm>
            <a:off x="4927207" y="922276"/>
            <a:ext cx="2121449" cy="454026"/>
          </a:xfrm>
          <a:prstGeom prst="rect">
            <a:avLst/>
          </a:prstGeom>
          <a:solidFill>
            <a:srgbClr val="E6E7E8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Reward Function</a:t>
            </a:r>
            <a:endParaRPr lang="ko-KR" altLang="en-US" b="1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5F609CBB-FAEF-F9E7-B03C-AC642484FDF5}"/>
              </a:ext>
            </a:extLst>
          </p:cNvPr>
          <p:cNvSpPr/>
          <p:nvPr/>
        </p:nvSpPr>
        <p:spPr>
          <a:xfrm>
            <a:off x="944880" y="1869552"/>
            <a:ext cx="10109200" cy="185448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803729E-110B-B233-8783-37D845D71715}"/>
                  </a:ext>
                </a:extLst>
              </p:cNvPr>
              <p:cNvSpPr txBox="1"/>
              <p:nvPr/>
            </p:nvSpPr>
            <p:spPr>
              <a:xfrm>
                <a:off x="1436566" y="2120428"/>
                <a:ext cx="9260840" cy="6136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5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altLang="ko-KR" sz="2500" b="0" i="1" smtClean="0">
                          <a:latin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en-US" altLang="ko-KR" sz="2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sz="25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500" b="0" i="0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v</m:t>
                              </m:r>
                              <m:r>
                                <a:rPr lang="en-US" altLang="ko-KR" sz="25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sz="25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5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ko-KR" sz="25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𝑡𝑎𝑟𝑔𝑒𝑡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ko-KR" sz="2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25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25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×0.02+</m:t>
                      </m:r>
                      <m:r>
                        <a:rPr lang="en-US" altLang="ko-KR" sz="25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𝑒𝑓</m:t>
                      </m:r>
                      <m:sSub>
                        <m:sSubPr>
                          <m:ctrlPr>
                            <a:rPr lang="en-US" altLang="ko-KR" sz="2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ko-KR" sz="2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𝑚𝑜𝑡𝑜</m:t>
                          </m:r>
                          <m:sSub>
                            <m:sSubPr>
                              <m:ctrlPr>
                                <a:rPr lang="en-US" altLang="ko-KR" sz="25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5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ko-KR" sz="25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</m:sub>
                      </m:sSub>
                      <m:r>
                        <a:rPr lang="en-US" altLang="ko-KR" sz="25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ko-KR" sz="25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𝑊</m:t>
                      </m:r>
                      <m:r>
                        <a:rPr lang="en-US" altLang="ko-KR" sz="25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ko-KR" sz="25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𝑠h𝑖𝑓𝑡</m:t>
                      </m:r>
                      <m:r>
                        <a:rPr lang="en-US" altLang="ko-KR" sz="25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×</m:t>
                      </m:r>
                      <m:sSub>
                        <m:sSubPr>
                          <m:ctrlPr>
                            <a:rPr lang="en-US" altLang="ko-KR" sz="25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5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sz="25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𝑠h𝑖𝑓𝑡</m:t>
                          </m:r>
                        </m:sub>
                      </m:sSub>
                    </m:oMath>
                  </m:oMathPara>
                </a14:m>
                <a:endParaRPr lang="en-US" altLang="ko-KR" sz="2500" b="0" dirty="0"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803729E-110B-B233-8783-37D845D717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6566" y="2120428"/>
                <a:ext cx="9260840" cy="61369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187C230-64E4-F99B-AEF0-969D318A763F}"/>
                  </a:ext>
                </a:extLst>
              </p:cNvPr>
              <p:cNvSpPr txBox="1"/>
              <p:nvPr/>
            </p:nvSpPr>
            <p:spPr>
              <a:xfrm>
                <a:off x="7141172" y="4318050"/>
                <a:ext cx="4333160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/>
                  <a:t>*</a:t>
                </a:r>
                <a:r>
                  <a:rPr lang="en-US" altLang="ko-KR" b="1" dirty="0" err="1"/>
                  <a:t>IsDone</a:t>
                </a:r>
                <a:r>
                  <a:rPr lang="en-US" altLang="ko-KR" b="1" dirty="0"/>
                  <a:t> Function (</a:t>
                </a:r>
                <a:r>
                  <a:rPr lang="ko-KR" altLang="en-US" b="1" dirty="0"/>
                  <a:t>에피소드 중도 종료</a:t>
                </a:r>
                <a:r>
                  <a:rPr lang="en-US" altLang="ko-KR" b="1" dirty="0"/>
                  <a:t>)</a:t>
                </a:r>
              </a:p>
              <a:p>
                <a:endParaRPr lang="en-US" altLang="ko-KR" b="1" dirty="0"/>
              </a:p>
              <a:p>
                <a:r>
                  <a:rPr lang="ko-KR" altLang="en-US" b="1" dirty="0"/>
                  <a:t> 속도 오차가 </a:t>
                </a:r>
                <a14:m>
                  <m:oMath xmlns:m="http://schemas.openxmlformats.org/officeDocument/2006/math">
                    <m:r>
                      <a:rPr lang="en-US" altLang="ko-KR" b="1" i="0" smtClean="0">
                        <a:latin typeface="Cambria Math" panose="02040503050406030204" pitchFamily="18" charset="0"/>
                      </a:rPr>
                      <m:t>𝟏𝟎</m:t>
                    </m:r>
                    <m:r>
                      <a:rPr lang="en-US" altLang="ko-KR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𝐤𝐦</m:t>
                    </m:r>
                    <m:r>
                      <a:rPr lang="en-US" altLang="ko-KR" b="1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𝐡</m:t>
                    </m:r>
                  </m:oMath>
                </a14:m>
                <a:r>
                  <a:rPr lang="ko-KR" altLang="en-US" b="1" dirty="0"/>
                  <a:t> 이상 </a:t>
                </a:r>
                <a:endParaRPr lang="en-US" altLang="ko-KR" b="1" dirty="0"/>
              </a:p>
              <a:p>
                <a:r>
                  <a:rPr lang="en-US" altLang="ko-KR" b="1" dirty="0"/>
                  <a:t> 5</a:t>
                </a:r>
                <a:r>
                  <a:rPr lang="ko-KR" altLang="en-US" b="1" dirty="0"/>
                  <a:t>초간 지속 시 에피소드 종료 후 </a:t>
                </a:r>
                <a:endParaRPr lang="en-US" altLang="ko-KR" b="1" dirty="0"/>
              </a:p>
              <a:p>
                <a:r>
                  <a:rPr lang="en-US" altLang="ko-KR" b="1" dirty="0"/>
                  <a:t> Reward</a:t>
                </a:r>
                <a:r>
                  <a:rPr lang="ko-KR" altLang="en-US" b="1" dirty="0"/>
                  <a:t>에 </a:t>
                </a:r>
                <a:r>
                  <a:rPr lang="en-US" altLang="ko-KR" b="1" dirty="0"/>
                  <a:t>-100 </a:t>
                </a:r>
                <a:r>
                  <a:rPr lang="ko-KR" altLang="en-US" b="1" dirty="0"/>
                  <a:t>부과 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187C230-64E4-F99B-AEF0-969D318A76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1172" y="4318050"/>
                <a:ext cx="4333160" cy="1477328"/>
              </a:xfrm>
              <a:prstGeom prst="rect">
                <a:avLst/>
              </a:prstGeom>
              <a:blipFill>
                <a:blip r:embed="rId4"/>
                <a:stretch>
                  <a:fillRect l="-1125" t="-2058" r="-703" b="-535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0183D9B-70D2-9754-C463-56A68BA6D7DF}"/>
                  </a:ext>
                </a:extLst>
              </p:cNvPr>
              <p:cNvSpPr txBox="1"/>
              <p:nvPr/>
            </p:nvSpPr>
            <p:spPr>
              <a:xfrm>
                <a:off x="1573619" y="2730336"/>
                <a:ext cx="7391098" cy="8157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1500" i="1">
                        <a:latin typeface="+mj-lt"/>
                        <a:ea typeface="Cambria Math" panose="02040503050406030204" pitchFamily="18" charset="0"/>
                      </a:rPr>
                      <m:t>𝑒𝑓</m:t>
                    </m:r>
                    <m:sSub>
                      <m:sSubPr>
                        <m:ctrlPr>
                          <a:rPr lang="en-US" altLang="ko-KR" sz="1500" i="1">
                            <a:latin typeface="+mj-lt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500" i="1">
                            <a:latin typeface="+mj-lt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ko-KR" sz="1500" i="1">
                            <a:latin typeface="+mj-lt"/>
                            <a:ea typeface="Cambria Math" panose="02040503050406030204" pitchFamily="18" charset="0"/>
                          </a:rPr>
                          <m:t>𝑚𝑜𝑡𝑜</m:t>
                        </m:r>
                        <m:sSub>
                          <m:sSubPr>
                            <m:ctrlPr>
                              <a:rPr lang="en-US" altLang="ko-KR" sz="1500" i="1">
                                <a:latin typeface="+mj-lt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500" i="1">
                                <a:latin typeface="+mj-lt"/>
                                <a:ea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500" i="1">
                                <a:latin typeface="+mj-lt"/>
                                <a:ea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ko-KR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ko-KR" altLang="en-US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후륜 모터 효율</a:t>
                </a:r>
                <a:r>
                  <a:rPr lang="en-US" altLang="ko-KR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ko-KR" sz="1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𝑠h𝑖𝑓𝑡</m:t>
                    </m:r>
                  </m:oMath>
                </a14:m>
                <a:r>
                  <a:rPr lang="en-US" altLang="ko-KR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ko-KR" altLang="en-US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변속 여부</a:t>
                </a:r>
                <a:endParaRPr lang="en-US" altLang="ko-KR" sz="1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1500" i="1">
                        <a:latin typeface="+mj-lt"/>
                        <a:ea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altLang="ko-KR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ko-KR" altLang="en-US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효율 가중치</a:t>
                </a:r>
                <a:r>
                  <a:rPr lang="en-US" altLang="ko-KR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500" i="1">
                            <a:latin typeface="+mj-lt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500" i="1">
                            <a:latin typeface="+mj-lt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500" i="1">
                            <a:latin typeface="+mj-lt"/>
                            <a:ea typeface="Cambria Math" panose="02040503050406030204" pitchFamily="18" charset="0"/>
                          </a:rPr>
                          <m:t>𝑠h𝑖𝑓𝑡</m:t>
                        </m:r>
                      </m:sub>
                    </m:sSub>
                  </m:oMath>
                </a14:m>
                <a:r>
                  <a:rPr lang="en-US" altLang="ko-KR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ko-KR" altLang="en-US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변속 </a:t>
                </a:r>
                <a:r>
                  <a:rPr lang="en-US" altLang="ko-KR" sz="15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Panelty</a:t>
                </a:r>
                <a:endParaRPr lang="en-US" altLang="ko-KR" sz="1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0183D9B-70D2-9754-C463-56A68BA6D7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3619" y="2730336"/>
                <a:ext cx="7391098" cy="815736"/>
              </a:xfrm>
              <a:prstGeom prst="rect">
                <a:avLst/>
              </a:prstGeom>
              <a:blipFill>
                <a:blip r:embed="rId5"/>
                <a:stretch>
                  <a:fillRect l="-247" b="-373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9606BCA-2CDC-5EEA-F98C-67711D2B2C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1301482"/>
              </p:ext>
            </p:extLst>
          </p:nvPr>
        </p:nvGraphicFramePr>
        <p:xfrm>
          <a:off x="944879" y="4312018"/>
          <a:ext cx="5853756" cy="148336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463439">
                  <a:extLst>
                    <a:ext uri="{9D8B030D-6E8A-4147-A177-3AD203B41FA5}">
                      <a16:colId xmlns:a16="http://schemas.microsoft.com/office/drawing/2014/main" val="1775151670"/>
                    </a:ext>
                  </a:extLst>
                </a:gridCol>
                <a:gridCol w="1376873">
                  <a:extLst>
                    <a:ext uri="{9D8B030D-6E8A-4147-A177-3AD203B41FA5}">
                      <a16:colId xmlns:a16="http://schemas.microsoft.com/office/drawing/2014/main" val="2970431084"/>
                    </a:ext>
                  </a:extLst>
                </a:gridCol>
                <a:gridCol w="1403497">
                  <a:extLst>
                    <a:ext uri="{9D8B030D-6E8A-4147-A177-3AD203B41FA5}">
                      <a16:colId xmlns:a16="http://schemas.microsoft.com/office/drawing/2014/main" val="3492204893"/>
                    </a:ext>
                  </a:extLst>
                </a:gridCol>
                <a:gridCol w="1609947">
                  <a:extLst>
                    <a:ext uri="{9D8B030D-6E8A-4147-A177-3AD203B41FA5}">
                      <a16:colId xmlns:a16="http://schemas.microsoft.com/office/drawing/2014/main" val="19573109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Version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W (eff)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P_shift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목적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2305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Version_A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0.00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Baseline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58321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Version_B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-0.03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변속비용반영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0967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Version_C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0.00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효율 극대화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90286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18001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E0BB4-3EA8-7DB7-50A7-B9ED62B0F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698BBB-5681-8B83-3D33-5938248B3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/>
              <a:t>3. </a:t>
            </a:r>
            <a:r>
              <a:rPr lang="ko-KR" altLang="en-US" dirty="0"/>
              <a:t>강화학습 설계</a:t>
            </a:r>
            <a:r>
              <a:rPr lang="en-US" altLang="ko-KR" dirty="0"/>
              <a:t> – DQN Algorithm</a:t>
            </a:r>
            <a:endParaRPr lang="ko-KR" altLang="en-US" dirty="0">
              <a:latin typeface="+mn-lt"/>
              <a:ea typeface="+mn-ea"/>
              <a:cs typeface="+mn-cs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F5AD38B-D25D-9B96-2E82-8F393DF7CD4C}"/>
              </a:ext>
            </a:extLst>
          </p:cNvPr>
          <p:cNvSpPr/>
          <p:nvPr/>
        </p:nvSpPr>
        <p:spPr>
          <a:xfrm>
            <a:off x="501532" y="1156229"/>
            <a:ext cx="5594468" cy="274390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3B416CE-9B79-D2F3-53FA-B2921D0D6B23}"/>
              </a:ext>
            </a:extLst>
          </p:cNvPr>
          <p:cNvSpPr/>
          <p:nvPr/>
        </p:nvSpPr>
        <p:spPr>
          <a:xfrm>
            <a:off x="2183017" y="927331"/>
            <a:ext cx="2231497" cy="454026"/>
          </a:xfrm>
          <a:prstGeom prst="rect">
            <a:avLst/>
          </a:prstGeom>
          <a:solidFill>
            <a:srgbClr val="E6E7E8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알고리즘 </a:t>
            </a:r>
            <a:r>
              <a:rPr lang="ko-KR" altLang="en-US" b="1"/>
              <a:t>선택 이유</a:t>
            </a:r>
            <a:endParaRPr lang="ko-KR" altLang="en-US" b="1" dirty="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4A7C1CFA-FDDF-3533-6B7C-178FAB0935D4}"/>
              </a:ext>
            </a:extLst>
          </p:cNvPr>
          <p:cNvSpPr/>
          <p:nvPr/>
        </p:nvSpPr>
        <p:spPr>
          <a:xfrm>
            <a:off x="501532" y="4297680"/>
            <a:ext cx="11245152" cy="240059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B10B8B3-AFCA-28EA-4CBD-B64458590CB1}"/>
              </a:ext>
            </a:extLst>
          </p:cNvPr>
          <p:cNvSpPr/>
          <p:nvPr/>
        </p:nvSpPr>
        <p:spPr>
          <a:xfrm>
            <a:off x="4149587" y="4062442"/>
            <a:ext cx="3892825" cy="454026"/>
          </a:xfrm>
          <a:prstGeom prst="rect">
            <a:avLst/>
          </a:prstGeom>
          <a:solidFill>
            <a:srgbClr val="E6E7E8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Neural</a:t>
            </a:r>
            <a:r>
              <a:rPr lang="ko-KR" altLang="en-US" b="1" dirty="0"/>
              <a:t> </a:t>
            </a:r>
            <a:r>
              <a:rPr lang="en-US" altLang="ko-KR" b="1" dirty="0"/>
              <a:t>Network Architecture</a:t>
            </a:r>
            <a:endParaRPr lang="ko-KR" altLang="en-US" b="1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E1F0D15-E59A-8967-B0C1-BA559179E429}"/>
              </a:ext>
            </a:extLst>
          </p:cNvPr>
          <p:cNvSpPr txBox="1"/>
          <p:nvPr/>
        </p:nvSpPr>
        <p:spPr>
          <a:xfrm>
            <a:off x="910546" y="1651763"/>
            <a:ext cx="4669454" cy="1700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arenR"/>
            </a:pPr>
            <a:r>
              <a:rPr lang="en-US" altLang="ko-KR" b="1" dirty="0"/>
              <a:t>Discrete </a:t>
            </a:r>
            <a:r>
              <a:rPr lang="ko-KR" altLang="en-US" b="1" dirty="0"/>
              <a:t>한</a:t>
            </a:r>
            <a:r>
              <a:rPr lang="en-US" altLang="ko-KR" b="1" dirty="0"/>
              <a:t> Action Space</a:t>
            </a:r>
            <a:r>
              <a:rPr lang="ko-KR" altLang="en-US" b="1" dirty="0"/>
              <a:t>이므로 </a:t>
            </a:r>
            <a:endParaRPr lang="en-US" altLang="ko-KR" b="1" dirty="0"/>
          </a:p>
          <a:p>
            <a:pPr>
              <a:lnSpc>
                <a:spcPct val="150000"/>
              </a:lnSpc>
            </a:pPr>
            <a:r>
              <a:rPr lang="en-US" altLang="ko-KR" b="1" dirty="0"/>
              <a:t>    DQN</a:t>
            </a:r>
            <a:r>
              <a:rPr lang="ko-KR" altLang="en-US" b="1" dirty="0"/>
              <a:t> 학습에 적합함</a:t>
            </a:r>
            <a:r>
              <a:rPr lang="en-US" altLang="ko-KR" b="1" dirty="0"/>
              <a:t>.</a:t>
            </a:r>
          </a:p>
          <a:p>
            <a:pPr>
              <a:lnSpc>
                <a:spcPct val="150000"/>
              </a:lnSpc>
            </a:pPr>
            <a:endParaRPr lang="en-US" altLang="ko-KR" b="1" dirty="0"/>
          </a:p>
          <a:p>
            <a:pPr>
              <a:lnSpc>
                <a:spcPct val="150000"/>
              </a:lnSpc>
            </a:pPr>
            <a:r>
              <a:rPr lang="en-US" altLang="ko-KR" b="1" dirty="0"/>
              <a:t>2) MATLAB Toolbox </a:t>
            </a:r>
            <a:r>
              <a:rPr lang="ko-KR" altLang="en-US" b="1" dirty="0"/>
              <a:t>지원</a:t>
            </a:r>
            <a:endParaRPr lang="en-US" altLang="ko-KR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481384E-7572-CBFA-05DD-A75090A3B00D}"/>
              </a:ext>
            </a:extLst>
          </p:cNvPr>
          <p:cNvSpPr/>
          <p:nvPr/>
        </p:nvSpPr>
        <p:spPr>
          <a:xfrm>
            <a:off x="954220" y="5321591"/>
            <a:ext cx="900000" cy="90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8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DD478D3-D5A0-F365-9546-356637701847}"/>
              </a:ext>
            </a:extLst>
          </p:cNvPr>
          <p:cNvSpPr/>
          <p:nvPr/>
        </p:nvSpPr>
        <p:spPr>
          <a:xfrm>
            <a:off x="2311456" y="5321591"/>
            <a:ext cx="900000" cy="90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128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BE1B80D-8E85-C21F-625A-9F77CB978D35}"/>
              </a:ext>
            </a:extLst>
          </p:cNvPr>
          <p:cNvSpPr/>
          <p:nvPr/>
        </p:nvSpPr>
        <p:spPr>
          <a:xfrm>
            <a:off x="5025928" y="5321591"/>
            <a:ext cx="900000" cy="90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128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3912375-7FF3-7056-E428-B895FF1F68B5}"/>
              </a:ext>
            </a:extLst>
          </p:cNvPr>
          <p:cNvSpPr/>
          <p:nvPr/>
        </p:nvSpPr>
        <p:spPr>
          <a:xfrm>
            <a:off x="7740400" y="5321591"/>
            <a:ext cx="900000" cy="90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64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EC9DC93-842D-98EC-8260-AA77031C2140}"/>
              </a:ext>
            </a:extLst>
          </p:cNvPr>
          <p:cNvSpPr/>
          <p:nvPr/>
        </p:nvSpPr>
        <p:spPr>
          <a:xfrm>
            <a:off x="10454871" y="5321591"/>
            <a:ext cx="900000" cy="90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2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65079F4-9D6E-C223-B6DD-BDE16F162069}"/>
              </a:ext>
            </a:extLst>
          </p:cNvPr>
          <p:cNvSpPr/>
          <p:nvPr/>
        </p:nvSpPr>
        <p:spPr>
          <a:xfrm>
            <a:off x="6245183" y="1143344"/>
            <a:ext cx="5501501" cy="275976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FDC6837-D2F1-2A5E-EB6A-26FB554976A1}"/>
              </a:ext>
            </a:extLst>
          </p:cNvPr>
          <p:cNvSpPr/>
          <p:nvPr/>
        </p:nvSpPr>
        <p:spPr>
          <a:xfrm>
            <a:off x="7962834" y="927331"/>
            <a:ext cx="2121449" cy="454026"/>
          </a:xfrm>
          <a:prstGeom prst="rect">
            <a:avLst/>
          </a:prstGeom>
          <a:solidFill>
            <a:srgbClr val="E6E7E8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Hyperparameters</a:t>
            </a:r>
            <a:endParaRPr lang="ko-KR" altLang="en-US" b="1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E849605-7062-9B97-A734-80B2E661A43E}"/>
              </a:ext>
            </a:extLst>
          </p:cNvPr>
          <p:cNvSpPr/>
          <p:nvPr/>
        </p:nvSpPr>
        <p:spPr>
          <a:xfrm>
            <a:off x="6383164" y="5321591"/>
            <a:ext cx="900000" cy="90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ysClr val="windowText" lastClr="000000"/>
                </a:solidFill>
              </a:rPr>
              <a:t>Relu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54A0624-FDD9-532E-E743-7E0C3E98665D}"/>
              </a:ext>
            </a:extLst>
          </p:cNvPr>
          <p:cNvSpPr/>
          <p:nvPr/>
        </p:nvSpPr>
        <p:spPr>
          <a:xfrm>
            <a:off x="9097636" y="5321591"/>
            <a:ext cx="900000" cy="90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ysClr val="windowText" lastClr="000000"/>
                </a:solidFill>
              </a:rPr>
              <a:t>Relu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375BC78-5270-3CCC-5B6C-F346FBD26627}"/>
              </a:ext>
            </a:extLst>
          </p:cNvPr>
          <p:cNvSpPr/>
          <p:nvPr/>
        </p:nvSpPr>
        <p:spPr>
          <a:xfrm>
            <a:off x="3668692" y="5321591"/>
            <a:ext cx="900000" cy="90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ysClr val="windowText" lastClr="000000"/>
                </a:solidFill>
              </a:rPr>
              <a:t>Relu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9DC8634-EAF1-FEA2-6AAE-87777667FA4B}"/>
              </a:ext>
            </a:extLst>
          </p:cNvPr>
          <p:cNvSpPr txBox="1"/>
          <p:nvPr/>
        </p:nvSpPr>
        <p:spPr>
          <a:xfrm>
            <a:off x="857486" y="4525600"/>
            <a:ext cx="11082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Input</a:t>
            </a:r>
          </a:p>
          <a:p>
            <a:pPr algn="ctr"/>
            <a:r>
              <a:rPr lang="en-US" altLang="ko-KR" dirty="0"/>
              <a:t>Layer</a:t>
            </a:r>
            <a:endParaRPr lang="ko-KR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E40F31F-867F-F5D8-7E60-70832F9AC401}"/>
              </a:ext>
            </a:extLst>
          </p:cNvPr>
          <p:cNvSpPr txBox="1"/>
          <p:nvPr/>
        </p:nvSpPr>
        <p:spPr>
          <a:xfrm>
            <a:off x="10400619" y="4525600"/>
            <a:ext cx="10737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Output</a:t>
            </a:r>
          </a:p>
          <a:p>
            <a:pPr algn="ctr"/>
            <a:r>
              <a:rPr lang="en-US" altLang="ko-KR" dirty="0"/>
              <a:t>Layer</a:t>
            </a:r>
            <a:endParaRPr lang="ko-KR" alt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C60E3E0-B86B-5479-20FA-56D91F30B1C2}"/>
              </a:ext>
            </a:extLst>
          </p:cNvPr>
          <p:cNvSpPr txBox="1"/>
          <p:nvPr/>
        </p:nvSpPr>
        <p:spPr>
          <a:xfrm>
            <a:off x="2114641" y="4551940"/>
            <a:ext cx="1412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Fully Connected</a:t>
            </a:r>
            <a:endParaRPr lang="ko-KR" alt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19B4C04-BF72-14C9-A85F-2E14115B405D}"/>
              </a:ext>
            </a:extLst>
          </p:cNvPr>
          <p:cNvSpPr txBox="1"/>
          <p:nvPr/>
        </p:nvSpPr>
        <p:spPr>
          <a:xfrm>
            <a:off x="3499379" y="6271901"/>
            <a:ext cx="1412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Activation</a:t>
            </a:r>
            <a:endParaRPr lang="ko-KR" altLang="en-US" dirty="0"/>
          </a:p>
        </p:txBody>
      </p: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91BF1824-7C63-5C16-710B-92ACCFFD4EE7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1854220" y="5771591"/>
            <a:ext cx="45723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0FF48004-F7D4-C6D2-7559-6C764DDD0BD6}"/>
              </a:ext>
            </a:extLst>
          </p:cNvPr>
          <p:cNvCxnSpPr>
            <a:stCxn id="7" idx="3"/>
            <a:endCxn id="24" idx="1"/>
          </p:cNvCxnSpPr>
          <p:nvPr/>
        </p:nvCxnSpPr>
        <p:spPr>
          <a:xfrm>
            <a:off x="3211456" y="5771591"/>
            <a:ext cx="45723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67B6F878-A3AB-4619-1BAD-005D83EFB3CA}"/>
              </a:ext>
            </a:extLst>
          </p:cNvPr>
          <p:cNvCxnSpPr>
            <a:stCxn id="24" idx="3"/>
            <a:endCxn id="8" idx="1"/>
          </p:cNvCxnSpPr>
          <p:nvPr/>
        </p:nvCxnSpPr>
        <p:spPr>
          <a:xfrm>
            <a:off x="4568692" y="5771591"/>
            <a:ext cx="45723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CF9FBCD4-4EE0-D3E0-503A-1807F6B41B03}"/>
              </a:ext>
            </a:extLst>
          </p:cNvPr>
          <p:cNvCxnSpPr>
            <a:stCxn id="8" idx="3"/>
            <a:endCxn id="22" idx="1"/>
          </p:cNvCxnSpPr>
          <p:nvPr/>
        </p:nvCxnSpPr>
        <p:spPr>
          <a:xfrm>
            <a:off x="5925928" y="5771591"/>
            <a:ext cx="45723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A8FE6A70-84EB-77CF-2058-F4F6A83505F3}"/>
              </a:ext>
            </a:extLst>
          </p:cNvPr>
          <p:cNvCxnSpPr>
            <a:stCxn id="22" idx="3"/>
            <a:endCxn id="10" idx="1"/>
          </p:cNvCxnSpPr>
          <p:nvPr/>
        </p:nvCxnSpPr>
        <p:spPr>
          <a:xfrm>
            <a:off x="7283164" y="5771591"/>
            <a:ext cx="45723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4" name="직선 화살표 연결선 1023">
            <a:extLst>
              <a:ext uri="{FF2B5EF4-FFF2-40B4-BE49-F238E27FC236}">
                <a16:creationId xmlns:a16="http://schemas.microsoft.com/office/drawing/2014/main" id="{9BD87E81-E552-9E79-7120-806829ADBA53}"/>
              </a:ext>
            </a:extLst>
          </p:cNvPr>
          <p:cNvCxnSpPr>
            <a:stCxn id="10" idx="3"/>
            <a:endCxn id="23" idx="1"/>
          </p:cNvCxnSpPr>
          <p:nvPr/>
        </p:nvCxnSpPr>
        <p:spPr>
          <a:xfrm>
            <a:off x="8640400" y="5771591"/>
            <a:ext cx="45723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6" name="직선 화살표 연결선 1025">
            <a:extLst>
              <a:ext uri="{FF2B5EF4-FFF2-40B4-BE49-F238E27FC236}">
                <a16:creationId xmlns:a16="http://schemas.microsoft.com/office/drawing/2014/main" id="{4C1BD811-3EE3-E69F-5981-A35D68AA395B}"/>
              </a:ext>
            </a:extLst>
          </p:cNvPr>
          <p:cNvCxnSpPr>
            <a:stCxn id="23" idx="3"/>
            <a:endCxn id="11" idx="1"/>
          </p:cNvCxnSpPr>
          <p:nvPr/>
        </p:nvCxnSpPr>
        <p:spPr>
          <a:xfrm>
            <a:off x="9997636" y="5771591"/>
            <a:ext cx="45723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7" name="TextBox 1026">
            <a:extLst>
              <a:ext uri="{FF2B5EF4-FFF2-40B4-BE49-F238E27FC236}">
                <a16:creationId xmlns:a16="http://schemas.microsoft.com/office/drawing/2014/main" id="{40CB1560-0730-E212-823D-61584CF8CE72}"/>
              </a:ext>
            </a:extLst>
          </p:cNvPr>
          <p:cNvSpPr txBox="1"/>
          <p:nvPr/>
        </p:nvSpPr>
        <p:spPr>
          <a:xfrm>
            <a:off x="5629052" y="4525600"/>
            <a:ext cx="11082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Hidden</a:t>
            </a:r>
          </a:p>
          <a:p>
            <a:pPr algn="ctr"/>
            <a:r>
              <a:rPr lang="en-US" altLang="ko-KR" dirty="0"/>
              <a:t>Layer</a:t>
            </a:r>
            <a:endParaRPr lang="ko-KR" altLang="en-US" dirty="0"/>
          </a:p>
        </p:txBody>
      </p:sp>
      <p:cxnSp>
        <p:nvCxnSpPr>
          <p:cNvPr id="1031" name="직선 연결선 1030">
            <a:extLst>
              <a:ext uri="{FF2B5EF4-FFF2-40B4-BE49-F238E27FC236}">
                <a16:creationId xmlns:a16="http://schemas.microsoft.com/office/drawing/2014/main" id="{16B84703-35CF-5C4A-9CAD-5B50793519C4}"/>
              </a:ext>
            </a:extLst>
          </p:cNvPr>
          <p:cNvCxnSpPr>
            <a:cxnSpLocks/>
          </p:cNvCxnSpPr>
          <p:nvPr/>
        </p:nvCxnSpPr>
        <p:spPr>
          <a:xfrm flipV="1">
            <a:off x="2082838" y="4502773"/>
            <a:ext cx="0" cy="213846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2" name="직선 연결선 1031">
            <a:extLst>
              <a:ext uri="{FF2B5EF4-FFF2-40B4-BE49-F238E27FC236}">
                <a16:creationId xmlns:a16="http://schemas.microsoft.com/office/drawing/2014/main" id="{63ABE7A5-9602-65B9-950D-6E588B2776F4}"/>
              </a:ext>
            </a:extLst>
          </p:cNvPr>
          <p:cNvCxnSpPr>
            <a:cxnSpLocks/>
          </p:cNvCxnSpPr>
          <p:nvPr/>
        </p:nvCxnSpPr>
        <p:spPr>
          <a:xfrm flipV="1">
            <a:off x="10226253" y="4502773"/>
            <a:ext cx="0" cy="213846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36" name="표 1035">
                <a:extLst>
                  <a:ext uri="{FF2B5EF4-FFF2-40B4-BE49-F238E27FC236}">
                    <a16:creationId xmlns:a16="http://schemas.microsoft.com/office/drawing/2014/main" id="{F236DF98-257A-60F8-4064-4791B903632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28997524"/>
                  </p:ext>
                </p:extLst>
              </p:nvPr>
            </p:nvGraphicFramePr>
            <p:xfrm>
              <a:off x="7010160" y="1492723"/>
              <a:ext cx="3971546" cy="2220341"/>
            </p:xfrm>
            <a:graphic>
              <a:graphicData uri="http://schemas.openxmlformats.org/drawingml/2006/table">
                <a:tbl>
                  <a:tblPr bandRow="1">
                    <a:tableStyleId>{9D7B26C5-4107-4FEC-AEDC-1716B250A1EF}</a:tableStyleId>
                  </a:tblPr>
                  <a:tblGrid>
                    <a:gridCol w="1985773">
                      <a:extLst>
                        <a:ext uri="{9D8B030D-6E8A-4147-A177-3AD203B41FA5}">
                          <a16:colId xmlns:a16="http://schemas.microsoft.com/office/drawing/2014/main" val="3983946985"/>
                        </a:ext>
                      </a:extLst>
                    </a:gridCol>
                    <a:gridCol w="1985773">
                      <a:extLst>
                        <a:ext uri="{9D8B030D-6E8A-4147-A177-3AD203B41FA5}">
                          <a16:colId xmlns:a16="http://schemas.microsoft.com/office/drawing/2014/main" val="301853344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Learning Rate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b="0" smtClean="0"/>
                                  <m:t>5×</m:t>
                                </m:r>
                                <m:sSup>
                                  <m:sSupPr>
                                    <m:ctrlPr>
                                      <a:rPr lang="en-US" altLang="ko-KR" b="0" smtClean="0"/>
                                    </m:ctrlPr>
                                  </m:sSupPr>
                                  <m:e>
                                    <m:r>
                                      <a:rPr lang="en-US" altLang="ko-KR" b="0" smtClean="0"/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altLang="ko-KR" b="0" smtClean="0"/>
                                      <m:t>−4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996516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Discount Factor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0.995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801468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Epsilon Decay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0.995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948044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Batch Size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128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637572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Replay Buffer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50000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62212621"/>
                      </a:ext>
                    </a:extLst>
                  </a:tr>
                  <a:tr h="340776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Episodes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1000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3986248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36" name="표 1035">
                <a:extLst>
                  <a:ext uri="{FF2B5EF4-FFF2-40B4-BE49-F238E27FC236}">
                    <a16:creationId xmlns:a16="http://schemas.microsoft.com/office/drawing/2014/main" id="{F236DF98-257A-60F8-4064-4791B903632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28997524"/>
                  </p:ext>
                </p:extLst>
              </p:nvPr>
            </p:nvGraphicFramePr>
            <p:xfrm>
              <a:off x="7010160" y="1492723"/>
              <a:ext cx="3971546" cy="2220341"/>
            </p:xfrm>
            <a:graphic>
              <a:graphicData uri="http://schemas.openxmlformats.org/drawingml/2006/table">
                <a:tbl>
                  <a:tblPr bandRow="1">
                    <a:tableStyleId>{9D7B26C5-4107-4FEC-AEDC-1716B250A1EF}</a:tableStyleId>
                  </a:tblPr>
                  <a:tblGrid>
                    <a:gridCol w="1985773">
                      <a:extLst>
                        <a:ext uri="{9D8B030D-6E8A-4147-A177-3AD203B41FA5}">
                          <a16:colId xmlns:a16="http://schemas.microsoft.com/office/drawing/2014/main" val="3983946985"/>
                        </a:ext>
                      </a:extLst>
                    </a:gridCol>
                    <a:gridCol w="1985773">
                      <a:extLst>
                        <a:ext uri="{9D8B030D-6E8A-4147-A177-3AD203B41FA5}">
                          <a16:colId xmlns:a16="http://schemas.microsoft.com/office/drawing/2014/main" val="3018533448"/>
                        </a:ext>
                      </a:extLst>
                    </a:gridCol>
                  </a:tblGrid>
                  <a:tr h="371221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Learning Rate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307" t="-6557" r="-307" b="-5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96516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Discount Factor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0.995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801468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Epsilon Decay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0.995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948044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Batch Size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128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637572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Replay Buffer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50000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6221262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Episodes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1000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3986248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007517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71217-DCA3-EA7F-215F-0EE413668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D7EAFD-DF00-0362-D467-D9AB8AE76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+mn-lt"/>
                <a:ea typeface="+mn-ea"/>
                <a:cs typeface="+mn-cs"/>
              </a:rPr>
              <a:t>4. </a:t>
            </a:r>
            <a:r>
              <a:rPr lang="ko-KR" altLang="en-US" dirty="0">
                <a:latin typeface="+mn-lt"/>
                <a:ea typeface="+mn-ea"/>
                <a:cs typeface="+mn-cs"/>
              </a:rPr>
              <a:t>실험 설계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7F8FCE9-BA13-9185-11B9-35C4003FF788}"/>
              </a:ext>
            </a:extLst>
          </p:cNvPr>
          <p:cNvSpPr/>
          <p:nvPr/>
        </p:nvSpPr>
        <p:spPr>
          <a:xfrm>
            <a:off x="501533" y="1143344"/>
            <a:ext cx="11130906" cy="289702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E2E65E40-D4C0-EE19-D0D1-4B69328524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3932986"/>
              </p:ext>
            </p:extLst>
          </p:nvPr>
        </p:nvGraphicFramePr>
        <p:xfrm>
          <a:off x="2851622" y="2015845"/>
          <a:ext cx="5853756" cy="148336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463439">
                  <a:extLst>
                    <a:ext uri="{9D8B030D-6E8A-4147-A177-3AD203B41FA5}">
                      <a16:colId xmlns:a16="http://schemas.microsoft.com/office/drawing/2014/main" val="1775151670"/>
                    </a:ext>
                  </a:extLst>
                </a:gridCol>
                <a:gridCol w="1376873">
                  <a:extLst>
                    <a:ext uri="{9D8B030D-6E8A-4147-A177-3AD203B41FA5}">
                      <a16:colId xmlns:a16="http://schemas.microsoft.com/office/drawing/2014/main" val="2970431084"/>
                    </a:ext>
                  </a:extLst>
                </a:gridCol>
                <a:gridCol w="1403497">
                  <a:extLst>
                    <a:ext uri="{9D8B030D-6E8A-4147-A177-3AD203B41FA5}">
                      <a16:colId xmlns:a16="http://schemas.microsoft.com/office/drawing/2014/main" val="3492204893"/>
                    </a:ext>
                  </a:extLst>
                </a:gridCol>
                <a:gridCol w="1609947">
                  <a:extLst>
                    <a:ext uri="{9D8B030D-6E8A-4147-A177-3AD203B41FA5}">
                      <a16:colId xmlns:a16="http://schemas.microsoft.com/office/drawing/2014/main" val="19573109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Version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W (eff)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P_shift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목적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2305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Version_A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0.00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Baseline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58321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Version_B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-0.03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변속비용반영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0967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Version_C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0.00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효율 극대화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9028696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BBC04BD-60C3-2946-3534-8077896F3A36}"/>
                  </a:ext>
                </a:extLst>
              </p:cNvPr>
              <p:cNvSpPr txBox="1"/>
              <p:nvPr/>
            </p:nvSpPr>
            <p:spPr>
              <a:xfrm>
                <a:off x="2403789" y="3540535"/>
                <a:ext cx="6749422" cy="4675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ko-KR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v</m:t>
                              </m:r>
                              <m:r>
                                <a:rPr lang="en-US" altLang="ko-KR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𝑡𝑎𝑟𝑔𝑒𝑡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×0.02+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𝑒𝑓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𝑚𝑜𝑡𝑜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ko-KR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𝑊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𝑠h𝑖𝑓𝑡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×</m:t>
                      </m:r>
                      <m:sSub>
                        <m:sSubPr>
                          <m:ctrlPr>
                            <a:rPr lang="en-US" altLang="ko-KR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𝑠h𝑖𝑓𝑡</m:t>
                          </m:r>
                        </m:sub>
                      </m:sSub>
                    </m:oMath>
                  </m:oMathPara>
                </a14:m>
                <a:endParaRPr lang="en-US" altLang="ko-KR" dirty="0"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BBC04BD-60C3-2946-3534-8077896F3A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3789" y="3540535"/>
                <a:ext cx="6749422" cy="467564"/>
              </a:xfrm>
              <a:prstGeom prst="rect">
                <a:avLst/>
              </a:prstGeom>
              <a:blipFill>
                <a:blip r:embed="rId3"/>
                <a:stretch>
                  <a:fillRect b="-78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9CB4D920-FD66-AAD9-4043-B5408FC62C17}"/>
              </a:ext>
            </a:extLst>
          </p:cNvPr>
          <p:cNvSpPr txBox="1"/>
          <p:nvPr/>
        </p:nvSpPr>
        <p:spPr>
          <a:xfrm>
            <a:off x="863600" y="1472680"/>
            <a:ext cx="960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dirty="0"/>
              <a:t>리워드 함수의 변수 값인 </a:t>
            </a:r>
            <a:r>
              <a:rPr lang="en-US" altLang="ko-KR" dirty="0"/>
              <a:t>W, </a:t>
            </a:r>
            <a:r>
              <a:rPr lang="en-US" altLang="ko-KR" dirty="0" err="1"/>
              <a:t>P_shift</a:t>
            </a:r>
            <a:r>
              <a:rPr lang="ko-KR" altLang="en-US" dirty="0"/>
              <a:t>를 조정하여 총 </a:t>
            </a:r>
            <a:r>
              <a:rPr lang="en-US" altLang="ko-KR" dirty="0"/>
              <a:t>3</a:t>
            </a:r>
            <a:r>
              <a:rPr lang="ko-KR" altLang="en-US" dirty="0"/>
              <a:t>개 버전의 보상함수를 학습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012F72A-5EC8-94F2-DA51-DD6A1E7E740F}"/>
              </a:ext>
            </a:extLst>
          </p:cNvPr>
          <p:cNvSpPr/>
          <p:nvPr/>
        </p:nvSpPr>
        <p:spPr>
          <a:xfrm>
            <a:off x="501533" y="4369707"/>
            <a:ext cx="3528208" cy="227653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9648C5-5599-BA5F-E09A-B9A0B39C7F75}"/>
              </a:ext>
            </a:extLst>
          </p:cNvPr>
          <p:cNvSpPr txBox="1"/>
          <p:nvPr/>
        </p:nvSpPr>
        <p:spPr>
          <a:xfrm>
            <a:off x="863600" y="4692692"/>
            <a:ext cx="2989143" cy="1700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b="1" dirty="0"/>
              <a:t>각 버전당 </a:t>
            </a:r>
            <a:r>
              <a:rPr lang="en-US" altLang="ko-KR" b="1" dirty="0"/>
              <a:t>2</a:t>
            </a:r>
            <a:r>
              <a:rPr lang="ko-KR" altLang="en-US" b="1" dirty="0"/>
              <a:t>회 학습</a:t>
            </a:r>
            <a:endParaRPr lang="en-US" altLang="ko-KR" b="1" dirty="0"/>
          </a:p>
          <a:p>
            <a:pPr>
              <a:lnSpc>
                <a:spcPct val="150000"/>
              </a:lnSpc>
            </a:pPr>
            <a:r>
              <a:rPr lang="en-US" altLang="ko-KR" dirty="0"/>
              <a:t>  - Random Seed : 1</a:t>
            </a:r>
            <a:r>
              <a:rPr lang="ko-KR" altLang="en-US" dirty="0"/>
              <a:t>회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  - Fixed Seed(42) : 1</a:t>
            </a:r>
            <a:r>
              <a:rPr lang="ko-KR" altLang="en-US" dirty="0"/>
              <a:t>회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  - </a:t>
            </a:r>
            <a:r>
              <a:rPr lang="ko-KR" altLang="en-US" dirty="0"/>
              <a:t>총 </a:t>
            </a:r>
            <a:r>
              <a:rPr lang="en-US" altLang="ko-KR" dirty="0"/>
              <a:t>6</a:t>
            </a:r>
            <a:r>
              <a:rPr lang="ko-KR" altLang="en-US" dirty="0"/>
              <a:t>회 학습</a:t>
            </a:r>
            <a:endParaRPr lang="en-US" altLang="ko-KR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BFCF45E-6767-D7AF-BD17-1EE36C8492CC}"/>
              </a:ext>
            </a:extLst>
          </p:cNvPr>
          <p:cNvSpPr/>
          <p:nvPr/>
        </p:nvSpPr>
        <p:spPr>
          <a:xfrm>
            <a:off x="1204912" y="4142694"/>
            <a:ext cx="2121449" cy="454026"/>
          </a:xfrm>
          <a:prstGeom prst="rect">
            <a:avLst/>
          </a:prstGeom>
          <a:solidFill>
            <a:srgbClr val="E6E7E8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Seed </a:t>
            </a:r>
            <a:r>
              <a:rPr lang="ko-KR" altLang="en-US" b="1" dirty="0"/>
              <a:t>설정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99C2DE8-B676-8B98-2187-A527916DB5A6}"/>
              </a:ext>
            </a:extLst>
          </p:cNvPr>
          <p:cNvSpPr/>
          <p:nvPr/>
        </p:nvSpPr>
        <p:spPr>
          <a:xfrm>
            <a:off x="4391808" y="4369707"/>
            <a:ext cx="7240631" cy="227653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7CB7C37-905D-2659-78A6-7BD143CAC382}"/>
              </a:ext>
            </a:extLst>
          </p:cNvPr>
          <p:cNvSpPr/>
          <p:nvPr/>
        </p:nvSpPr>
        <p:spPr>
          <a:xfrm>
            <a:off x="6951398" y="4142694"/>
            <a:ext cx="2121449" cy="454026"/>
          </a:xfrm>
          <a:prstGeom prst="rect">
            <a:avLst/>
          </a:prstGeom>
          <a:solidFill>
            <a:srgbClr val="E6E7E8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학습 및 평가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7F1ACCA-BA4A-C4D6-F953-53132748F127}"/>
              </a:ext>
            </a:extLst>
          </p:cNvPr>
          <p:cNvSpPr txBox="1"/>
          <p:nvPr/>
        </p:nvSpPr>
        <p:spPr>
          <a:xfrm>
            <a:off x="4572414" y="4692692"/>
            <a:ext cx="3763512" cy="1700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/>
              <a:t> </a:t>
            </a:r>
            <a:r>
              <a:rPr lang="ko-KR" altLang="en-US" b="1" dirty="0"/>
              <a:t>학습 조건</a:t>
            </a:r>
            <a:endParaRPr lang="en-US" altLang="ko-KR" b="1" dirty="0"/>
          </a:p>
          <a:p>
            <a:pPr>
              <a:lnSpc>
                <a:spcPct val="150000"/>
              </a:lnSpc>
            </a:pPr>
            <a:r>
              <a:rPr lang="en-US" altLang="ko-KR" dirty="0"/>
              <a:t>  - Episode: 1000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  - Step: 13690 steps per episode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           (0.1</a:t>
            </a:r>
            <a:r>
              <a:rPr lang="ko-KR" altLang="en-US" dirty="0"/>
              <a:t>초 당 한번 판단</a:t>
            </a:r>
            <a:r>
              <a:rPr lang="en-US" altLang="ko-KR" dirty="0"/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1FCD9DA-6CAB-00BA-425E-EC0C9B689893}"/>
                  </a:ext>
                </a:extLst>
              </p:cNvPr>
              <p:cNvSpPr txBox="1"/>
              <p:nvPr/>
            </p:nvSpPr>
            <p:spPr>
              <a:xfrm>
                <a:off x="8485189" y="4692692"/>
                <a:ext cx="2989143" cy="17007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b="1" dirty="0"/>
                  <a:t>평가지표</a:t>
                </a:r>
                <a:endParaRPr lang="en-US" altLang="ko-KR" b="1" dirty="0"/>
              </a:p>
              <a:p>
                <a:pPr>
                  <a:lnSpc>
                    <a:spcPct val="150000"/>
                  </a:lnSpc>
                </a:pPr>
                <a:r>
                  <a:rPr lang="en-US" altLang="ko-KR" dirty="0"/>
                  <a:t>  - </a:t>
                </a:r>
                <a:r>
                  <a:rPr lang="ko-KR" altLang="en-US" dirty="0"/>
                  <a:t>연비</a:t>
                </a:r>
                <a:r>
                  <a:rPr lang="en-US" altLang="ko-KR" dirty="0"/>
                  <a:t>[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i="1" dirty="0" smtClean="0"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𝑘𝑊</m:t>
                    </m:r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altLang="ko-KR" dirty="0"/>
                  <a:t>]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dirty="0"/>
                  <a:t>  - </a:t>
                </a:r>
                <a:r>
                  <a:rPr lang="ko-KR" altLang="en-US" dirty="0"/>
                  <a:t>변속횟수</a:t>
                </a:r>
                <a:endParaRPr lang="en-US" altLang="ko-KR" dirty="0"/>
              </a:p>
              <a:p>
                <a:pPr>
                  <a:lnSpc>
                    <a:spcPct val="150000"/>
                  </a:lnSpc>
                </a:pPr>
                <a:r>
                  <a:rPr lang="en-US" altLang="ko-KR" dirty="0"/>
                  <a:t>  - </a:t>
                </a:r>
                <a:r>
                  <a:rPr lang="ko-KR" altLang="en-US" dirty="0"/>
                  <a:t>속도 오차 </a:t>
                </a:r>
                <a:r>
                  <a:rPr lang="en-US" altLang="ko-KR" dirty="0"/>
                  <a:t>(RMS Error)</a:t>
                </a: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1FCD9DA-6CAB-00BA-425E-EC0C9B6898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5189" y="4692692"/>
                <a:ext cx="2989143" cy="1700787"/>
              </a:xfrm>
              <a:prstGeom prst="rect">
                <a:avLst/>
              </a:prstGeom>
              <a:blipFill>
                <a:blip r:embed="rId4"/>
                <a:stretch>
                  <a:fillRect l="-1429" b="-465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직사각형 22">
            <a:extLst>
              <a:ext uri="{FF2B5EF4-FFF2-40B4-BE49-F238E27FC236}">
                <a16:creationId xmlns:a16="http://schemas.microsoft.com/office/drawing/2014/main" id="{C01E6DA9-D293-338F-A3BB-3E4B48E1C77C}"/>
              </a:ext>
            </a:extLst>
          </p:cNvPr>
          <p:cNvSpPr/>
          <p:nvPr/>
        </p:nvSpPr>
        <p:spPr>
          <a:xfrm>
            <a:off x="5035275" y="921233"/>
            <a:ext cx="2121449" cy="454026"/>
          </a:xfrm>
          <a:prstGeom prst="rect">
            <a:avLst/>
          </a:prstGeom>
          <a:solidFill>
            <a:srgbClr val="E6E7E8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실험 구성</a:t>
            </a:r>
          </a:p>
        </p:txBody>
      </p:sp>
    </p:spTree>
    <p:extLst>
      <p:ext uri="{BB962C8B-B14F-4D97-AF65-F5344CB8AC3E}">
        <p14:creationId xmlns:p14="http://schemas.microsoft.com/office/powerpoint/2010/main" val="41762878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71217-DCA3-EA7F-215F-0EE413668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D7EAFD-DF00-0362-D467-D9AB8AE76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+mn-lt"/>
                <a:ea typeface="+mn-ea"/>
                <a:cs typeface="+mn-cs"/>
              </a:rPr>
              <a:t>5. </a:t>
            </a:r>
            <a:r>
              <a:rPr lang="ko-KR" altLang="en-US" dirty="0">
                <a:latin typeface="+mn-lt"/>
                <a:ea typeface="+mn-ea"/>
                <a:cs typeface="+mn-cs"/>
              </a:rPr>
              <a:t>실험 결과 </a:t>
            </a:r>
            <a:r>
              <a:rPr lang="en-US" altLang="ko-KR" dirty="0">
                <a:latin typeface="+mn-lt"/>
                <a:ea typeface="+mn-ea"/>
                <a:cs typeface="+mn-cs"/>
              </a:rPr>
              <a:t>– </a:t>
            </a:r>
            <a:r>
              <a:rPr lang="ko-KR" altLang="en-US" dirty="0">
                <a:latin typeface="+mn-lt"/>
                <a:ea typeface="+mn-ea"/>
                <a:cs typeface="+mn-cs"/>
              </a:rPr>
              <a:t>학습 과정 </a:t>
            </a:r>
            <a:r>
              <a:rPr lang="en-US" altLang="ko-KR" dirty="0">
                <a:latin typeface="+mn-lt"/>
                <a:ea typeface="+mn-ea"/>
                <a:cs typeface="+mn-cs"/>
              </a:rPr>
              <a:t>(</a:t>
            </a:r>
            <a:r>
              <a:rPr lang="ko-KR" altLang="en-US" dirty="0">
                <a:latin typeface="+mn-lt"/>
                <a:ea typeface="+mn-ea"/>
                <a:cs typeface="+mn-cs"/>
              </a:rPr>
              <a:t>상 </a:t>
            </a:r>
            <a:r>
              <a:rPr lang="en-US" altLang="ko-KR" dirty="0">
                <a:latin typeface="+mn-lt"/>
                <a:ea typeface="+mn-ea"/>
                <a:cs typeface="+mn-cs"/>
              </a:rPr>
              <a:t>: Random Seed, </a:t>
            </a:r>
            <a:r>
              <a:rPr lang="ko-KR" altLang="en-US" dirty="0">
                <a:latin typeface="+mn-lt"/>
                <a:ea typeface="+mn-ea"/>
                <a:cs typeface="+mn-cs"/>
              </a:rPr>
              <a:t>하 </a:t>
            </a:r>
            <a:r>
              <a:rPr lang="en-US" altLang="ko-KR" dirty="0">
                <a:latin typeface="+mn-lt"/>
                <a:ea typeface="+mn-ea"/>
                <a:cs typeface="+mn-cs"/>
              </a:rPr>
              <a:t>: Seed 42)</a:t>
            </a:r>
            <a:endParaRPr lang="ko-KR" altLang="en-US" dirty="0">
              <a:latin typeface="+mn-lt"/>
              <a:ea typeface="+mn-ea"/>
              <a:cs typeface="+mn-cs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7F8FCE9-BA13-9185-11B9-35C4003FF788}"/>
              </a:ext>
            </a:extLst>
          </p:cNvPr>
          <p:cNvSpPr/>
          <p:nvPr/>
        </p:nvSpPr>
        <p:spPr>
          <a:xfrm>
            <a:off x="501533" y="1143345"/>
            <a:ext cx="3583064" cy="50341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BFCF45E-6767-D7AF-BD17-1EE36C8492CC}"/>
              </a:ext>
            </a:extLst>
          </p:cNvPr>
          <p:cNvSpPr/>
          <p:nvPr/>
        </p:nvSpPr>
        <p:spPr>
          <a:xfrm>
            <a:off x="1222481" y="892159"/>
            <a:ext cx="2121449" cy="454026"/>
          </a:xfrm>
          <a:prstGeom prst="rect">
            <a:avLst/>
          </a:prstGeom>
          <a:solidFill>
            <a:srgbClr val="E6E7E8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Version A</a:t>
            </a:r>
            <a:endParaRPr lang="ko-KR" altLang="en-US" b="1" dirty="0"/>
          </a:p>
        </p:txBody>
      </p:sp>
      <p:pic>
        <p:nvPicPr>
          <p:cNvPr id="5" name="그림 4" descr="텍스트, 스크린샷, 그래프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1500EFA-6078-76A8-FFE9-39FAB8FF58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645" y="1382748"/>
            <a:ext cx="2737884" cy="2175640"/>
          </a:xfrm>
          <a:prstGeom prst="rect">
            <a:avLst/>
          </a:prstGeom>
        </p:spPr>
      </p:pic>
      <p:pic>
        <p:nvPicPr>
          <p:cNvPr id="14" name="그림 13" descr="텍스트, 스크린샷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86FFBAB-BB43-3EFC-A07F-5A051C0E0A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5384" y="1376773"/>
            <a:ext cx="2878290" cy="2287213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6C69D180-FC82-AE6A-99E8-AC4A7ED610FE}"/>
              </a:ext>
            </a:extLst>
          </p:cNvPr>
          <p:cNvSpPr/>
          <p:nvPr/>
        </p:nvSpPr>
        <p:spPr>
          <a:xfrm>
            <a:off x="8154501" y="1143344"/>
            <a:ext cx="3535967" cy="50341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4177D6F-DFCC-045C-D962-F23A5580729C}"/>
              </a:ext>
            </a:extLst>
          </p:cNvPr>
          <p:cNvSpPr/>
          <p:nvPr/>
        </p:nvSpPr>
        <p:spPr>
          <a:xfrm>
            <a:off x="8734355" y="892159"/>
            <a:ext cx="2121449" cy="454026"/>
          </a:xfrm>
          <a:prstGeom prst="rect">
            <a:avLst/>
          </a:prstGeom>
          <a:solidFill>
            <a:srgbClr val="E6E7E8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Version C</a:t>
            </a:r>
            <a:endParaRPr lang="ko-KR" altLang="en-US" b="1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8BB1E8B-BDED-0DF9-BE0C-C6D9D7CBA71A}"/>
              </a:ext>
            </a:extLst>
          </p:cNvPr>
          <p:cNvSpPr/>
          <p:nvPr/>
        </p:nvSpPr>
        <p:spPr>
          <a:xfrm>
            <a:off x="4281018" y="1143345"/>
            <a:ext cx="3677062" cy="50341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3567E17-B20C-9C06-8ACE-5FC45101AA6D}"/>
              </a:ext>
            </a:extLst>
          </p:cNvPr>
          <p:cNvSpPr/>
          <p:nvPr/>
        </p:nvSpPr>
        <p:spPr>
          <a:xfrm>
            <a:off x="5001966" y="892159"/>
            <a:ext cx="2121449" cy="454026"/>
          </a:xfrm>
          <a:prstGeom prst="rect">
            <a:avLst/>
          </a:prstGeom>
          <a:solidFill>
            <a:srgbClr val="E6E7E8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Version B</a:t>
            </a:r>
            <a:endParaRPr lang="ko-KR" altLang="en-US" b="1" dirty="0"/>
          </a:p>
        </p:txBody>
      </p:sp>
      <p:pic>
        <p:nvPicPr>
          <p:cNvPr id="30" name="그림 29" descr="텍스트, 스크린샷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94AEAD2-C096-FBED-2945-4BF2FD5745E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645" y="3797791"/>
            <a:ext cx="2737884" cy="2175640"/>
          </a:xfrm>
          <a:prstGeom prst="rect">
            <a:avLst/>
          </a:prstGeom>
        </p:spPr>
      </p:pic>
      <p:pic>
        <p:nvPicPr>
          <p:cNvPr id="32" name="그림 31" descr="텍스트, 스크린샷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786EA69-4FE0-D932-58C7-86989D81BD5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5384" y="3758093"/>
            <a:ext cx="2878290" cy="2287213"/>
          </a:xfrm>
          <a:prstGeom prst="rect">
            <a:avLst/>
          </a:prstGeom>
        </p:spPr>
      </p:pic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A9A92324-2511-F812-8B2F-FBE0AE13B916}"/>
              </a:ext>
            </a:extLst>
          </p:cNvPr>
          <p:cNvCxnSpPr>
            <a:cxnSpLocks/>
          </p:cNvCxnSpPr>
          <p:nvPr/>
        </p:nvCxnSpPr>
        <p:spPr>
          <a:xfrm>
            <a:off x="641095" y="3706139"/>
            <a:ext cx="293144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9DFB1733-62F1-03AA-CFD5-89C603184797}"/>
              </a:ext>
            </a:extLst>
          </p:cNvPr>
          <p:cNvCxnSpPr/>
          <p:nvPr/>
        </p:nvCxnSpPr>
        <p:spPr>
          <a:xfrm>
            <a:off x="4453890" y="3706139"/>
            <a:ext cx="32842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22375CA1-7F18-A1E6-EE3C-EB0BD56F19D5}"/>
              </a:ext>
            </a:extLst>
          </p:cNvPr>
          <p:cNvCxnSpPr/>
          <p:nvPr/>
        </p:nvCxnSpPr>
        <p:spPr>
          <a:xfrm>
            <a:off x="8280374" y="3704928"/>
            <a:ext cx="32842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92980F6D-FFDE-6798-250D-368FB629E089}"/>
              </a:ext>
            </a:extLst>
          </p:cNvPr>
          <p:cNvSpPr txBox="1"/>
          <p:nvPr/>
        </p:nvSpPr>
        <p:spPr>
          <a:xfrm>
            <a:off x="501532" y="6262575"/>
            <a:ext cx="11188936" cy="45429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 dirty="0"/>
              <a:t>모든 버전에서 두 그래프가 유사한 패턴을 보이며</a:t>
            </a:r>
            <a:r>
              <a:rPr lang="en-US" altLang="ko-KR" b="1" dirty="0"/>
              <a:t> </a:t>
            </a:r>
            <a:r>
              <a:rPr lang="ko-KR" altLang="en-US" b="1" dirty="0"/>
              <a:t>초반에 수렴하는 양상을 보임</a:t>
            </a:r>
          </a:p>
        </p:txBody>
      </p:sp>
      <p:pic>
        <p:nvPicPr>
          <p:cNvPr id="4" name="그림 3" descr="텍스트, 스크린샷, 그래프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2E2ED29-10B8-CBCC-C56B-EEAB641E3B1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0037" y="1387846"/>
            <a:ext cx="2851925" cy="2233236"/>
          </a:xfrm>
          <a:prstGeom prst="rect">
            <a:avLst/>
          </a:prstGeom>
        </p:spPr>
      </p:pic>
      <p:pic>
        <p:nvPicPr>
          <p:cNvPr id="7" name="그림 6" descr="텍스트, 스크린샷, 그래프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35A55CC-3506-C273-DD59-A5ACBECA363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0434" y="3794163"/>
            <a:ext cx="2831131" cy="2251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9390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71217-DCA3-EA7F-215F-0EE413668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D7EAFD-DF00-0362-D467-D9AB8AE76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/>
              <a:t>5. </a:t>
            </a:r>
            <a:r>
              <a:rPr lang="ko-KR" altLang="en-US" dirty="0"/>
              <a:t>실험 결과 </a:t>
            </a:r>
            <a:r>
              <a:rPr lang="en-US" altLang="ko-KR" dirty="0"/>
              <a:t>– </a:t>
            </a:r>
            <a:r>
              <a:rPr lang="ko-KR" altLang="en-US" dirty="0">
                <a:latin typeface="+mn-lt"/>
                <a:ea typeface="+mn-ea"/>
                <a:cs typeface="+mn-cs"/>
              </a:rPr>
              <a:t>성능 비교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7F8FCE9-BA13-9185-11B9-35C4003FF788}"/>
              </a:ext>
            </a:extLst>
          </p:cNvPr>
          <p:cNvSpPr/>
          <p:nvPr/>
        </p:nvSpPr>
        <p:spPr>
          <a:xfrm>
            <a:off x="501533" y="1143345"/>
            <a:ext cx="11130906" cy="545957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BFCF45E-6767-D7AF-BD17-1EE36C8492CC}"/>
              </a:ext>
            </a:extLst>
          </p:cNvPr>
          <p:cNvSpPr/>
          <p:nvPr/>
        </p:nvSpPr>
        <p:spPr>
          <a:xfrm>
            <a:off x="4927207" y="922276"/>
            <a:ext cx="2121449" cy="454026"/>
          </a:xfrm>
          <a:prstGeom prst="rect">
            <a:avLst/>
          </a:prstGeom>
          <a:solidFill>
            <a:srgbClr val="E6E7E8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제어 성능 비교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표 6">
                <a:extLst>
                  <a:ext uri="{FF2B5EF4-FFF2-40B4-BE49-F238E27FC236}">
                    <a16:creationId xmlns:a16="http://schemas.microsoft.com/office/drawing/2014/main" id="{2B44E368-E3D7-E822-DB3D-488D2C8726E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01573629"/>
                  </p:ext>
                </p:extLst>
              </p:nvPr>
            </p:nvGraphicFramePr>
            <p:xfrm>
              <a:off x="1083506" y="2896477"/>
              <a:ext cx="9966960" cy="2463800"/>
            </p:xfrm>
            <a:graphic>
              <a:graphicData uri="http://schemas.openxmlformats.org/drawingml/2006/table">
                <a:tbl>
                  <a:tblPr firstRow="1" bandRow="1">
                    <a:tableStyleId>{9D7B26C5-4107-4FEC-AEDC-1716B250A1EF}</a:tableStyleId>
                  </a:tblPr>
                  <a:tblGrid>
                    <a:gridCol w="1993392">
                      <a:extLst>
                        <a:ext uri="{9D8B030D-6E8A-4147-A177-3AD203B41FA5}">
                          <a16:colId xmlns:a16="http://schemas.microsoft.com/office/drawing/2014/main" val="3820773273"/>
                        </a:ext>
                      </a:extLst>
                    </a:gridCol>
                    <a:gridCol w="1993392">
                      <a:extLst>
                        <a:ext uri="{9D8B030D-6E8A-4147-A177-3AD203B41FA5}">
                          <a16:colId xmlns:a16="http://schemas.microsoft.com/office/drawing/2014/main" val="3538527597"/>
                        </a:ext>
                      </a:extLst>
                    </a:gridCol>
                    <a:gridCol w="1993392">
                      <a:extLst>
                        <a:ext uri="{9D8B030D-6E8A-4147-A177-3AD203B41FA5}">
                          <a16:colId xmlns:a16="http://schemas.microsoft.com/office/drawing/2014/main" val="3741072603"/>
                        </a:ext>
                      </a:extLst>
                    </a:gridCol>
                    <a:gridCol w="1846402">
                      <a:extLst>
                        <a:ext uri="{9D8B030D-6E8A-4147-A177-3AD203B41FA5}">
                          <a16:colId xmlns:a16="http://schemas.microsoft.com/office/drawing/2014/main" val="2453531"/>
                        </a:ext>
                      </a:extLst>
                    </a:gridCol>
                    <a:gridCol w="2140382">
                      <a:extLst>
                        <a:ext uri="{9D8B030D-6E8A-4147-A177-3AD203B41FA5}">
                          <a16:colId xmlns:a16="http://schemas.microsoft.com/office/drawing/2014/main" val="2226156741"/>
                        </a:ext>
                      </a:extLst>
                    </a:gridCol>
                  </a:tblGrid>
                  <a:tr h="49276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Method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dirty="0"/>
                            <a:t>연비</a:t>
                          </a:r>
                          <a:r>
                            <a:rPr lang="en-US" altLang="ko-KR" dirty="0"/>
                            <a:t>(km/kWh)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dirty="0"/>
                            <a:t>비교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dirty="0"/>
                            <a:t>변속 횟수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dirty="0"/>
                            <a:t>속도 </a:t>
                          </a:r>
                          <a:r>
                            <a:rPr lang="en-US" altLang="ko-KR" dirty="0"/>
                            <a:t>RMS Error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87307341"/>
                      </a:ext>
                    </a:extLst>
                  </a:tr>
                  <a:tr h="49276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Rule based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17.02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-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42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0.02784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67787443"/>
                      </a:ext>
                    </a:extLst>
                  </a:tr>
                  <a:tr h="49276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Version A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15.52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</m:t>
                              </m:r>
                            </m:oMath>
                          </a14:m>
                          <a:r>
                            <a:rPr lang="ko-KR" altLang="en-US" dirty="0"/>
                            <a:t> </a:t>
                          </a:r>
                          <a:r>
                            <a:rPr lang="en-US" altLang="ko-KR" dirty="0"/>
                            <a:t>0.21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rgbClr val="FF0000"/>
                              </a:solidFill>
                            </a:rPr>
                            <a:t>-8.8%</a:t>
                          </a:r>
                          <a:endParaRPr lang="ko-KR" alt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635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</m:t>
                              </m:r>
                            </m:oMath>
                          </a14:m>
                          <a:r>
                            <a:rPr lang="ko-KR" altLang="en-US" dirty="0"/>
                            <a:t> </a:t>
                          </a:r>
                          <a:r>
                            <a:rPr lang="en-US" altLang="ko-KR" dirty="0"/>
                            <a:t>381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0.03212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</m:t>
                              </m:r>
                            </m:oMath>
                          </a14:m>
                          <a:r>
                            <a:rPr lang="ko-KR" altLang="en-US" dirty="0"/>
                            <a:t> </a:t>
                          </a:r>
                          <a:r>
                            <a:rPr lang="en-US" altLang="ko-KR" dirty="0"/>
                            <a:t>0.00507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88252338"/>
                      </a:ext>
                    </a:extLst>
                  </a:tr>
                  <a:tr h="49276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Version B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15.58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</m:t>
                              </m:r>
                            </m:oMath>
                          </a14:m>
                          <a:r>
                            <a:rPr lang="ko-KR" altLang="en-US" dirty="0"/>
                            <a:t> </a:t>
                          </a:r>
                          <a:r>
                            <a:rPr lang="en-US" altLang="ko-KR" dirty="0"/>
                            <a:t>0.13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>
                              <a:solidFill>
                                <a:srgbClr val="FF0000"/>
                              </a:solidFill>
                            </a:rPr>
                            <a:t>-8.5%</a:t>
                          </a:r>
                          <a:endParaRPr lang="ko-KR" alt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128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</m:t>
                              </m:r>
                            </m:oMath>
                          </a14:m>
                          <a:r>
                            <a:rPr lang="ko-KR" altLang="en-US" dirty="0"/>
                            <a:t> </a:t>
                          </a:r>
                          <a:r>
                            <a:rPr lang="en-US" altLang="ko-KR" dirty="0"/>
                            <a:t>126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0.034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</m:t>
                              </m:r>
                            </m:oMath>
                          </a14:m>
                          <a:r>
                            <a:rPr lang="ko-KR" altLang="en-US" dirty="0"/>
                            <a:t> </a:t>
                          </a:r>
                          <a:r>
                            <a:rPr lang="en-US" altLang="ko-KR" dirty="0"/>
                            <a:t>0.003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50240982"/>
                      </a:ext>
                    </a:extLst>
                  </a:tr>
                  <a:tr h="49276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Version C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15.59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</m:t>
                              </m:r>
                            </m:oMath>
                          </a14:m>
                          <a:r>
                            <a:rPr lang="ko-KR" altLang="en-US" dirty="0"/>
                            <a:t> </a:t>
                          </a:r>
                          <a:r>
                            <a:rPr lang="en-US" altLang="ko-KR" dirty="0"/>
                            <a:t>0.14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>
                              <a:solidFill>
                                <a:srgbClr val="FF0000"/>
                              </a:solidFill>
                            </a:rPr>
                            <a:t>-8.4%</a:t>
                          </a:r>
                          <a:endParaRPr lang="ko-KR" alt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146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</m:t>
                              </m:r>
                            </m:oMath>
                          </a14:m>
                          <a:r>
                            <a:rPr lang="ko-KR" altLang="en-US" dirty="0"/>
                            <a:t> </a:t>
                          </a:r>
                          <a:r>
                            <a:rPr lang="en-US" altLang="ko-KR" dirty="0"/>
                            <a:t>143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0.03713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</m:t>
                              </m:r>
                            </m:oMath>
                          </a14:m>
                          <a:r>
                            <a:rPr lang="en-US" altLang="ko-KR" dirty="0"/>
                            <a:t>0.0005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3404937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표 6">
                <a:extLst>
                  <a:ext uri="{FF2B5EF4-FFF2-40B4-BE49-F238E27FC236}">
                    <a16:creationId xmlns:a16="http://schemas.microsoft.com/office/drawing/2014/main" id="{2B44E368-E3D7-E822-DB3D-488D2C8726E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01573629"/>
                  </p:ext>
                </p:extLst>
              </p:nvPr>
            </p:nvGraphicFramePr>
            <p:xfrm>
              <a:off x="1083506" y="2896477"/>
              <a:ext cx="9966960" cy="2463800"/>
            </p:xfrm>
            <a:graphic>
              <a:graphicData uri="http://schemas.openxmlformats.org/drawingml/2006/table">
                <a:tbl>
                  <a:tblPr firstRow="1" bandRow="1">
                    <a:tableStyleId>{9D7B26C5-4107-4FEC-AEDC-1716B250A1EF}</a:tableStyleId>
                  </a:tblPr>
                  <a:tblGrid>
                    <a:gridCol w="1993392">
                      <a:extLst>
                        <a:ext uri="{9D8B030D-6E8A-4147-A177-3AD203B41FA5}">
                          <a16:colId xmlns:a16="http://schemas.microsoft.com/office/drawing/2014/main" val="3820773273"/>
                        </a:ext>
                      </a:extLst>
                    </a:gridCol>
                    <a:gridCol w="1993392">
                      <a:extLst>
                        <a:ext uri="{9D8B030D-6E8A-4147-A177-3AD203B41FA5}">
                          <a16:colId xmlns:a16="http://schemas.microsoft.com/office/drawing/2014/main" val="3538527597"/>
                        </a:ext>
                      </a:extLst>
                    </a:gridCol>
                    <a:gridCol w="1993392">
                      <a:extLst>
                        <a:ext uri="{9D8B030D-6E8A-4147-A177-3AD203B41FA5}">
                          <a16:colId xmlns:a16="http://schemas.microsoft.com/office/drawing/2014/main" val="3741072603"/>
                        </a:ext>
                      </a:extLst>
                    </a:gridCol>
                    <a:gridCol w="1846402">
                      <a:extLst>
                        <a:ext uri="{9D8B030D-6E8A-4147-A177-3AD203B41FA5}">
                          <a16:colId xmlns:a16="http://schemas.microsoft.com/office/drawing/2014/main" val="2453531"/>
                        </a:ext>
                      </a:extLst>
                    </a:gridCol>
                    <a:gridCol w="2140382">
                      <a:extLst>
                        <a:ext uri="{9D8B030D-6E8A-4147-A177-3AD203B41FA5}">
                          <a16:colId xmlns:a16="http://schemas.microsoft.com/office/drawing/2014/main" val="2226156741"/>
                        </a:ext>
                      </a:extLst>
                    </a:gridCol>
                  </a:tblGrid>
                  <a:tr h="49276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Method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dirty="0"/>
                            <a:t>연비</a:t>
                          </a:r>
                          <a:r>
                            <a:rPr lang="en-US" altLang="ko-KR" dirty="0"/>
                            <a:t>(km/kWh)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dirty="0"/>
                            <a:t>비교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dirty="0"/>
                            <a:t>변속 횟수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dirty="0"/>
                            <a:t>속도 </a:t>
                          </a:r>
                          <a:r>
                            <a:rPr lang="en-US" altLang="ko-KR" dirty="0"/>
                            <a:t>RMS Error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87307341"/>
                      </a:ext>
                    </a:extLst>
                  </a:tr>
                  <a:tr h="49276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Rule based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17.02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-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42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0.02784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67787443"/>
                      </a:ext>
                    </a:extLst>
                  </a:tr>
                  <a:tr h="49276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Version A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000" t="-201235" r="-300612" b="-2061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rgbClr val="FF0000"/>
                              </a:solidFill>
                            </a:rPr>
                            <a:t>-8.8%</a:t>
                          </a:r>
                          <a:endParaRPr lang="ko-KR" alt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24092" t="-201235" r="-116172" b="-2061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66097" t="-201235" r="-285" b="-2061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88252338"/>
                      </a:ext>
                    </a:extLst>
                  </a:tr>
                  <a:tr h="49276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Version B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000" t="-301235" r="-300612" b="-1061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>
                              <a:solidFill>
                                <a:srgbClr val="FF0000"/>
                              </a:solidFill>
                            </a:rPr>
                            <a:t>-8.5%</a:t>
                          </a:r>
                          <a:endParaRPr lang="ko-KR" alt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24092" t="-301235" r="-116172" b="-1061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66097" t="-301235" r="-285" b="-1061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50240982"/>
                      </a:ext>
                    </a:extLst>
                  </a:tr>
                  <a:tr h="49276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Version C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000" t="-401235" r="-300612" b="-61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>
                              <a:solidFill>
                                <a:srgbClr val="FF0000"/>
                              </a:solidFill>
                            </a:rPr>
                            <a:t>-8.4%</a:t>
                          </a:r>
                          <a:endParaRPr lang="ko-KR" alt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24092" t="-401235" r="-116172" b="-61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66097" t="-401235" r="-285" b="-61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3404937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403C74B-720D-5CDB-DF70-D1528A1E2F55}"/>
                  </a:ext>
                </a:extLst>
              </p:cNvPr>
              <p:cNvSpPr txBox="1"/>
              <p:nvPr/>
            </p:nvSpPr>
            <p:spPr>
              <a:xfrm>
                <a:off x="7795047" y="1571013"/>
                <a:ext cx="3679285" cy="8697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b="1" dirty="0">
                    <a:ea typeface="Cambria Math" panose="02040503050406030204" pitchFamily="18" charset="0"/>
                  </a:rPr>
                  <a:t>*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</m:oMath>
                </a14:m>
                <a:r>
                  <a:rPr lang="ko-KR" altLang="en-US" b="1" dirty="0"/>
                  <a:t>은 </a:t>
                </a:r>
                <a:r>
                  <a:rPr lang="en-US" altLang="ko-KR" b="1" dirty="0"/>
                  <a:t>Seed </a:t>
                </a:r>
                <a:r>
                  <a:rPr lang="ko-KR" altLang="en-US" b="1" dirty="0"/>
                  <a:t>변경 시 변동 범위</a:t>
                </a:r>
                <a:endParaRPr lang="en-US" altLang="ko-KR" b="1" dirty="0"/>
              </a:p>
              <a:p>
                <a:pPr>
                  <a:lnSpc>
                    <a:spcPct val="150000"/>
                  </a:lnSpc>
                </a:pPr>
                <a:r>
                  <a:rPr lang="en-US" altLang="ko-KR" b="1" dirty="0"/>
                  <a:t>* </a:t>
                </a:r>
                <a:r>
                  <a:rPr lang="ko-KR" altLang="en-US" b="1" dirty="0"/>
                  <a:t>비교는 </a:t>
                </a:r>
                <a:r>
                  <a:rPr lang="en-US" altLang="ko-KR" b="1" dirty="0"/>
                  <a:t>Rule Based </a:t>
                </a:r>
                <a:r>
                  <a:rPr lang="ko-KR" altLang="en-US" b="1" dirty="0"/>
                  <a:t>대비 변화율  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403C74B-720D-5CDB-DF70-D1528A1E2F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5047" y="1571013"/>
                <a:ext cx="3679285" cy="869790"/>
              </a:xfrm>
              <a:prstGeom prst="rect">
                <a:avLst/>
              </a:prstGeom>
              <a:blipFill>
                <a:blip r:embed="rId4"/>
                <a:stretch>
                  <a:fillRect l="-1493" r="-663" b="-105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5699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71217-DCA3-EA7F-215F-0EE413668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그림 25" descr="텍스트, 도표, 스크린샷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4774CCF-47A4-28B9-C05D-3D7980BD20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796" y="1388662"/>
            <a:ext cx="4279483" cy="425422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2D7EAFD-DF00-0362-D467-D9AB8AE76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/>
              <a:t>6. </a:t>
            </a:r>
            <a:r>
              <a:rPr lang="ko-KR" altLang="en-US" dirty="0"/>
              <a:t>결과 분석 및 결론 </a:t>
            </a:r>
            <a:r>
              <a:rPr lang="en-US" altLang="ko-KR" dirty="0"/>
              <a:t>– </a:t>
            </a:r>
            <a:r>
              <a:rPr lang="ko-KR" altLang="en-US" dirty="0"/>
              <a:t>연비 성능 비교</a:t>
            </a:r>
            <a:endParaRPr lang="ko-KR" altLang="en-US" dirty="0">
              <a:latin typeface="+mn-lt"/>
              <a:ea typeface="+mn-ea"/>
              <a:cs typeface="+mn-cs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7F8FCE9-BA13-9185-11B9-35C4003FF788}"/>
              </a:ext>
            </a:extLst>
          </p:cNvPr>
          <p:cNvSpPr/>
          <p:nvPr/>
        </p:nvSpPr>
        <p:spPr>
          <a:xfrm>
            <a:off x="501533" y="1143345"/>
            <a:ext cx="11130906" cy="545957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BFCF45E-6767-D7AF-BD17-1EE36C8492CC}"/>
              </a:ext>
            </a:extLst>
          </p:cNvPr>
          <p:cNvSpPr/>
          <p:nvPr/>
        </p:nvSpPr>
        <p:spPr>
          <a:xfrm>
            <a:off x="4927207" y="922276"/>
            <a:ext cx="2121449" cy="454026"/>
          </a:xfrm>
          <a:prstGeom prst="rect">
            <a:avLst/>
          </a:prstGeom>
          <a:solidFill>
            <a:srgbClr val="E6E7E8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연비 비교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D299CE-8DB5-43BB-537D-AC5ABFFD8E8F}"/>
              </a:ext>
            </a:extLst>
          </p:cNvPr>
          <p:cNvSpPr txBox="1"/>
          <p:nvPr/>
        </p:nvSpPr>
        <p:spPr>
          <a:xfrm>
            <a:off x="6427379" y="1528808"/>
            <a:ext cx="5046953" cy="4609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b="1" dirty="0"/>
              <a:t>원인 분석</a:t>
            </a:r>
            <a:endParaRPr lang="en-US" altLang="ko-KR" b="1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b="1" dirty="0"/>
          </a:p>
          <a:p>
            <a:pPr>
              <a:lnSpc>
                <a:spcPct val="150000"/>
              </a:lnSpc>
            </a:pPr>
            <a:r>
              <a:rPr lang="en-US" altLang="ko-KR" b="1" dirty="0"/>
              <a:t>1. </a:t>
            </a:r>
            <a:r>
              <a:rPr lang="ko-KR" altLang="en-US" b="1" dirty="0"/>
              <a:t>과도한 변속의 영향</a:t>
            </a:r>
            <a:endParaRPr lang="en-US" altLang="ko-KR" b="1" dirty="0"/>
          </a:p>
          <a:p>
            <a:pPr>
              <a:lnSpc>
                <a:spcPct val="150000"/>
              </a:lnSpc>
            </a:pPr>
            <a:r>
              <a:rPr lang="en-US" altLang="ko-KR" dirty="0"/>
              <a:t>  - </a:t>
            </a:r>
            <a:r>
              <a:rPr lang="ko-KR" altLang="en-US" dirty="0"/>
              <a:t>변속 시 동력전달 끊김 및 마찰로 인한 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    </a:t>
            </a:r>
            <a:r>
              <a:rPr lang="ko-KR" altLang="en-US" dirty="0"/>
              <a:t>동력 손실 증가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b="1" dirty="0"/>
              <a:t>2. Reward </a:t>
            </a:r>
            <a:r>
              <a:rPr lang="ko-KR" altLang="en-US" b="1" dirty="0"/>
              <a:t>함수와 실제 연비 간 괴리</a:t>
            </a:r>
            <a:endParaRPr lang="en-US" altLang="ko-KR" b="1" dirty="0"/>
          </a:p>
          <a:p>
            <a:pPr>
              <a:lnSpc>
                <a:spcPct val="150000"/>
              </a:lnSpc>
            </a:pPr>
            <a:r>
              <a:rPr lang="en-US" altLang="ko-KR" dirty="0"/>
              <a:t>  - Reward </a:t>
            </a:r>
            <a:r>
              <a:rPr lang="ko-KR" altLang="en-US" dirty="0"/>
              <a:t>함수에서는 모터 효율 값을 사용함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  - </a:t>
            </a:r>
            <a:r>
              <a:rPr lang="ko-KR" altLang="en-US" dirty="0"/>
              <a:t>순간 효율과 누적 효율 간의 괴리가 발생했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    </a:t>
            </a:r>
            <a:r>
              <a:rPr lang="ko-KR" altLang="en-US" dirty="0"/>
              <a:t>을 수 있음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9D8B2B9-EB62-7CCE-7608-36471687CCEB}"/>
              </a:ext>
            </a:extLst>
          </p:cNvPr>
          <p:cNvSpPr txBox="1"/>
          <p:nvPr/>
        </p:nvSpPr>
        <p:spPr>
          <a:xfrm>
            <a:off x="640080" y="5581923"/>
            <a:ext cx="5455920" cy="869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dirty="0"/>
              <a:t>강화학습 결과가 </a:t>
            </a:r>
            <a:r>
              <a:rPr lang="en-US" altLang="ko-KR" dirty="0"/>
              <a:t>Rule based Logic</a:t>
            </a:r>
            <a:r>
              <a:rPr lang="ko-KR" altLang="en-US" dirty="0"/>
              <a:t>보다 </a:t>
            </a:r>
            <a:endParaRPr lang="en-US" altLang="ko-KR" dirty="0"/>
          </a:p>
          <a:p>
            <a:pPr algn="ctr">
              <a:lnSpc>
                <a:spcPct val="150000"/>
              </a:lnSpc>
            </a:pPr>
            <a:r>
              <a:rPr lang="ko-KR" altLang="en-US" dirty="0"/>
              <a:t>약 </a:t>
            </a:r>
            <a:r>
              <a:rPr lang="en-US" altLang="ko-KR" dirty="0">
                <a:solidFill>
                  <a:srgbClr val="FF0000"/>
                </a:solidFill>
              </a:rPr>
              <a:t>8~9% </a:t>
            </a:r>
            <a:r>
              <a:rPr lang="ko-KR" altLang="en-US" dirty="0"/>
              <a:t>낮음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8093992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71217-DCA3-EA7F-215F-0EE413668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D7EAFD-DF00-0362-D467-D9AB8AE76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/>
              <a:t>6. </a:t>
            </a:r>
            <a:r>
              <a:rPr lang="ko-KR" altLang="en-US" dirty="0"/>
              <a:t>결과 분석 및 결론 </a:t>
            </a:r>
            <a:r>
              <a:rPr lang="en-US" altLang="ko-KR" dirty="0"/>
              <a:t>– </a:t>
            </a:r>
            <a:r>
              <a:rPr lang="ko-KR" altLang="en-US" dirty="0"/>
              <a:t>변속 및 속도 추종</a:t>
            </a:r>
            <a:endParaRPr lang="ko-KR" altLang="en-US" dirty="0">
              <a:latin typeface="+mn-lt"/>
              <a:ea typeface="+mn-ea"/>
              <a:cs typeface="+mn-cs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7F8FCE9-BA13-9185-11B9-35C4003FF788}"/>
              </a:ext>
            </a:extLst>
          </p:cNvPr>
          <p:cNvSpPr/>
          <p:nvPr/>
        </p:nvSpPr>
        <p:spPr>
          <a:xfrm>
            <a:off x="501533" y="1143345"/>
            <a:ext cx="5491687" cy="545957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BFCF45E-6767-D7AF-BD17-1EE36C8492CC}"/>
              </a:ext>
            </a:extLst>
          </p:cNvPr>
          <p:cNvSpPr/>
          <p:nvPr/>
        </p:nvSpPr>
        <p:spPr>
          <a:xfrm>
            <a:off x="2186651" y="916332"/>
            <a:ext cx="2121449" cy="454026"/>
          </a:xfrm>
          <a:prstGeom prst="rect">
            <a:avLst/>
          </a:prstGeom>
          <a:solidFill>
            <a:srgbClr val="E6E7E8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변속 비교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87D30FD-0640-A335-476B-9120E69AA2C3}"/>
              </a:ext>
            </a:extLst>
          </p:cNvPr>
          <p:cNvSpPr/>
          <p:nvPr/>
        </p:nvSpPr>
        <p:spPr>
          <a:xfrm>
            <a:off x="6198781" y="1143345"/>
            <a:ext cx="5491686" cy="545957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A24724A-F087-B977-B37E-206402595987}"/>
              </a:ext>
            </a:extLst>
          </p:cNvPr>
          <p:cNvSpPr/>
          <p:nvPr/>
        </p:nvSpPr>
        <p:spPr>
          <a:xfrm>
            <a:off x="7883900" y="916332"/>
            <a:ext cx="2121449" cy="454026"/>
          </a:xfrm>
          <a:prstGeom prst="rect">
            <a:avLst/>
          </a:prstGeom>
          <a:solidFill>
            <a:srgbClr val="E6E7E8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속도 추종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9C36A5-4664-8023-A649-E263997DA0D3}"/>
              </a:ext>
            </a:extLst>
          </p:cNvPr>
          <p:cNvSpPr txBox="1"/>
          <p:nvPr/>
        </p:nvSpPr>
        <p:spPr>
          <a:xfrm>
            <a:off x="6458294" y="5780858"/>
            <a:ext cx="49308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모든 </a:t>
            </a:r>
            <a:r>
              <a:rPr lang="en-US" altLang="ko-KR" dirty="0"/>
              <a:t>case</a:t>
            </a:r>
            <a:r>
              <a:rPr lang="ko-KR" altLang="en-US" dirty="0"/>
              <a:t>가 속도를 잘 추종하는 경향을 보임</a:t>
            </a:r>
            <a:endParaRPr lang="en-US" altLang="ko-KR" dirty="0"/>
          </a:p>
          <a:p>
            <a:pPr algn="ctr"/>
            <a:r>
              <a:rPr lang="en-US" altLang="ko-KR" dirty="0"/>
              <a:t>(RMS Error : </a:t>
            </a:r>
            <a:r>
              <a:rPr lang="ko-KR" altLang="en-US" dirty="0"/>
              <a:t>약 </a:t>
            </a:r>
            <a:r>
              <a:rPr lang="en-US" altLang="ko-KR" dirty="0"/>
              <a:t>0.003)</a:t>
            </a:r>
            <a:endParaRPr lang="ko-KR" altLang="en-US" dirty="0"/>
          </a:p>
        </p:txBody>
      </p:sp>
      <p:pic>
        <p:nvPicPr>
          <p:cNvPr id="8" name="그림 7" descr="스크린샷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976245E-C032-2AFD-C1F4-396D50EB2F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8804" y="3521825"/>
            <a:ext cx="4648854" cy="2094809"/>
          </a:xfrm>
          <a:prstGeom prst="rect">
            <a:avLst/>
          </a:prstGeom>
        </p:spPr>
      </p:pic>
      <p:pic>
        <p:nvPicPr>
          <p:cNvPr id="10" name="그림 9" descr="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D492B8A-FB6F-5039-341E-14AF6991E0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8804" y="1419648"/>
            <a:ext cx="4648854" cy="2124556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C0495BBA-BFAA-5DB0-D0FE-73BF4F1A1882}"/>
              </a:ext>
            </a:extLst>
          </p:cNvPr>
          <p:cNvCxnSpPr/>
          <p:nvPr/>
        </p:nvCxnSpPr>
        <p:spPr>
          <a:xfrm>
            <a:off x="9826656" y="1784510"/>
            <a:ext cx="248556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0AD01A2-2F13-7D05-B9D4-4D11AE77019F}"/>
              </a:ext>
            </a:extLst>
          </p:cNvPr>
          <p:cNvSpPr txBox="1"/>
          <p:nvPr/>
        </p:nvSpPr>
        <p:spPr>
          <a:xfrm>
            <a:off x="10052352" y="1639730"/>
            <a:ext cx="18745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</a:rPr>
              <a:t>: </a:t>
            </a:r>
            <a:r>
              <a:rPr lang="ko-KR" altLang="en-US" sz="1200" dirty="0">
                <a:solidFill>
                  <a:schemeClr val="bg1"/>
                </a:solidFill>
              </a:rPr>
              <a:t>목표 속도</a:t>
            </a: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54B3610F-FCA1-A67A-72AC-453B23A98FCD}"/>
              </a:ext>
            </a:extLst>
          </p:cNvPr>
          <p:cNvCxnSpPr/>
          <p:nvPr/>
        </p:nvCxnSpPr>
        <p:spPr>
          <a:xfrm>
            <a:off x="9826656" y="3839071"/>
            <a:ext cx="248556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D9451F8-9C96-6D9C-B115-CF17CF8B831B}"/>
              </a:ext>
            </a:extLst>
          </p:cNvPr>
          <p:cNvSpPr txBox="1"/>
          <p:nvPr/>
        </p:nvSpPr>
        <p:spPr>
          <a:xfrm>
            <a:off x="10052352" y="3694291"/>
            <a:ext cx="18745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</a:rPr>
              <a:t>: </a:t>
            </a:r>
            <a:r>
              <a:rPr lang="ko-KR" altLang="en-US" sz="1200" dirty="0">
                <a:solidFill>
                  <a:schemeClr val="bg1"/>
                </a:solidFill>
              </a:rPr>
              <a:t>차량 속도</a:t>
            </a:r>
          </a:p>
        </p:txBody>
      </p:sp>
      <p:pic>
        <p:nvPicPr>
          <p:cNvPr id="21" name="그림 20" descr="텍스트, 도표, 스크린샷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ECD9649-DDD2-9B6B-07BA-4EB86C866F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872" y="1419648"/>
            <a:ext cx="4507513" cy="444425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1A3FF9E8-37C9-98DD-7739-69FEF9D1A8D5}"/>
              </a:ext>
            </a:extLst>
          </p:cNvPr>
          <p:cNvSpPr txBox="1"/>
          <p:nvPr/>
        </p:nvSpPr>
        <p:spPr>
          <a:xfrm>
            <a:off x="599774" y="6090911"/>
            <a:ext cx="5388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과도한 변속 추구로 비현실적인 수준의 변속 발생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843748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71217-DCA3-EA7F-215F-0EE413668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D7EAFD-DF00-0362-D467-D9AB8AE76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/>
              <a:t>6. </a:t>
            </a:r>
            <a:r>
              <a:rPr lang="ko-KR" altLang="en-US" dirty="0"/>
              <a:t>결과 분석 및 결론 </a:t>
            </a:r>
            <a:r>
              <a:rPr lang="en-US" altLang="ko-KR" dirty="0"/>
              <a:t>– </a:t>
            </a:r>
            <a:r>
              <a:rPr lang="ko-KR" altLang="en-US" dirty="0"/>
              <a:t>토의</a:t>
            </a:r>
            <a:endParaRPr lang="ko-KR" altLang="en-US" dirty="0">
              <a:latin typeface="+mn-lt"/>
              <a:ea typeface="+mn-ea"/>
              <a:cs typeface="+mn-cs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7F8FCE9-BA13-9185-11B9-35C4003FF788}"/>
              </a:ext>
            </a:extLst>
          </p:cNvPr>
          <p:cNvSpPr/>
          <p:nvPr/>
        </p:nvSpPr>
        <p:spPr>
          <a:xfrm>
            <a:off x="501532" y="1164778"/>
            <a:ext cx="5482707" cy="545957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BFCF45E-6767-D7AF-BD17-1EE36C8492CC}"/>
              </a:ext>
            </a:extLst>
          </p:cNvPr>
          <p:cNvSpPr/>
          <p:nvPr/>
        </p:nvSpPr>
        <p:spPr>
          <a:xfrm>
            <a:off x="1950327" y="916332"/>
            <a:ext cx="2121449" cy="454026"/>
          </a:xfrm>
          <a:prstGeom prst="rect">
            <a:avLst/>
          </a:prstGeom>
          <a:solidFill>
            <a:srgbClr val="E6E7E8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실패원인 분석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CCD84F0-A77A-D326-7201-00C7FFB97FE5}"/>
              </a:ext>
            </a:extLst>
          </p:cNvPr>
          <p:cNvSpPr/>
          <p:nvPr/>
        </p:nvSpPr>
        <p:spPr>
          <a:xfrm>
            <a:off x="6207761" y="1143345"/>
            <a:ext cx="5482707" cy="545957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C5AA4EA-2738-9694-BFAD-C73EA8249C67}"/>
              </a:ext>
            </a:extLst>
          </p:cNvPr>
          <p:cNvSpPr/>
          <p:nvPr/>
        </p:nvSpPr>
        <p:spPr>
          <a:xfrm>
            <a:off x="7863447" y="916332"/>
            <a:ext cx="2121449" cy="454026"/>
          </a:xfrm>
          <a:prstGeom prst="rect">
            <a:avLst/>
          </a:prstGeom>
          <a:solidFill>
            <a:srgbClr val="E6E7E8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개선 방향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FE7FB1-F045-E29C-903A-E78B9DCBF793}"/>
              </a:ext>
            </a:extLst>
          </p:cNvPr>
          <p:cNvSpPr txBox="1"/>
          <p:nvPr/>
        </p:nvSpPr>
        <p:spPr>
          <a:xfrm>
            <a:off x="798809" y="2248725"/>
            <a:ext cx="4996084" cy="37782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/>
              <a:t>1. Reward</a:t>
            </a:r>
            <a:r>
              <a:rPr lang="ko-KR" altLang="en-US" b="1" dirty="0"/>
              <a:t> </a:t>
            </a:r>
            <a:r>
              <a:rPr lang="en-US" altLang="ko-KR" b="1" dirty="0"/>
              <a:t>Function </a:t>
            </a:r>
            <a:r>
              <a:rPr lang="ko-KR" altLang="en-US" b="1" dirty="0"/>
              <a:t>설계 오류</a:t>
            </a:r>
            <a:endParaRPr lang="en-US" altLang="ko-KR" b="1" dirty="0"/>
          </a:p>
          <a:p>
            <a:pPr>
              <a:lnSpc>
                <a:spcPct val="150000"/>
              </a:lnSpc>
            </a:pPr>
            <a:r>
              <a:rPr lang="en-US" altLang="ko-KR" dirty="0"/>
              <a:t>Reward Function</a:t>
            </a:r>
            <a:r>
              <a:rPr lang="ko-KR" altLang="en-US" dirty="0"/>
              <a:t>은 모터의 순간 효율을 최적화 하도록 </a:t>
            </a:r>
            <a:r>
              <a:rPr lang="ko-KR" altLang="en-US" dirty="0" err="1"/>
              <a:t>설계되어있으나</a:t>
            </a:r>
            <a:r>
              <a:rPr lang="en-US" altLang="ko-KR" dirty="0"/>
              <a:t>, </a:t>
            </a:r>
            <a:r>
              <a:rPr lang="ko-KR" altLang="en-US" dirty="0"/>
              <a:t>모터 효율 최적화와 에너지 소비 최소화는 같지 않을 수 있음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b="1" dirty="0"/>
          </a:p>
          <a:p>
            <a:pPr>
              <a:lnSpc>
                <a:spcPct val="150000"/>
              </a:lnSpc>
            </a:pPr>
            <a:r>
              <a:rPr lang="en-US" altLang="ko-KR" b="1" dirty="0"/>
              <a:t>2. </a:t>
            </a:r>
            <a:r>
              <a:rPr lang="ko-KR" altLang="en-US" b="1" dirty="0"/>
              <a:t>변속 비용 과소 평가</a:t>
            </a:r>
            <a:endParaRPr lang="en-US" altLang="ko-KR" b="1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dirty="0"/>
              <a:t>변속을 하면 </a:t>
            </a:r>
            <a:r>
              <a:rPr lang="ko-KR" altLang="en-US" dirty="0" err="1"/>
              <a:t>구동축과의</a:t>
            </a:r>
            <a:r>
              <a:rPr lang="ko-KR" altLang="en-US" dirty="0"/>
              <a:t> 연결이 해제되었다가 </a:t>
            </a:r>
            <a:r>
              <a:rPr lang="ko-KR" altLang="en-US" dirty="0" err="1"/>
              <a:t>재연결</a:t>
            </a:r>
            <a:r>
              <a:rPr lang="ko-KR" altLang="en-US" dirty="0"/>
              <a:t> 되므로 동력 손실이 발생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- </a:t>
            </a:r>
            <a:r>
              <a:rPr lang="ko-KR" altLang="en-US" dirty="0"/>
              <a:t>이 손실이 과소 평가 되어 과도한 변속 명령</a:t>
            </a:r>
            <a:endParaRPr lang="en-US" altLang="ko-K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3AA1D8-5F78-4ED2-769A-5D1C8B2FE098}"/>
              </a:ext>
            </a:extLst>
          </p:cNvPr>
          <p:cNvSpPr txBox="1"/>
          <p:nvPr/>
        </p:nvSpPr>
        <p:spPr>
          <a:xfrm>
            <a:off x="6389448" y="1614895"/>
            <a:ext cx="4888151" cy="29472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/>
              <a:t>1. Reward </a:t>
            </a:r>
            <a:r>
              <a:rPr lang="ko-KR" altLang="en-US" b="1" dirty="0"/>
              <a:t>재설계</a:t>
            </a:r>
            <a:endParaRPr lang="en-US" altLang="ko-KR" b="1" dirty="0"/>
          </a:p>
          <a:p>
            <a:pPr>
              <a:lnSpc>
                <a:spcPct val="150000"/>
              </a:lnSpc>
            </a:pPr>
            <a:r>
              <a:rPr lang="ko-KR" altLang="en-US" dirty="0"/>
              <a:t>변속 페널티</a:t>
            </a:r>
            <a:r>
              <a:rPr lang="en-US" altLang="ko-KR" dirty="0"/>
              <a:t> </a:t>
            </a:r>
            <a:r>
              <a:rPr lang="ko-KR" altLang="en-US" dirty="0"/>
              <a:t>정교화 및 실제 연비 직접 보상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b="1" dirty="0"/>
              <a:t>2. </a:t>
            </a:r>
            <a:r>
              <a:rPr lang="ko-KR" altLang="en-US" b="1" dirty="0"/>
              <a:t>학습 환경 개선</a:t>
            </a:r>
            <a:endParaRPr lang="en-US" altLang="ko-KR" b="1" dirty="0"/>
          </a:p>
          <a:p>
            <a:pPr>
              <a:lnSpc>
                <a:spcPct val="150000"/>
              </a:lnSpc>
            </a:pPr>
            <a:r>
              <a:rPr lang="ko-KR" altLang="en-US" dirty="0"/>
              <a:t>에피소드 수 증가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다양한 주행사이클 </a:t>
            </a:r>
            <a:r>
              <a:rPr lang="en-US" altLang="ko-KR" dirty="0"/>
              <a:t>(WLTC, HWFET, FTP 75 </a:t>
            </a:r>
            <a:r>
              <a:rPr lang="ko-KR" altLang="en-US" dirty="0"/>
              <a:t>등</a:t>
            </a:r>
            <a:r>
              <a:rPr lang="en-US" altLang="ko-KR" dirty="0"/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D1EB9C-0351-5D06-8CF9-274C590EEE32}"/>
              </a:ext>
            </a:extLst>
          </p:cNvPr>
          <p:cNvSpPr txBox="1"/>
          <p:nvPr/>
        </p:nvSpPr>
        <p:spPr>
          <a:xfrm>
            <a:off x="798808" y="1407667"/>
            <a:ext cx="4888151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/>
              <a:t>왜 </a:t>
            </a:r>
            <a:r>
              <a:rPr lang="en-US" altLang="ko-KR" b="1" dirty="0"/>
              <a:t>Rule Based Logic </a:t>
            </a:r>
            <a:r>
              <a:rPr lang="ko-KR" altLang="en-US" b="1" dirty="0"/>
              <a:t>보다 효율이 낮을까</a:t>
            </a:r>
            <a:r>
              <a:rPr lang="en-US" altLang="ko-KR" b="1" dirty="0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760978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71217-DCA3-EA7F-215F-0EE413668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D7EAFD-DF00-0362-D467-D9AB8AE76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/>
              <a:t>6. </a:t>
            </a:r>
            <a:r>
              <a:rPr lang="ko-KR" altLang="en-US" dirty="0"/>
              <a:t>결과 분석 및 결론 </a:t>
            </a:r>
            <a:r>
              <a:rPr lang="en-US" altLang="ko-KR" dirty="0"/>
              <a:t>– </a:t>
            </a:r>
            <a:r>
              <a:rPr lang="ko-KR" altLang="en-US" dirty="0"/>
              <a:t>토의</a:t>
            </a:r>
            <a:endParaRPr lang="ko-KR" altLang="en-US" dirty="0">
              <a:latin typeface="+mn-lt"/>
              <a:ea typeface="+mn-ea"/>
              <a:cs typeface="+mn-cs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7F8FCE9-BA13-9185-11B9-35C4003FF788}"/>
              </a:ext>
            </a:extLst>
          </p:cNvPr>
          <p:cNvSpPr/>
          <p:nvPr/>
        </p:nvSpPr>
        <p:spPr>
          <a:xfrm>
            <a:off x="501532" y="1164778"/>
            <a:ext cx="5482707" cy="545957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BFCF45E-6767-D7AF-BD17-1EE36C8492CC}"/>
              </a:ext>
            </a:extLst>
          </p:cNvPr>
          <p:cNvSpPr/>
          <p:nvPr/>
        </p:nvSpPr>
        <p:spPr>
          <a:xfrm>
            <a:off x="1950327" y="916332"/>
            <a:ext cx="2121449" cy="454026"/>
          </a:xfrm>
          <a:prstGeom prst="rect">
            <a:avLst/>
          </a:prstGeom>
          <a:solidFill>
            <a:srgbClr val="E6E7E8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한계 및 어려움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CCD84F0-A77A-D326-7201-00C7FFB97FE5}"/>
              </a:ext>
            </a:extLst>
          </p:cNvPr>
          <p:cNvSpPr/>
          <p:nvPr/>
        </p:nvSpPr>
        <p:spPr>
          <a:xfrm>
            <a:off x="6207761" y="1143345"/>
            <a:ext cx="5482707" cy="545957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C5AA4EA-2738-9694-BFAD-C73EA8249C67}"/>
              </a:ext>
            </a:extLst>
          </p:cNvPr>
          <p:cNvSpPr/>
          <p:nvPr/>
        </p:nvSpPr>
        <p:spPr>
          <a:xfrm>
            <a:off x="7863447" y="916332"/>
            <a:ext cx="2121449" cy="454026"/>
          </a:xfrm>
          <a:prstGeom prst="rect">
            <a:avLst/>
          </a:prstGeom>
          <a:solidFill>
            <a:srgbClr val="E6E7E8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결론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FE7FB1-F045-E29C-903A-E78B9DCBF793}"/>
              </a:ext>
            </a:extLst>
          </p:cNvPr>
          <p:cNvSpPr txBox="1"/>
          <p:nvPr/>
        </p:nvSpPr>
        <p:spPr>
          <a:xfrm>
            <a:off x="811608" y="1540464"/>
            <a:ext cx="4888151" cy="5024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/>
              <a:t>1. </a:t>
            </a:r>
            <a:r>
              <a:rPr lang="ko-KR" altLang="en-US" b="1" dirty="0"/>
              <a:t>하드웨어 제약</a:t>
            </a:r>
            <a:endParaRPr lang="en-US" altLang="ko-KR" b="1" dirty="0"/>
          </a:p>
          <a:p>
            <a:pPr>
              <a:lnSpc>
                <a:spcPct val="150000"/>
              </a:lnSpc>
            </a:pPr>
            <a:r>
              <a:rPr lang="ko-KR" altLang="en-US" dirty="0"/>
              <a:t> </a:t>
            </a:r>
            <a:r>
              <a:rPr lang="en-US" altLang="ko-KR" dirty="0"/>
              <a:t>- 1</a:t>
            </a:r>
            <a:r>
              <a:rPr lang="ko-KR" altLang="en-US" dirty="0"/>
              <a:t>회 학습에 </a:t>
            </a:r>
            <a:r>
              <a:rPr lang="en-US" altLang="ko-KR" dirty="0"/>
              <a:t>12</a:t>
            </a:r>
            <a:r>
              <a:rPr lang="ko-KR" altLang="en-US" dirty="0"/>
              <a:t>시간 이상의 시간이 소모  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 - hyperparameter </a:t>
            </a:r>
            <a:r>
              <a:rPr lang="ko-KR" altLang="en-US" dirty="0"/>
              <a:t>튜닝 및 다양한 </a:t>
            </a:r>
            <a:r>
              <a:rPr lang="en-US" altLang="ko-KR" dirty="0"/>
              <a:t>reward 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   </a:t>
            </a:r>
            <a:r>
              <a:rPr lang="ko-KR" altLang="en-US" dirty="0"/>
              <a:t>시도 제한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b="1" dirty="0"/>
              <a:t>2. </a:t>
            </a:r>
            <a:r>
              <a:rPr lang="ko-KR" altLang="en-US" b="1" dirty="0"/>
              <a:t>실험 설계 제약</a:t>
            </a:r>
            <a:endParaRPr lang="en-US" altLang="ko-KR" b="1" dirty="0"/>
          </a:p>
          <a:p>
            <a:pPr>
              <a:lnSpc>
                <a:spcPct val="150000"/>
              </a:lnSpc>
            </a:pPr>
            <a:r>
              <a:rPr lang="ko-KR" altLang="en-US" dirty="0"/>
              <a:t> </a:t>
            </a:r>
            <a:r>
              <a:rPr lang="en-US" altLang="ko-KR" dirty="0"/>
              <a:t>-</a:t>
            </a:r>
            <a:r>
              <a:rPr lang="ko-KR" altLang="en-US" dirty="0"/>
              <a:t> 단일 주행 사이클</a:t>
            </a:r>
            <a:r>
              <a:rPr lang="en-US" altLang="ko-KR" dirty="0"/>
              <a:t>(UDDS)</a:t>
            </a:r>
            <a:r>
              <a:rPr lang="ko-KR" altLang="en-US" dirty="0"/>
              <a:t>만 학습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ko-KR" altLang="en-US" dirty="0"/>
              <a:t>다양한 주행패턴 </a:t>
            </a:r>
            <a:r>
              <a:rPr lang="ko-KR" altLang="en-US" dirty="0" err="1"/>
              <a:t>미반영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b="1" dirty="0"/>
              <a:t>3. Reward</a:t>
            </a:r>
            <a:r>
              <a:rPr lang="ko-KR" altLang="en-US" b="1" dirty="0"/>
              <a:t>설계의 어려움</a:t>
            </a:r>
            <a:endParaRPr lang="en-US" altLang="ko-KR" b="1" dirty="0"/>
          </a:p>
          <a:p>
            <a:pPr>
              <a:lnSpc>
                <a:spcPct val="150000"/>
              </a:lnSpc>
            </a:pPr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ko-KR" altLang="en-US" dirty="0"/>
              <a:t>하드웨어 제약으로 </a:t>
            </a:r>
            <a:r>
              <a:rPr lang="en-US" altLang="ko-KR" dirty="0"/>
              <a:t>Reward</a:t>
            </a:r>
            <a:r>
              <a:rPr lang="ko-KR" altLang="en-US" dirty="0"/>
              <a:t>를 수정 및 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   </a:t>
            </a:r>
            <a:r>
              <a:rPr lang="ko-KR" altLang="en-US" dirty="0"/>
              <a:t>튜닝하는데 오랜 시간이 소요됨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3AA1D8-5F78-4ED2-769A-5D1C8B2FE098}"/>
              </a:ext>
            </a:extLst>
          </p:cNvPr>
          <p:cNvSpPr txBox="1"/>
          <p:nvPr/>
        </p:nvSpPr>
        <p:spPr>
          <a:xfrm>
            <a:off x="6398712" y="2879130"/>
            <a:ext cx="4888151" cy="3362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/>
              <a:t>교훈</a:t>
            </a:r>
            <a:endParaRPr lang="en-US" altLang="ko-KR" b="1" dirty="0"/>
          </a:p>
          <a:p>
            <a:pPr>
              <a:lnSpc>
                <a:spcPct val="150000"/>
              </a:lnSpc>
            </a:pPr>
            <a:endParaRPr lang="en-US" altLang="ko-KR" b="1" dirty="0"/>
          </a:p>
          <a:p>
            <a:pPr>
              <a:lnSpc>
                <a:spcPct val="150000"/>
              </a:lnSpc>
            </a:pPr>
            <a:r>
              <a:rPr lang="en-US" altLang="ko-KR" b="1" dirty="0"/>
              <a:t>1. Reward </a:t>
            </a:r>
            <a:r>
              <a:rPr lang="ko-KR" altLang="en-US" b="1" dirty="0"/>
              <a:t>설계가 시스템의 성능 결정</a:t>
            </a:r>
            <a:endParaRPr lang="en-US" altLang="ko-KR" b="1" dirty="0"/>
          </a:p>
          <a:p>
            <a:pPr>
              <a:lnSpc>
                <a:spcPct val="150000"/>
              </a:lnSpc>
            </a:pPr>
            <a:r>
              <a:rPr lang="en-US" altLang="ko-KR" b="1" dirty="0"/>
              <a:t> </a:t>
            </a:r>
            <a:r>
              <a:rPr lang="en-US" altLang="ko-KR" dirty="0"/>
              <a:t>- </a:t>
            </a:r>
            <a:r>
              <a:rPr lang="ko-KR" altLang="en-US" dirty="0"/>
              <a:t>단</a:t>
            </a:r>
            <a:r>
              <a:rPr lang="en-US" altLang="ko-KR" dirty="0"/>
              <a:t>, </a:t>
            </a:r>
            <a:r>
              <a:rPr lang="ko-KR" altLang="en-US" dirty="0"/>
              <a:t>생각지 못한 방향으로 학습이 될 수도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  </a:t>
            </a:r>
            <a:r>
              <a:rPr lang="ko-KR" altLang="en-US" dirty="0"/>
              <a:t> 있으니 중간 점검 필요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endParaRPr lang="en-US" altLang="ko-KR" b="1" dirty="0"/>
          </a:p>
          <a:p>
            <a:pPr>
              <a:lnSpc>
                <a:spcPct val="150000"/>
              </a:lnSpc>
            </a:pPr>
            <a:r>
              <a:rPr lang="en-US" altLang="ko-KR" b="1" dirty="0"/>
              <a:t>2. </a:t>
            </a:r>
            <a:r>
              <a:rPr lang="ko-KR" altLang="en-US" b="1" dirty="0"/>
              <a:t>순간 최적해가 전체 최적해가 아닐 수 있음</a:t>
            </a:r>
            <a:endParaRPr lang="en-US" altLang="ko-KR" b="1" dirty="0"/>
          </a:p>
          <a:p>
            <a:pPr>
              <a:lnSpc>
                <a:spcPct val="150000"/>
              </a:lnSpc>
            </a:pPr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ko-KR" altLang="en-US" dirty="0"/>
              <a:t>모터 효율 ↑ ≠ 전체 연비 ↑</a:t>
            </a:r>
            <a:endParaRPr lang="en-US" altLang="ko-K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CFDEE1-A427-5D6D-820B-44938549E05F}"/>
              </a:ext>
            </a:extLst>
          </p:cNvPr>
          <p:cNvSpPr txBox="1"/>
          <p:nvPr/>
        </p:nvSpPr>
        <p:spPr>
          <a:xfrm>
            <a:off x="6505038" y="1670452"/>
            <a:ext cx="4888151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b="1" dirty="0"/>
              <a:t>DQN </a:t>
            </a:r>
            <a:r>
              <a:rPr lang="ko-KR" altLang="en-US" b="1" dirty="0"/>
              <a:t>기반 변속 제어 학습 완료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7564584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41879</TotalTime>
  <Words>1437</Words>
  <Application>Microsoft Office PowerPoint</Application>
  <PresentationFormat>와이드스크린</PresentationFormat>
  <Paragraphs>313</Paragraphs>
  <Slides>15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2" baseType="lpstr">
      <vt:lpstr>굴림</vt:lpstr>
      <vt:lpstr>맑은 고딕</vt:lpstr>
      <vt:lpstr>Arial</vt:lpstr>
      <vt:lpstr>Cambria Math</vt:lpstr>
      <vt:lpstr>Times New Roman</vt:lpstr>
      <vt:lpstr>Wingdings</vt:lpstr>
      <vt:lpstr>Office 테마</vt:lpstr>
      <vt:lpstr>PowerPoint 프레젠테이션</vt:lpstr>
      <vt:lpstr>목차</vt:lpstr>
      <vt:lpstr>1. 프로젝트 개요</vt:lpstr>
      <vt:lpstr>2. Environment 소개</vt:lpstr>
      <vt:lpstr>2. Environment 소개 – 참고 차량 및 주요 제원</vt:lpstr>
      <vt:lpstr>3. 강화학습 설계 - State &amp; Action</vt:lpstr>
      <vt:lpstr>3. 강화학습 설계 – Reward Function</vt:lpstr>
      <vt:lpstr>3. 강화학습 설계 – DQN Algorithm</vt:lpstr>
      <vt:lpstr>4. 실험 설계</vt:lpstr>
      <vt:lpstr>5. 실험 결과 – 학습 과정 (상 : Random Seed, 하 : Seed 42)</vt:lpstr>
      <vt:lpstr>5. 실험 결과 – 성능 비교</vt:lpstr>
      <vt:lpstr>6. 결과 분석 및 결론 – 연비 성능 비교</vt:lpstr>
      <vt:lpstr>6. 결과 분석 및 결론 – 변속 및 속도 추종</vt:lpstr>
      <vt:lpstr>6. 결과 분석 및 결론 – 토의</vt:lpstr>
      <vt:lpstr>6. 결과 분석 및 결론 – 토의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준현 박</dc:creator>
  <cp:lastModifiedBy>Junhyeon Park</cp:lastModifiedBy>
  <cp:revision>90</cp:revision>
  <dcterms:created xsi:type="dcterms:W3CDTF">2024-11-30T17:12:35Z</dcterms:created>
  <dcterms:modified xsi:type="dcterms:W3CDTF">2025-12-07T14:17:46Z</dcterms:modified>
</cp:coreProperties>
</file>